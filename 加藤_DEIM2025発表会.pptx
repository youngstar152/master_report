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autoCompressPictures="0">
  <p:sldMasterIdLst>
    <p:sldMasterId id="2147483660" r:id="rId1"/>
  </p:sldMasterIdLst>
  <p:notesMasterIdLst>
    <p:notesMasterId r:id="rId37"/>
  </p:notesMasterIdLst>
  <p:handoutMasterIdLst>
    <p:handoutMasterId r:id="rId38"/>
  </p:handoutMasterIdLst>
  <p:sldIdLst>
    <p:sldId id="1406" r:id="rId2"/>
    <p:sldId id="1407" r:id="rId3"/>
    <p:sldId id="1455" r:id="rId4"/>
    <p:sldId id="1456" r:id="rId5"/>
    <p:sldId id="1423" r:id="rId6"/>
    <p:sldId id="1485" r:id="rId7"/>
    <p:sldId id="1486" r:id="rId8"/>
    <p:sldId id="1424" r:id="rId9"/>
    <p:sldId id="1425" r:id="rId10"/>
    <p:sldId id="1426" r:id="rId11"/>
    <p:sldId id="1471" r:id="rId12"/>
    <p:sldId id="1479" r:id="rId13"/>
    <p:sldId id="1484" r:id="rId14"/>
    <p:sldId id="1472" r:id="rId15"/>
    <p:sldId id="1480" r:id="rId16"/>
    <p:sldId id="1487" r:id="rId17"/>
    <p:sldId id="1481" r:id="rId18"/>
    <p:sldId id="1476" r:id="rId19"/>
    <p:sldId id="1474" r:id="rId20"/>
    <p:sldId id="1475" r:id="rId21"/>
    <p:sldId id="1488" r:id="rId22"/>
    <p:sldId id="1409" r:id="rId23"/>
    <p:sldId id="1417" r:id="rId24"/>
    <p:sldId id="1465" r:id="rId25"/>
    <p:sldId id="1466" r:id="rId26"/>
    <p:sldId id="1468" r:id="rId27"/>
    <p:sldId id="1470" r:id="rId28"/>
    <p:sldId id="1469" r:id="rId29"/>
    <p:sldId id="1410" r:id="rId30"/>
    <p:sldId id="1411" r:id="rId31"/>
    <p:sldId id="1492" r:id="rId32"/>
    <p:sldId id="1449" r:id="rId33"/>
    <p:sldId id="1489" r:id="rId34"/>
    <p:sldId id="1490" r:id="rId35"/>
    <p:sldId id="1491" r:id="rId36"/>
  </p:sldIdLst>
  <p:sldSz cx="12192000" cy="6858000"/>
  <p:notesSz cx="6858000" cy="9144000"/>
  <p:defaultTextStyle>
    <a:defPPr>
      <a:defRPr lang="en-JP"/>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BE0A"/>
    <a:srgbClr val="00FF00"/>
    <a:srgbClr val="F0A259"/>
    <a:srgbClr val="C55A11"/>
    <a:srgbClr val="BC8563"/>
    <a:srgbClr val="B37F5E"/>
    <a:srgbClr val="E4B445"/>
    <a:srgbClr val="D7AA43"/>
    <a:srgbClr val="0070C0"/>
    <a:srgbClr val="DCE6F2"/>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9DCAF9ED-07DC-4A11-8D7F-57B35C25682E}" styleName="中間 1 - アクセント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F5AB1C69-6EDB-4FF4-983F-18BD219EF322}" styleName="中間 2 - アクセント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18603FDC-E32A-4AB5-989C-0864C3EAD2B8}" styleName="テーマ 2 - アクセント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146" autoAdjust="0"/>
    <p:restoredTop sz="78079" autoAdjust="0"/>
  </p:normalViewPr>
  <p:slideViewPr>
    <p:cSldViewPr snapToObjects="1">
      <p:cViewPr>
        <p:scale>
          <a:sx n="118" d="100"/>
          <a:sy n="118" d="100"/>
        </p:scale>
        <p:origin x="2552" y="240"/>
      </p:cViewPr>
      <p:guideLst>
        <p:guide orient="horz" pos="2160"/>
        <p:guide pos="3840"/>
      </p:guideLst>
    </p:cSldViewPr>
  </p:slideViewPr>
  <p:outlineViewPr>
    <p:cViewPr>
      <p:scale>
        <a:sx n="33" d="100"/>
        <a:sy n="33" d="100"/>
      </p:scale>
      <p:origin x="0" y="-12144"/>
    </p:cViewPr>
  </p:outlineViewPr>
  <p:notesTextViewPr>
    <p:cViewPr>
      <p:scale>
        <a:sx n="170" d="100"/>
        <a:sy n="170" d="100"/>
      </p:scale>
      <p:origin x="0" y="0"/>
    </p:cViewPr>
  </p:notesTextViewPr>
  <p:sorterViewPr>
    <p:cViewPr>
      <p:scale>
        <a:sx n="135" d="100"/>
        <a:sy n="135" d="100"/>
      </p:scale>
      <p:origin x="0" y="2896"/>
    </p:cViewPr>
  </p:sorterViewPr>
  <p:notesViewPr>
    <p:cSldViewPr snapToObjects="1">
      <p:cViewPr varScale="1">
        <p:scale>
          <a:sx n="161" d="100"/>
          <a:sy n="161" d="100"/>
        </p:scale>
        <p:origin x="3080" y="20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609E53FE-0863-364F-AACE-F5D5C2D11967}" type="datetime1">
              <a:rPr lang="en-US" smtClean="0"/>
              <a:t>2/25/25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9A32B73-FB2B-E649-956D-5C8C3A26332A}" type="slidenum">
              <a:rPr lang="en-US" smtClean="0"/>
              <a:t>‹#›</a:t>
            </a:fld>
            <a:endParaRPr lang="en-US"/>
          </a:p>
        </p:txBody>
      </p:sp>
    </p:spTree>
    <p:extLst>
      <p:ext uri="{BB962C8B-B14F-4D97-AF65-F5344CB8AC3E}">
        <p14:creationId xmlns:p14="http://schemas.microsoft.com/office/powerpoint/2010/main" val="318714523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5B749CB-4D95-7241-8B39-3C98976F6734}" type="datetime1">
              <a:rPr lang="en-US" smtClean="0"/>
              <a:t>2/25/25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73B8C13-EC29-D742-991B-033D70E9806E}" type="slidenum">
              <a:rPr lang="en-US" smtClean="0"/>
              <a:t>‹#›</a:t>
            </a:fld>
            <a:endParaRPr lang="en-US"/>
          </a:p>
        </p:txBody>
      </p:sp>
    </p:spTree>
    <p:extLst>
      <p:ext uri="{BB962C8B-B14F-4D97-AF65-F5344CB8AC3E}">
        <p14:creationId xmlns:p14="http://schemas.microsoft.com/office/powerpoint/2010/main" val="3859257565"/>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ja-JP" altLang="en-US"/>
              <a:t>自己教師あり対照学習を活用した多変量時系列の部分セグメンテーションという題目で大阪大学大学院の加藤が発表を行います。よろしくお願いします。</a:t>
            </a:r>
            <a:endParaRPr lang="en-US" altLang="ja-JP" dirty="0"/>
          </a:p>
          <a:p>
            <a:endParaRPr lang="ja-JP" altLang="en-US" dirty="0"/>
          </a:p>
        </p:txBody>
      </p:sp>
      <p:sp>
        <p:nvSpPr>
          <p:cNvPr id="4" name="Slide Number Placeholder 3"/>
          <p:cNvSpPr>
            <a:spLocks noGrp="1"/>
          </p:cNvSpPr>
          <p:nvPr>
            <p:ph type="sldNum" sz="quarter" idx="10"/>
          </p:nvPr>
        </p:nvSpPr>
        <p:spPr/>
        <p:txBody>
          <a:bodyPr/>
          <a:lstStyle/>
          <a:p>
            <a:fld id="{573B8C13-EC29-D742-991B-033D70E9806E}" type="slidenum">
              <a:rPr lang="en-US" smtClean="0"/>
              <a:t>0</a:t>
            </a:fld>
            <a:endParaRPr lang="en-US"/>
          </a:p>
        </p:txBody>
      </p:sp>
    </p:spTree>
    <p:extLst>
      <p:ext uri="{BB962C8B-B14F-4D97-AF65-F5344CB8AC3E}">
        <p14:creationId xmlns:p14="http://schemas.microsoft.com/office/powerpoint/2010/main" val="26085363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　こちらが今回の発表の目次になります．まず初めに，研究背景についてご説明します．</a:t>
            </a:r>
            <a:endParaRPr lang="en-JP" dirty="0"/>
          </a:p>
        </p:txBody>
      </p:sp>
      <p:sp>
        <p:nvSpPr>
          <p:cNvPr id="4" name="Slide Number Placeholder 3"/>
          <p:cNvSpPr>
            <a:spLocks noGrp="1"/>
          </p:cNvSpPr>
          <p:nvPr>
            <p:ph type="sldNum" sz="quarter" idx="5"/>
          </p:nvPr>
        </p:nvSpPr>
        <p:spPr/>
        <p:txBody>
          <a:bodyPr/>
          <a:lstStyle/>
          <a:p>
            <a:fld id="{573B8C13-EC29-D742-991B-033D70E9806E}" type="slidenum">
              <a:rPr lang="en-US" smtClean="0"/>
              <a:t>1</a:t>
            </a:fld>
            <a:endParaRPr lang="en-US"/>
          </a:p>
        </p:txBody>
      </p:sp>
    </p:spTree>
    <p:extLst>
      <p:ext uri="{BB962C8B-B14F-4D97-AF65-F5344CB8AC3E}">
        <p14:creationId xmlns:p14="http://schemas.microsoft.com/office/powerpoint/2010/main" val="34167929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3832DA-229B-F318-73BC-BAA4A53A5D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230F00-CD0D-DFEA-32F6-180439F543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A1AA16-A4BB-C094-7561-15AD3CBB87A0}"/>
              </a:ext>
            </a:extLst>
          </p:cNvPr>
          <p:cNvSpPr>
            <a:spLocks noGrp="1"/>
          </p:cNvSpPr>
          <p:nvPr>
            <p:ph type="body" idx="1"/>
          </p:nvPr>
        </p:nvSpPr>
        <p:spPr/>
        <p:txBody>
          <a:bodyPr/>
          <a:lstStyle/>
          <a:p>
            <a:r>
              <a:rPr lang="ja-JP" altLang="en-US"/>
              <a:t>時系列データはさまざまな状態パターンをもち、各時刻において状態パターンに関する豊富な情報を保持しています。</a:t>
            </a:r>
            <a:endParaRPr lang="en-US" altLang="ja-JP" dirty="0"/>
          </a:p>
          <a:p>
            <a:r>
              <a:rPr lang="ja-JP" altLang="en-US"/>
              <a:t>例えば、モーションキャプチャーデータは人の行動に関する時系列データであり、歩くや走る、ジャンプなどの状態パターンがあります。</a:t>
            </a:r>
            <a:endParaRPr lang="en-US" altLang="ja-JP" dirty="0"/>
          </a:p>
          <a:p>
            <a:r>
              <a:rPr lang="ja-JP" altLang="en-US"/>
              <a:t>車の走行データでは加速や減速、カーブや徐行、停止などの走行の状態パターンがあることや、人の睡眠データでは、レム睡眠やノンレム睡眠など、睡眠の状態パターンがあります。</a:t>
            </a:r>
            <a:endParaRPr lang="en-US" altLang="ja-JP" dirty="0"/>
          </a:p>
          <a:p>
            <a:r>
              <a:rPr lang="ja-JP" altLang="en-US"/>
              <a:t>これらの状態パターンを検知することで、状態の詳細な解析や将来の状態パターン予測につながります。</a:t>
            </a:r>
          </a:p>
          <a:p>
            <a:endParaRPr lang="en-JP" dirty="0"/>
          </a:p>
        </p:txBody>
      </p:sp>
      <p:sp>
        <p:nvSpPr>
          <p:cNvPr id="4" name="Slide Number Placeholder 3">
            <a:extLst>
              <a:ext uri="{FF2B5EF4-FFF2-40B4-BE49-F238E27FC236}">
                <a16:creationId xmlns:a16="http://schemas.microsoft.com/office/drawing/2014/main" id="{E674D143-08D0-C925-9587-964AF8CBA768}"/>
              </a:ext>
            </a:extLst>
          </p:cNvPr>
          <p:cNvSpPr>
            <a:spLocks noGrp="1"/>
          </p:cNvSpPr>
          <p:nvPr>
            <p:ph type="sldNum" sz="quarter" idx="5"/>
          </p:nvPr>
        </p:nvSpPr>
        <p:spPr/>
        <p:txBody>
          <a:bodyPr/>
          <a:lstStyle/>
          <a:p>
            <a:fld id="{573B8C13-EC29-D742-991B-033D70E9806E}" type="slidenum">
              <a:rPr lang="en-US" smtClean="0"/>
              <a:t>2</a:t>
            </a:fld>
            <a:endParaRPr lang="en-US"/>
          </a:p>
        </p:txBody>
      </p:sp>
    </p:spTree>
    <p:extLst>
      <p:ext uri="{BB962C8B-B14F-4D97-AF65-F5344CB8AC3E}">
        <p14:creationId xmlns:p14="http://schemas.microsoft.com/office/powerpoint/2010/main" val="11716165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AEEE68-2FB9-AF86-B49E-142C7E6ACA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F5E55F-0621-D5CB-7FDD-8DE1529EDC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A4A630-0D8A-06D5-FB13-E2D3C1E40D62}"/>
              </a:ext>
            </a:extLst>
          </p:cNvPr>
          <p:cNvSpPr>
            <a:spLocks noGrp="1"/>
          </p:cNvSpPr>
          <p:nvPr>
            <p:ph type="body" idx="1"/>
          </p:nvPr>
        </p:nvSpPr>
        <p:spPr/>
        <p:txBody>
          <a:bodyPr/>
          <a:lstStyle/>
          <a:p>
            <a:r>
              <a:rPr lang="ja-JP" altLang="en-US"/>
              <a:t>　</a:t>
            </a:r>
          </a:p>
          <a:p>
            <a:r>
              <a:rPr lang="ja-JP" altLang="en-US"/>
              <a:t>時系列データのセグメンテーションは、時間の長さが膨大であり、人手によるラベルづけはコストが大きいため、セグメンテーションの自動化が求められています。</a:t>
            </a:r>
            <a:endParaRPr lang="en-US" altLang="ja-JP" dirty="0"/>
          </a:p>
          <a:p>
            <a:r>
              <a:rPr lang="ja-JP" altLang="en-US"/>
              <a:t>自動化するにあたって、学習の段階から正解ラベルを必要としない教師なし状態パターン検出をすることになります。</a:t>
            </a:r>
            <a:br>
              <a:rPr lang="en-US" altLang="ja-JP" dirty="0"/>
            </a:br>
            <a:r>
              <a:rPr lang="ja-JP" altLang="en-US"/>
              <a:t>どのようなデータにも通用する手法を考案するため、ドメイン知識を用いない手法を考案します。</a:t>
            </a:r>
            <a:br>
              <a:rPr lang="en-US" altLang="ja-JP" dirty="0"/>
            </a:br>
            <a:r>
              <a:rPr lang="ja-JP" altLang="en-US"/>
              <a:t>ここで適切な状態数がわからないこと、遠隔にある同一パターンの検知率が低いこと、特徴空間への変換の際に情報のブラックボックス化が課題となっています。</a:t>
            </a:r>
            <a:endParaRPr lang="en-JP" dirty="0"/>
          </a:p>
        </p:txBody>
      </p:sp>
      <p:sp>
        <p:nvSpPr>
          <p:cNvPr id="4" name="Slide Number Placeholder 3">
            <a:extLst>
              <a:ext uri="{FF2B5EF4-FFF2-40B4-BE49-F238E27FC236}">
                <a16:creationId xmlns:a16="http://schemas.microsoft.com/office/drawing/2014/main" id="{2C921CDC-E0F7-4A71-390E-3B559A502A44}"/>
              </a:ext>
            </a:extLst>
          </p:cNvPr>
          <p:cNvSpPr>
            <a:spLocks noGrp="1"/>
          </p:cNvSpPr>
          <p:nvPr>
            <p:ph type="sldNum" sz="quarter" idx="5"/>
          </p:nvPr>
        </p:nvSpPr>
        <p:spPr/>
        <p:txBody>
          <a:bodyPr/>
          <a:lstStyle/>
          <a:p>
            <a:fld id="{573B8C13-EC29-D742-991B-033D70E9806E}" type="slidenum">
              <a:rPr lang="en-US" smtClean="0"/>
              <a:t>3</a:t>
            </a:fld>
            <a:endParaRPr lang="en-US"/>
          </a:p>
        </p:txBody>
      </p:sp>
    </p:spTree>
    <p:extLst>
      <p:ext uri="{BB962C8B-B14F-4D97-AF65-F5344CB8AC3E}">
        <p14:creationId xmlns:p14="http://schemas.microsoft.com/office/powerpoint/2010/main" val="5084282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このような課題を解決するために本研究では状態パターン検知と状態数を同時に学習する手法を提案します。</a:t>
            </a:r>
            <a:endParaRPr lang="en-US" altLang="ja-JP" dirty="0"/>
          </a:p>
          <a:p>
            <a:pPr marL="0" marR="0" lvl="0" indent="0" algn="l" defTabSz="457200" rtl="0" eaLnBrk="1" fontAlgn="auto" latinLnBrk="0" hangingPunct="1">
              <a:lnSpc>
                <a:spcPct val="100000"/>
              </a:lnSpc>
              <a:spcBef>
                <a:spcPts val="0"/>
              </a:spcBef>
              <a:spcAft>
                <a:spcPts val="0"/>
              </a:spcAft>
              <a:buClrTx/>
              <a:buSzTx/>
              <a:buFontTx/>
              <a:buNone/>
              <a:tabLst/>
              <a:defRPr/>
            </a:pPr>
            <a:r>
              <a:rPr lang="ja-JP" altLang="en-US"/>
              <a:t>本手法では適切なパターン数を同時に学習すること、</a:t>
            </a:r>
            <a:r>
              <a:rPr lang="ja-JP" altLang="en-US" sz="1200">
                <a:latin typeface="Meiryo" panose="020B0604030504040204" pitchFamily="34" charset="-128"/>
                <a:ea typeface="Meiryo" panose="020B0604030504040204" pitchFamily="34" charset="-128"/>
              </a:rPr>
              <a:t>時間幅ごとの統計的特徴量の類似度に基づいた対照学習を行うこと、</a:t>
            </a:r>
            <a:endParaRPr lang="en-US" altLang="ja-JP" sz="1200" dirty="0">
              <a:latin typeface="Meiryo" panose="020B0604030504040204" pitchFamily="34" charset="-128"/>
              <a:ea typeface="Meiryo" panose="020B0604030504040204" pitchFamily="34" charset="-128"/>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ja-JP" altLang="en-US" sz="1200">
                <a:latin typeface="Meiryo" panose="020B0604030504040204" pitchFamily="34" charset="-128"/>
                <a:ea typeface="Meiryo" panose="020B0604030504040204" pitchFamily="34" charset="-128"/>
              </a:rPr>
              <a:t>局所的な特徴と長期的な特徴の両方を抽出することで同一パターンの正確な検出を行います。</a:t>
            </a:r>
            <a:endParaRPr lang="en-US" altLang="ja-JP" sz="1200" dirty="0">
              <a:latin typeface="Meiryo" panose="020B0604030504040204" pitchFamily="34" charset="-128"/>
              <a:ea typeface="Meiryo" panose="020B0604030504040204" pitchFamily="34" charset="-128"/>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ja-JP" altLang="en-US" sz="1200">
                <a:latin typeface="Meiryo" panose="020B0604030504040204" pitchFamily="34" charset="-128"/>
                <a:ea typeface="Meiryo" panose="020B0604030504040204" pitchFamily="34" charset="-128"/>
              </a:rPr>
              <a:t>提案手法の活用イメージとして、</a:t>
            </a:r>
            <a:r>
              <a:rPr lang="ja-JP" altLang="en-US">
                <a:latin typeface="Meiryo" panose="020B0604030504040204" pitchFamily="34" charset="-128"/>
                <a:ea typeface="Meiryo" panose="020B0604030504040204" pitchFamily="34" charset="-128"/>
              </a:rPr>
              <a:t>走行データのブレーキの解析がしたい場合には</a:t>
            </a:r>
            <a:endParaRPr lang="en-US" altLang="ja-JP" dirty="0">
              <a:latin typeface="Meiryo" panose="020B0604030504040204" pitchFamily="34" charset="-128"/>
              <a:ea typeface="Meiryo" panose="020B0604030504040204" pitchFamily="34" charset="-128"/>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ja-JP" altLang="en-US">
                <a:latin typeface="Meiryo" panose="020B0604030504040204" pitchFamily="34" charset="-128"/>
                <a:ea typeface="Meiryo" panose="020B0604030504040204" pitchFamily="34" charset="-128"/>
              </a:rPr>
              <a:t>走行データから状態パターンを検出し、ブレーキの状態として検出された部分時系列のみを抽出して解析を行うことができます。</a:t>
            </a:r>
            <a:endParaRPr lang="en-US" altLang="ja-JP" dirty="0">
              <a:latin typeface="Meiryo" panose="020B0604030504040204" pitchFamily="34" charset="-128"/>
              <a:ea typeface="Meiryo" panose="020B0604030504040204" pitchFamily="34" charset="-128"/>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ja-JP" altLang="en-US">
                <a:latin typeface="Meiryo" panose="020B0604030504040204" pitchFamily="34" charset="-128"/>
                <a:ea typeface="Meiryo" panose="020B0604030504040204" pitchFamily="34" charset="-128"/>
              </a:rPr>
              <a:t>他にも、機械がいつ故障するか知りたい場合には機械の故障パターンを検出し、現在の状態が故障パターンのどの状態に該当するか解析します。例えば機械の状態が</a:t>
            </a:r>
            <a:r>
              <a:rPr lang="en-US" altLang="ja-JP" dirty="0">
                <a:latin typeface="Meiryo" panose="020B0604030504040204" pitchFamily="34" charset="-128"/>
                <a:ea typeface="Meiryo" panose="020B0604030504040204" pitchFamily="34" charset="-128"/>
              </a:rPr>
              <a:t>A</a:t>
            </a:r>
            <a:r>
              <a:rPr lang="ja-JP" altLang="en-US">
                <a:latin typeface="Meiryo" panose="020B0604030504040204" pitchFamily="34" charset="-128"/>
                <a:ea typeface="Meiryo" panose="020B0604030504040204" pitchFamily="34" charset="-128"/>
              </a:rPr>
              <a:t>→</a:t>
            </a:r>
            <a:r>
              <a:rPr lang="en-US" altLang="ja-JP" dirty="0">
                <a:latin typeface="Meiryo" panose="020B0604030504040204" pitchFamily="34" charset="-128"/>
                <a:ea typeface="Meiryo" panose="020B0604030504040204" pitchFamily="34" charset="-128"/>
              </a:rPr>
              <a:t>B</a:t>
            </a:r>
            <a:r>
              <a:rPr lang="ja-JP" altLang="en-US">
                <a:latin typeface="Meiryo" panose="020B0604030504040204" pitchFamily="34" charset="-128"/>
                <a:ea typeface="Meiryo" panose="020B0604030504040204" pitchFamily="34" charset="-128"/>
              </a:rPr>
              <a:t>→</a:t>
            </a:r>
            <a:r>
              <a:rPr lang="en-US" altLang="ja-JP" dirty="0">
                <a:latin typeface="Meiryo" panose="020B0604030504040204" pitchFamily="34" charset="-128"/>
                <a:ea typeface="Meiryo" panose="020B0604030504040204" pitchFamily="34" charset="-128"/>
              </a:rPr>
              <a:t>C</a:t>
            </a:r>
            <a:r>
              <a:rPr lang="ja-JP" altLang="en-US">
                <a:latin typeface="Meiryo" panose="020B0604030504040204" pitchFamily="34" charset="-128"/>
                <a:ea typeface="Meiryo" panose="020B0604030504040204" pitchFamily="34" charset="-128"/>
              </a:rPr>
              <a:t>→</a:t>
            </a:r>
            <a:r>
              <a:rPr lang="en-US" altLang="ja-JP" dirty="0">
                <a:latin typeface="Meiryo" panose="020B0604030504040204" pitchFamily="34" charset="-128"/>
                <a:ea typeface="Meiryo" panose="020B0604030504040204" pitchFamily="34" charset="-128"/>
              </a:rPr>
              <a:t>D</a:t>
            </a:r>
            <a:r>
              <a:rPr lang="ja-JP" altLang="en-US">
                <a:latin typeface="Meiryo" panose="020B0604030504040204" pitchFamily="34" charset="-128"/>
                <a:ea typeface="Meiryo" panose="020B0604030504040204" pitchFamily="34" charset="-128"/>
              </a:rPr>
              <a:t>と遷移して故障する場合に現在がどの状態であるか解析することで、故障するまでの時間を予測することができます。</a:t>
            </a:r>
            <a:endParaRPr lang="en-JP" altLang="ja-JP">
              <a:latin typeface="Meiryo" panose="020B0604030504040204" pitchFamily="34" charset="-128"/>
              <a:ea typeface="Meiryo" panose="020B0604030504040204" pitchFamily="34" charset="-128"/>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lang="en-JP" altLang="ja-JP">
              <a:latin typeface="Meiryo" panose="020B0604030504040204" pitchFamily="34" charset="-128"/>
              <a:ea typeface="Meiryo" panose="020B0604030504040204" pitchFamily="34" charset="-128"/>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lang="en-JP" altLang="ja-JP">
              <a:latin typeface="Meiryo" panose="020B0604030504040204" pitchFamily="34" charset="-128"/>
              <a:ea typeface="Meiryo" panose="020B0604030504040204" pitchFamily="34" charset="-128"/>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lang="en-JP" altLang="ja-JP">
              <a:latin typeface="Meiryo" panose="020B0604030504040204" pitchFamily="34" charset="-128"/>
              <a:ea typeface="Meiryo" panose="020B0604030504040204" pitchFamily="34" charset="-128"/>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lang="en-US" altLang="ja-JP" sz="1200" dirty="0">
              <a:latin typeface="Meiryo" panose="020B0604030504040204" pitchFamily="34" charset="-128"/>
              <a:ea typeface="Meiryo" panose="020B0604030504040204" pitchFamily="34" charset="-128"/>
            </a:endParaRPr>
          </a:p>
          <a:p>
            <a:endParaRPr lang="en-US" altLang="ja-JP" dirty="0"/>
          </a:p>
          <a:p>
            <a:endParaRPr lang="en-JP" dirty="0"/>
          </a:p>
        </p:txBody>
      </p:sp>
      <p:sp>
        <p:nvSpPr>
          <p:cNvPr id="4" name="Slide Number Placeholder 3"/>
          <p:cNvSpPr>
            <a:spLocks noGrp="1"/>
          </p:cNvSpPr>
          <p:nvPr>
            <p:ph type="sldNum" sz="quarter" idx="5"/>
          </p:nvPr>
        </p:nvSpPr>
        <p:spPr/>
        <p:txBody>
          <a:bodyPr/>
          <a:lstStyle/>
          <a:p>
            <a:fld id="{573B8C13-EC29-D742-991B-033D70E9806E}" type="slidenum">
              <a:rPr lang="en-US" smtClean="0"/>
              <a:t>4</a:t>
            </a:fld>
            <a:endParaRPr lang="en-US"/>
          </a:p>
        </p:txBody>
      </p:sp>
    </p:spTree>
    <p:extLst>
      <p:ext uri="{BB962C8B-B14F-4D97-AF65-F5344CB8AC3E}">
        <p14:creationId xmlns:p14="http://schemas.microsoft.com/office/powerpoint/2010/main" val="59231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B56947-2C11-71C7-5538-BAB747CBD1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11EBBA-4A73-3400-EBF8-6AE47AFA81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F66FA7-B524-F708-73CB-527CE14B7CA8}"/>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ja-JP" altLang="en-US">
                <a:latin typeface="Meiryo" panose="020B0604030504040204" pitchFamily="34" charset="-128"/>
                <a:ea typeface="Meiryo" panose="020B0604030504040204" pitchFamily="34" charset="-128"/>
              </a:rPr>
              <a:t>時系列データのセグメンテーションに関する関連研究は大きく分けて数理モデルと深層学習モデルに分類されます。</a:t>
            </a:r>
            <a:endParaRPr lang="en-US" altLang="ja-JP" dirty="0">
              <a:latin typeface="Meiryo" panose="020B0604030504040204" pitchFamily="34" charset="-128"/>
              <a:ea typeface="Meiryo" panose="020B0604030504040204" pitchFamily="34" charset="-128"/>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ja-JP" altLang="en-US">
                <a:latin typeface="Meiryo" panose="020B0604030504040204" pitchFamily="34" charset="-128"/>
                <a:ea typeface="Meiryo" panose="020B0604030504040204" pitchFamily="34" charset="-128"/>
              </a:rPr>
              <a:t>数理モデルでは</a:t>
            </a:r>
            <a:r>
              <a:rPr lang="en-US" altLang="ja-JP" dirty="0" err="1">
                <a:latin typeface="Meiryo" panose="020B0604030504040204" pitchFamily="34" charset="-128"/>
                <a:ea typeface="Meiryo" panose="020B0604030504040204" pitchFamily="34" charset="-128"/>
              </a:rPr>
              <a:t>AutoPlait</a:t>
            </a:r>
            <a:r>
              <a:rPr lang="ja-JP" altLang="en-US">
                <a:latin typeface="Meiryo" panose="020B0604030504040204" pitchFamily="34" charset="-128"/>
                <a:ea typeface="Meiryo" panose="020B0604030504040204" pitchFamily="34" charset="-128"/>
              </a:rPr>
              <a:t>と呼ばれるモデルがあります。</a:t>
            </a:r>
            <a:br>
              <a:rPr lang="en-US" altLang="ja-JP" dirty="0">
                <a:latin typeface="Meiryo" panose="020B0604030504040204" pitchFamily="34" charset="-128"/>
                <a:ea typeface="Meiryo" panose="020B0604030504040204" pitchFamily="34" charset="-128"/>
              </a:rPr>
            </a:br>
            <a:r>
              <a:rPr lang="ja-JP" altLang="en-US">
                <a:latin typeface="Meiryo" panose="020B0604030504040204" pitchFamily="34" charset="-128"/>
                <a:ea typeface="Meiryo" panose="020B0604030504040204" pitchFamily="34" charset="-128"/>
              </a:rPr>
              <a:t>このモデルは時系列を分割する際の各時系列の状態を隠れマルコフモデルの潜在状態で表現し、</a:t>
            </a:r>
            <a:br>
              <a:rPr lang="en-US" altLang="ja-JP" dirty="0">
                <a:latin typeface="Meiryo" panose="020B0604030504040204" pitchFamily="34" charset="-128"/>
                <a:ea typeface="Meiryo" panose="020B0604030504040204" pitchFamily="34" charset="-128"/>
              </a:rPr>
            </a:br>
            <a:r>
              <a:rPr lang="ja-JP" altLang="en-US">
                <a:latin typeface="Meiryo" panose="020B0604030504040204" pitchFamily="34" charset="-128"/>
                <a:ea typeface="Meiryo" panose="020B0604030504040204" pitchFamily="34" charset="-128"/>
              </a:rPr>
              <a:t>適切な状態数を決定するために符号化コストが小さくなるように</a:t>
            </a:r>
            <a:r>
              <a:rPr lang="en-US" altLang="ja-JP" dirty="0">
                <a:latin typeface="Meiryo" panose="020B0604030504040204" pitchFamily="34" charset="-128"/>
                <a:ea typeface="Meiryo" panose="020B0604030504040204" pitchFamily="34" charset="-128"/>
              </a:rPr>
              <a:t>MDL</a:t>
            </a:r>
            <a:r>
              <a:rPr lang="ja-JP" altLang="en-US">
                <a:latin typeface="Meiryo" panose="020B0604030504040204" pitchFamily="34" charset="-128"/>
                <a:ea typeface="Meiryo" panose="020B0604030504040204" pitchFamily="34" charset="-128"/>
              </a:rPr>
              <a:t>原理を用いています。</a:t>
            </a:r>
            <a:endParaRPr lang="en-US" altLang="ja-JP" dirty="0">
              <a:latin typeface="Meiryo" panose="020B0604030504040204" pitchFamily="34" charset="-128"/>
              <a:ea typeface="Meiryo" panose="020B0604030504040204" pitchFamily="34" charset="-128"/>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ja-JP" altLang="en-US" sz="1800">
                <a:latin typeface="Meiryo" panose="020B0604030504040204" pitchFamily="34" charset="-128"/>
                <a:ea typeface="Meiryo" panose="020B0604030504040204" pitchFamily="34" charset="-128"/>
              </a:rPr>
              <a:t>適切な状態数を決定するために符号化コストを</a:t>
            </a:r>
            <a:r>
              <a:rPr lang="ja-JP" altLang="en-US" sz="1800">
                <a:effectLst/>
                <a:latin typeface="HaranoAjiMincho-Regular-Identity-H"/>
              </a:rPr>
              <a:t>貪欲に最適化するために複数回の最適化が必要であり</a:t>
            </a:r>
            <a:r>
              <a:rPr lang="en-US" altLang="ja-JP" sz="1800" dirty="0">
                <a:effectLst/>
                <a:latin typeface="CMR12"/>
              </a:rPr>
              <a:t>, </a:t>
            </a:r>
          </a:p>
          <a:p>
            <a:pPr marL="0" marR="0" lvl="0" indent="0" algn="l" defTabSz="457200" rtl="0" eaLnBrk="1" fontAlgn="auto" latinLnBrk="0" hangingPunct="1">
              <a:lnSpc>
                <a:spcPct val="100000"/>
              </a:lnSpc>
              <a:spcBef>
                <a:spcPts val="0"/>
              </a:spcBef>
              <a:spcAft>
                <a:spcPts val="0"/>
              </a:spcAft>
              <a:buClrTx/>
              <a:buSzTx/>
              <a:buFontTx/>
              <a:buNone/>
              <a:tabLst/>
              <a:defRPr/>
            </a:pPr>
            <a:r>
              <a:rPr lang="ja-JP" altLang="en-US" sz="1800">
                <a:effectLst/>
                <a:latin typeface="HaranoAjiMincho-Regular-Identity-H"/>
              </a:rPr>
              <a:t>不安定な実行時間と長さが大きい時系列では実行できなくなってしまう課題が存在しています。</a:t>
            </a:r>
            <a:endParaRPr lang="en-JP" altLang="ja-JP">
              <a:latin typeface="Meiryo" panose="020B0604030504040204" pitchFamily="34" charset="-128"/>
              <a:ea typeface="Meiryo" panose="020B0604030504040204" pitchFamily="34" charset="-128"/>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lang="en-US" altLang="ja-JP" sz="1200" dirty="0">
              <a:latin typeface="Meiryo" panose="020B0604030504040204" pitchFamily="34" charset="-128"/>
              <a:ea typeface="Meiryo" panose="020B0604030504040204" pitchFamily="34" charset="-128"/>
            </a:endParaRPr>
          </a:p>
          <a:p>
            <a:endParaRPr lang="en-US" altLang="ja-JP" dirty="0"/>
          </a:p>
          <a:p>
            <a:endParaRPr lang="en-JP" dirty="0"/>
          </a:p>
        </p:txBody>
      </p:sp>
      <p:sp>
        <p:nvSpPr>
          <p:cNvPr id="4" name="Slide Number Placeholder 3">
            <a:extLst>
              <a:ext uri="{FF2B5EF4-FFF2-40B4-BE49-F238E27FC236}">
                <a16:creationId xmlns:a16="http://schemas.microsoft.com/office/drawing/2014/main" id="{7FB58B4D-213D-3B63-7D7D-A83ECA2B11EE}"/>
              </a:ext>
            </a:extLst>
          </p:cNvPr>
          <p:cNvSpPr>
            <a:spLocks noGrp="1"/>
          </p:cNvSpPr>
          <p:nvPr>
            <p:ph type="sldNum" sz="quarter" idx="5"/>
          </p:nvPr>
        </p:nvSpPr>
        <p:spPr/>
        <p:txBody>
          <a:bodyPr/>
          <a:lstStyle/>
          <a:p>
            <a:fld id="{573B8C13-EC29-D742-991B-033D70E9806E}" type="slidenum">
              <a:rPr lang="en-US" smtClean="0"/>
              <a:t>5</a:t>
            </a:fld>
            <a:endParaRPr lang="en-US"/>
          </a:p>
        </p:txBody>
      </p:sp>
    </p:spTree>
    <p:extLst>
      <p:ext uri="{BB962C8B-B14F-4D97-AF65-F5344CB8AC3E}">
        <p14:creationId xmlns:p14="http://schemas.microsoft.com/office/powerpoint/2010/main" val="12414892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571D1-9C37-CB82-8430-C2F038993F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003CE3-AA03-3F4C-F86C-F0B0C6B2F2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9EA01B-E9B0-2C54-173F-6360F039B53C}"/>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ja-JP" altLang="en-US">
                <a:latin typeface="Meiryo" panose="020B0604030504040204" pitchFamily="34" charset="-128"/>
                <a:ea typeface="Meiryo" panose="020B0604030504040204" pitchFamily="34" charset="-128"/>
              </a:rPr>
              <a:t>深層学習を用いた手法では、表現学習で低次元の埋め込み空間に変換したのち、クラスタリングを行う手法が一般的です。</a:t>
            </a:r>
            <a:endParaRPr lang="en-US" altLang="ja-JP" dirty="0">
              <a:latin typeface="Meiryo" panose="020B0604030504040204" pitchFamily="34" charset="-128"/>
              <a:ea typeface="Meiryo" panose="020B0604030504040204" pitchFamily="34" charset="-128"/>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ja-JP" altLang="en-US">
                <a:latin typeface="Meiryo" panose="020B0604030504040204" pitchFamily="34" charset="-128"/>
                <a:ea typeface="Meiryo" panose="020B0604030504040204" pitchFamily="34" charset="-128"/>
              </a:rPr>
              <a:t>表現学習は</a:t>
            </a:r>
            <a:r>
              <a:rPr lang="en-US" altLang="ja-JP" dirty="0">
                <a:latin typeface="Meiryo" panose="020B0604030504040204" pitchFamily="34" charset="-128"/>
                <a:ea typeface="Meiryo" panose="020B0604030504040204" pitchFamily="34" charset="-128"/>
              </a:rPr>
              <a:t>Encoder</a:t>
            </a:r>
            <a:r>
              <a:rPr lang="ja-JP" altLang="en-US">
                <a:latin typeface="Meiryo" panose="020B0604030504040204" pitchFamily="34" charset="-128"/>
                <a:ea typeface="Meiryo" panose="020B0604030504040204" pitchFamily="34" charset="-128"/>
              </a:rPr>
              <a:t>の設計やロス関数の設計の研究があり、</a:t>
            </a:r>
            <a:endParaRPr lang="en-US" altLang="ja-JP" dirty="0">
              <a:latin typeface="Meiryo" panose="020B0604030504040204" pitchFamily="34" charset="-128"/>
              <a:ea typeface="Meiryo" panose="020B0604030504040204" pitchFamily="34" charset="-128"/>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ja-JP" altLang="en-US">
                <a:latin typeface="Meiryo" panose="020B0604030504040204" pitchFamily="34" charset="-128"/>
                <a:ea typeface="Meiryo" panose="020B0604030504040204" pitchFamily="34" charset="-128"/>
              </a:rPr>
              <a:t>本研究ではロス関数の設計において対照学習を用いる研究に焦点を当てています。対照学習は特徴空間上において同じペアを近づけ、違うペアを遠ざけるように学習を進めます。</a:t>
            </a:r>
            <a:endParaRPr lang="en-US" altLang="ja-JP" dirty="0">
              <a:latin typeface="Meiryo" panose="020B0604030504040204" pitchFamily="34" charset="-128"/>
              <a:ea typeface="Meiryo" panose="020B0604030504040204" pitchFamily="34" charset="-128"/>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ja-JP" altLang="en-US">
                <a:latin typeface="Meiryo" panose="020B0604030504040204" pitchFamily="34" charset="-128"/>
                <a:ea typeface="Meiryo" panose="020B0604030504040204" pitchFamily="34" charset="-128"/>
              </a:rPr>
              <a:t>画像や言語処理の分野で盛んに研究されており、時系列モデルでは</a:t>
            </a:r>
            <a:r>
              <a:rPr lang="en-US" altLang="ja-JP" sz="1200" dirty="0">
                <a:latin typeface="Meiryo" panose="020B0604030504040204" pitchFamily="34" charset="-128"/>
                <a:ea typeface="Meiryo" panose="020B0604030504040204" pitchFamily="34" charset="-128"/>
              </a:rPr>
              <a:t>Ts2Vec</a:t>
            </a:r>
            <a:r>
              <a:rPr lang="ja-JP" altLang="en-US" sz="1200">
                <a:latin typeface="Meiryo" panose="020B0604030504040204" pitchFamily="34" charset="-128"/>
                <a:ea typeface="Meiryo" panose="020B0604030504040204" pitchFamily="34" charset="-128"/>
              </a:rPr>
              <a:t>が元になっています。</a:t>
            </a:r>
            <a:endParaRPr lang="en-US" altLang="ja-JP" sz="1200" dirty="0">
              <a:latin typeface="Meiryo" panose="020B0604030504040204" pitchFamily="34" charset="-128"/>
              <a:ea typeface="Meiryo" panose="020B0604030504040204" pitchFamily="34" charset="-128"/>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ja-JP" sz="1200" dirty="0">
                <a:latin typeface="Meiryo" panose="020B0604030504040204" pitchFamily="34" charset="-128"/>
                <a:ea typeface="Meiryo" panose="020B0604030504040204" pitchFamily="34" charset="-128"/>
              </a:rPr>
              <a:t>Ts2Vec</a:t>
            </a:r>
            <a:r>
              <a:rPr lang="ja-JP" altLang="en-US" sz="1200">
                <a:latin typeface="Meiryo" panose="020B0604030504040204" pitchFamily="34" charset="-128"/>
                <a:ea typeface="Meiryo" panose="020B0604030504040204" pitchFamily="34" charset="-128"/>
              </a:rPr>
              <a:t>は同一時間点を同じペア、遠い時間点を違うペアにしているため、</a:t>
            </a:r>
            <a:endParaRPr lang="en-US" altLang="ja-JP" sz="1200" dirty="0">
              <a:latin typeface="Meiryo" panose="020B0604030504040204" pitchFamily="34" charset="-128"/>
              <a:ea typeface="Meiryo" panose="020B0604030504040204" pitchFamily="34" charset="-128"/>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ja-JP" altLang="en-US" sz="1200">
                <a:latin typeface="Meiryo" panose="020B0604030504040204" pitchFamily="34" charset="-128"/>
                <a:ea typeface="Meiryo" panose="020B0604030504040204" pitchFamily="34" charset="-128"/>
              </a:rPr>
              <a:t>遠い時間点で同一状態パターンが現れた際に誤検知が増える</a:t>
            </a:r>
            <a:r>
              <a:rPr lang="ja-JP" altLang="en-US">
                <a:latin typeface="Meiryo" panose="020B0604030504040204" pitchFamily="34" charset="-128"/>
                <a:ea typeface="Meiryo" panose="020B0604030504040204" pitchFamily="34" charset="-128"/>
              </a:rPr>
              <a:t>ことが課題です。</a:t>
            </a:r>
            <a:endParaRPr lang="en-JP" altLang="ja-JP">
              <a:latin typeface="Meiryo" panose="020B0604030504040204" pitchFamily="34" charset="-128"/>
              <a:ea typeface="Meiryo" panose="020B0604030504040204" pitchFamily="34" charset="-128"/>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lang="en-US" altLang="ja-JP" sz="1200" dirty="0">
              <a:latin typeface="Meiryo" panose="020B0604030504040204" pitchFamily="34" charset="-128"/>
              <a:ea typeface="Meiryo" panose="020B0604030504040204" pitchFamily="34" charset="-128"/>
            </a:endParaRPr>
          </a:p>
          <a:p>
            <a:endParaRPr lang="en-US" altLang="ja-JP" dirty="0"/>
          </a:p>
          <a:p>
            <a:endParaRPr lang="en-JP" dirty="0"/>
          </a:p>
        </p:txBody>
      </p:sp>
      <p:sp>
        <p:nvSpPr>
          <p:cNvPr id="4" name="Slide Number Placeholder 3">
            <a:extLst>
              <a:ext uri="{FF2B5EF4-FFF2-40B4-BE49-F238E27FC236}">
                <a16:creationId xmlns:a16="http://schemas.microsoft.com/office/drawing/2014/main" id="{08090EDE-745E-B552-79A5-2A0D326B7E9D}"/>
              </a:ext>
            </a:extLst>
          </p:cNvPr>
          <p:cNvSpPr>
            <a:spLocks noGrp="1"/>
          </p:cNvSpPr>
          <p:nvPr>
            <p:ph type="sldNum" sz="quarter" idx="5"/>
          </p:nvPr>
        </p:nvSpPr>
        <p:spPr/>
        <p:txBody>
          <a:bodyPr/>
          <a:lstStyle/>
          <a:p>
            <a:fld id="{573B8C13-EC29-D742-991B-033D70E9806E}" type="slidenum">
              <a:rPr lang="en-US" smtClean="0"/>
              <a:t>6</a:t>
            </a:fld>
            <a:endParaRPr lang="en-US"/>
          </a:p>
        </p:txBody>
      </p:sp>
    </p:spTree>
    <p:extLst>
      <p:ext uri="{BB962C8B-B14F-4D97-AF65-F5344CB8AC3E}">
        <p14:creationId xmlns:p14="http://schemas.microsoft.com/office/powerpoint/2010/main" val="32247336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　先ほどの研究背景で述べたような，状態パターン検出という研究は近年盛んに行われております。</a:t>
            </a:r>
            <a:endParaRPr lang="en-US" altLang="ja-JP" dirty="0"/>
          </a:p>
          <a:p>
            <a:r>
              <a:rPr lang="ja-JP" altLang="en-US"/>
              <a:t>　これらの先行研究の手法の多くには次に挙げるような問題点があります．一つ目として，</a:t>
            </a:r>
            <a:r>
              <a:rPr lang="ja-JP" altLang="en-US" sz="1200">
                <a:latin typeface="Meiryo" panose="020B0604030504040204" pitchFamily="34" charset="-128"/>
                <a:ea typeface="Meiryo" panose="020B0604030504040204" pitchFamily="34" charset="-128"/>
              </a:rPr>
              <a:t>時間的に近いものを同一パターン、遠いものを別パターンと仮定している</a:t>
            </a:r>
            <a:r>
              <a:rPr lang="ja-JP" altLang="en-US"/>
              <a:t>点があります．</a:t>
            </a:r>
            <a:br>
              <a:rPr lang="en-US" altLang="ja-JP" dirty="0"/>
            </a:br>
            <a:r>
              <a:rPr lang="ja-JP" altLang="en-US"/>
              <a:t>同じ状態が何度も繰り返される時系列データでは誤検出が増加します。また、</a:t>
            </a:r>
            <a:r>
              <a:rPr lang="ja-JP" altLang="en-US" sz="1200">
                <a:latin typeface="Meiryo" panose="020B0604030504040204" pitchFamily="34" charset="-128"/>
                <a:ea typeface="Meiryo" panose="020B0604030504040204" pitchFamily="34" charset="-128"/>
              </a:rPr>
              <a:t>状態数をあらかじめ知っている状態で検知しており、</a:t>
            </a:r>
            <a:r>
              <a:rPr lang="ja-JP" altLang="en-US"/>
              <a:t>実際の運用を考えた際にドメイン知識などのコストのかかるアプローチであると言えます．</a:t>
            </a:r>
            <a:endParaRPr lang="en-US" altLang="ja-JP" dirty="0"/>
          </a:p>
          <a:p>
            <a:pPr marL="0" marR="0" lvl="0" indent="0" algn="l" defTabSz="457200" rtl="0" eaLnBrk="1" fontAlgn="auto" latinLnBrk="0" hangingPunct="1">
              <a:lnSpc>
                <a:spcPct val="100000"/>
              </a:lnSpc>
              <a:spcBef>
                <a:spcPts val="0"/>
              </a:spcBef>
              <a:spcAft>
                <a:spcPts val="0"/>
              </a:spcAft>
              <a:buClrTx/>
              <a:buSzTx/>
              <a:buFontTx/>
              <a:buNone/>
              <a:tabLst/>
              <a:defRPr/>
            </a:pPr>
            <a:r>
              <a:rPr lang="ja-JP" altLang="en-US"/>
              <a:t>　これに対して本研究の提案手法では、部分時系列の類似度に基づいて同一パターンや別パターンを認識して学習することで、検出精度を高めたことや、</a:t>
            </a:r>
            <a:r>
              <a:rPr lang="en-US" altLang="ja-JP" sz="1200" dirty="0" err="1">
                <a:latin typeface="Meiryo" panose="020B0604030504040204" pitchFamily="34" charset="-128"/>
                <a:ea typeface="Meiryo" panose="020B0604030504040204" pitchFamily="34" charset="-128"/>
              </a:rPr>
              <a:t>状態数未知の場合でも高精度な検知</a:t>
            </a:r>
            <a:endParaRPr lang="en-US" altLang="ja-JP" sz="1200" dirty="0">
              <a:latin typeface="Meiryo" panose="020B0604030504040204" pitchFamily="34" charset="-128"/>
              <a:ea typeface="Meiryo" panose="020B0604030504040204" pitchFamily="34" charset="-128"/>
            </a:endParaRPr>
          </a:p>
          <a:p>
            <a:r>
              <a:rPr lang="ja-JP" altLang="en-US"/>
              <a:t>を行うこと、エンコーダで変換する際に状態ごとに分離しクラスタ化した特徴空間が現れることなど、解釈性が高いモデルであると言えます．</a:t>
            </a:r>
          </a:p>
          <a:p>
            <a:endParaRPr lang="ja-JP" altLang="en-US"/>
          </a:p>
          <a:p>
            <a:endParaRPr lang="en-US" altLang="ja-JP" dirty="0"/>
          </a:p>
          <a:p>
            <a:endParaRPr lang="ja-JP" altLang="en-US"/>
          </a:p>
          <a:p>
            <a:endParaRPr lang="en-JP" dirty="0"/>
          </a:p>
        </p:txBody>
      </p:sp>
      <p:sp>
        <p:nvSpPr>
          <p:cNvPr id="4" name="Slide Number Placeholder 3"/>
          <p:cNvSpPr>
            <a:spLocks noGrp="1"/>
          </p:cNvSpPr>
          <p:nvPr>
            <p:ph type="sldNum" sz="quarter" idx="5"/>
          </p:nvPr>
        </p:nvSpPr>
        <p:spPr/>
        <p:txBody>
          <a:bodyPr/>
          <a:lstStyle/>
          <a:p>
            <a:fld id="{573B8C13-EC29-D742-991B-033D70E9806E}" type="slidenum">
              <a:rPr lang="en-US" smtClean="0"/>
              <a:t>7</a:t>
            </a:fld>
            <a:endParaRPr lang="en-US"/>
          </a:p>
        </p:txBody>
      </p:sp>
    </p:spTree>
    <p:extLst>
      <p:ext uri="{BB962C8B-B14F-4D97-AF65-F5344CB8AC3E}">
        <p14:creationId xmlns:p14="http://schemas.microsoft.com/office/powerpoint/2010/main" val="35430871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JP" dirty="0"/>
              <a:t>それでは提案手法の説明をします．</a:t>
            </a:r>
          </a:p>
        </p:txBody>
      </p:sp>
      <p:sp>
        <p:nvSpPr>
          <p:cNvPr id="4" name="Slide Number Placeholder 3"/>
          <p:cNvSpPr>
            <a:spLocks noGrp="1"/>
          </p:cNvSpPr>
          <p:nvPr>
            <p:ph type="sldNum" sz="quarter" idx="5"/>
          </p:nvPr>
        </p:nvSpPr>
        <p:spPr/>
        <p:txBody>
          <a:bodyPr/>
          <a:lstStyle/>
          <a:p>
            <a:fld id="{573B8C13-EC29-D742-991B-033D70E9806E}" type="slidenum">
              <a:rPr lang="en-US" smtClean="0"/>
              <a:t>8</a:t>
            </a:fld>
            <a:endParaRPr lang="en-US"/>
          </a:p>
        </p:txBody>
      </p:sp>
    </p:spTree>
    <p:extLst>
      <p:ext uri="{BB962C8B-B14F-4D97-AF65-F5344CB8AC3E}">
        <p14:creationId xmlns:p14="http://schemas.microsoft.com/office/powerpoint/2010/main" val="36773195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ja-JP" altLang="en-US"/>
                  <a:t>問題定義として、</a:t>
                </a:r>
                <a:r>
                  <a:rPr lang="ja-JP" altLang="en-US" sz="1200">
                    <a:latin typeface="Meiryo" panose="020B0604030504040204" pitchFamily="34" charset="-128"/>
                    <a:ea typeface="Meiryo" panose="020B0604030504040204" pitchFamily="34" charset="-128"/>
                  </a:rPr>
                  <a:t>人間の行動動作や睡眠</a:t>
                </a:r>
                <a:r>
                  <a:rPr lang="en-US" altLang="ja-JP" sz="1200" dirty="0">
                    <a:latin typeface="Meiryo" panose="020B0604030504040204" pitchFamily="34" charset="-128"/>
                    <a:ea typeface="Meiryo" panose="020B0604030504040204" pitchFamily="34" charset="-128"/>
                  </a:rPr>
                  <a:t>, </a:t>
                </a:r>
                <a:r>
                  <a:rPr lang="ja-JP" altLang="en-US" sz="1200">
                    <a:latin typeface="Meiryo" panose="020B0604030504040204" pitchFamily="34" charset="-128"/>
                    <a:ea typeface="Meiryo" panose="020B0604030504040204" pitchFamily="34" charset="-128"/>
                  </a:rPr>
                  <a:t>機械の多変量時系列データに対して、</a:t>
                </a:r>
                <a:endParaRPr lang="en-US" altLang="ja-JP" sz="1200" dirty="0">
                  <a:latin typeface="Meiryo" panose="020B0604030504040204" pitchFamily="34" charset="-128"/>
                  <a:ea typeface="Meiryo" panose="020B0604030504040204" pitchFamily="34" charset="-128"/>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ja-JP" altLang="en-US" sz="1200" kern="1200">
                    <a:solidFill>
                      <a:schemeClr val="tx1"/>
                    </a:solidFill>
                    <a:effectLst/>
                    <a:latin typeface="+mn-lt"/>
                    <a:ea typeface="+mn-ea"/>
                    <a:cs typeface="+mn-cs"/>
                  </a:rPr>
                  <a:t>状態パターンの数を推定し</a:t>
                </a:r>
                <a:r>
                  <a:rPr lang="en-US" altLang="ja-JP" sz="1200" kern="1200" dirty="0">
                    <a:solidFill>
                      <a:schemeClr val="tx1"/>
                    </a:solidFill>
                    <a:effectLst/>
                    <a:latin typeface="+mn-lt"/>
                    <a:ea typeface="+mn-ea"/>
                    <a:cs typeface="+mn-cs"/>
                  </a:rPr>
                  <a:t>, </a:t>
                </a:r>
                <a:r>
                  <a:rPr lang="ja-JP" altLang="en-US" sz="1200" kern="1200">
                    <a:solidFill>
                      <a:schemeClr val="tx1"/>
                    </a:solidFill>
                    <a:effectLst/>
                    <a:latin typeface="+mn-lt"/>
                    <a:ea typeface="+mn-ea"/>
                    <a:cs typeface="+mn-cs"/>
                  </a:rPr>
                  <a:t>各観測点がどの状態パターンに属するか</a:t>
                </a:r>
                <a:r>
                  <a:rPr lang="ja-JP" altLang="en-US" sz="1200" kern="1200">
                    <a:solidFill>
                      <a:schemeClr val="tx1"/>
                    </a:solidFill>
                    <a:effectLst/>
                    <a:latin typeface="Meiryo" panose="020B0604030504040204" pitchFamily="34" charset="-128"/>
                    <a:ea typeface="Meiryo" panose="020B0604030504040204" pitchFamily="34" charset="-128"/>
                    <a:cs typeface="+mn-cs"/>
                  </a:rPr>
                  <a:t>の</a:t>
                </a:r>
                <a:r>
                  <a:rPr lang="ja-JP" altLang="en-US" sz="1200">
                    <a:latin typeface="Meiryo" panose="020B0604030504040204" pitchFamily="34" charset="-128"/>
                    <a:ea typeface="Meiryo" panose="020B0604030504040204" pitchFamily="34" charset="-128"/>
                  </a:rPr>
                  <a:t>状態インデックス</a:t>
                </a:r>
                <a14:m>
                  <m:oMath xmlns:m="http://schemas.openxmlformats.org/officeDocument/2006/math">
                    <m:r>
                      <a:rPr lang="en-US" altLang="ja-JP" sz="1200" b="0" i="1" smtClean="0">
                        <a:latin typeface="Cambria Math" panose="02040503050406030204" pitchFamily="18" charset="0"/>
                        <a:ea typeface="Meiryo" panose="020B0604030504040204" pitchFamily="34" charset="-128"/>
                      </a:rPr>
                      <m:t>𝑆</m:t>
                    </m:r>
                    <m:r>
                      <a:rPr lang="ja-JP" altLang="en-US" sz="1200" b="0" i="1" smtClean="0">
                        <a:latin typeface="Cambria Math" panose="02040503050406030204" pitchFamily="18" charset="0"/>
                        <a:ea typeface="Meiryo" panose="020B0604030504040204" pitchFamily="34" charset="-128"/>
                      </a:rPr>
                      <m:t>を</m:t>
                    </m:r>
                  </m:oMath>
                </a14:m>
                <a:r>
                  <a:rPr lang="ja-JP" altLang="en-US"/>
                  <a:t>全ての観測点で推定します。</a:t>
                </a:r>
                <a:endParaRPr lang="en-JP" dirty="0"/>
              </a:p>
            </p:txBody>
          </p:sp>
        </mc:Choice>
        <mc:Fallback xmlns="">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ja-JP" altLang="en-US"/>
                  <a:t>問題定義として、</a:t>
                </a:r>
                <a:r>
                  <a:rPr lang="ja-JP" altLang="en-US" sz="1200">
                    <a:latin typeface="Meiryo" panose="020B0604030504040204" pitchFamily="34" charset="-128"/>
                    <a:ea typeface="Meiryo" panose="020B0604030504040204" pitchFamily="34" charset="-128"/>
                  </a:rPr>
                  <a:t>人間の行動動作や睡眠</a:t>
                </a:r>
                <a:r>
                  <a:rPr lang="en-US" altLang="ja-JP" sz="1200" dirty="0">
                    <a:latin typeface="Meiryo" panose="020B0604030504040204" pitchFamily="34" charset="-128"/>
                    <a:ea typeface="Meiryo" panose="020B0604030504040204" pitchFamily="34" charset="-128"/>
                  </a:rPr>
                  <a:t>, </a:t>
                </a:r>
                <a:r>
                  <a:rPr lang="ja-JP" altLang="en-US" sz="1200">
                    <a:latin typeface="Meiryo" panose="020B0604030504040204" pitchFamily="34" charset="-128"/>
                    <a:ea typeface="Meiryo" panose="020B0604030504040204" pitchFamily="34" charset="-128"/>
                  </a:rPr>
                  <a:t>機械の多変量時系列センサデータに対して、</a:t>
                </a:r>
                <a:r>
                  <a:rPr lang="ja-JP" altLang="en-US" sz="1200" kern="1200">
                    <a:solidFill>
                      <a:schemeClr val="tx1"/>
                    </a:solidFill>
                    <a:effectLst/>
                    <a:latin typeface="+mn-lt"/>
                    <a:ea typeface="+mn-ea"/>
                    <a:cs typeface="+mn-cs"/>
                  </a:rPr>
                  <a:t>状態パター ンの数を推定し</a:t>
                </a:r>
                <a:r>
                  <a:rPr lang="en-US" altLang="ja-JP" sz="1200" kern="1200" dirty="0">
                    <a:solidFill>
                      <a:schemeClr val="tx1"/>
                    </a:solidFill>
                    <a:effectLst/>
                    <a:latin typeface="+mn-lt"/>
                    <a:ea typeface="+mn-ea"/>
                    <a:cs typeface="+mn-cs"/>
                  </a:rPr>
                  <a:t>, </a:t>
                </a:r>
                <a:r>
                  <a:rPr lang="ja-JP" altLang="en-US" sz="1200" kern="1200">
                    <a:solidFill>
                      <a:schemeClr val="tx1"/>
                    </a:solidFill>
                    <a:effectLst/>
                    <a:latin typeface="+mn-lt"/>
                    <a:ea typeface="+mn-ea"/>
                    <a:cs typeface="+mn-cs"/>
                  </a:rPr>
                  <a:t>各観測点がどの状態パターンに属するか </a:t>
                </a:r>
                <a:r>
                  <a:rPr lang="ja-JP" altLang="en-US" sz="1200">
                    <a:latin typeface="Meiryo" panose="020B0604030504040204" pitchFamily="34" charset="-128"/>
                    <a:ea typeface="Meiryo" panose="020B0604030504040204" pitchFamily="34" charset="-128"/>
                  </a:rPr>
                  <a:t>、状態インデックス</a:t>
                </a:r>
                <a:r>
                  <a:rPr lang="en-US" altLang="ja-JP" sz="1200" b="0" i="0">
                    <a:latin typeface="Cambria Math" panose="02040503050406030204" pitchFamily="18" charset="0"/>
                    <a:ea typeface="Meiryo" panose="020B0604030504040204" pitchFamily="34" charset="-128"/>
                  </a:rPr>
                  <a:t>𝑆</a:t>
                </a:r>
                <a:r>
                  <a:rPr lang="ja-JP" altLang="en-US" sz="1200" b="0" i="0">
                    <a:latin typeface="Cambria Math" panose="02040503050406030204" pitchFamily="18" charset="0"/>
                    <a:ea typeface="Meiryo" panose="020B0604030504040204" pitchFamily="34" charset="-128"/>
                  </a:rPr>
                  <a:t>を</a:t>
                </a:r>
                <a:r>
                  <a:rPr lang="ja-JP" altLang="en-US"/>
                  <a:t>推定します。</a:t>
                </a:r>
                <a:endParaRPr lang="en-JP" dirty="0"/>
              </a:p>
            </p:txBody>
          </p:sp>
        </mc:Fallback>
      </mc:AlternateContent>
      <p:sp>
        <p:nvSpPr>
          <p:cNvPr id="4" name="Slide Number Placeholder 3"/>
          <p:cNvSpPr>
            <a:spLocks noGrp="1"/>
          </p:cNvSpPr>
          <p:nvPr>
            <p:ph type="sldNum" sz="quarter" idx="5"/>
          </p:nvPr>
        </p:nvSpPr>
        <p:spPr/>
        <p:txBody>
          <a:bodyPr/>
          <a:lstStyle/>
          <a:p>
            <a:fld id="{573B8C13-EC29-D742-991B-033D70E9806E}" type="slidenum">
              <a:rPr lang="en-US" smtClean="0"/>
              <a:t>9</a:t>
            </a:fld>
            <a:endParaRPr lang="en-US"/>
          </a:p>
        </p:txBody>
      </p:sp>
    </p:spTree>
    <p:extLst>
      <p:ext uri="{BB962C8B-B14F-4D97-AF65-F5344CB8AC3E}">
        <p14:creationId xmlns:p14="http://schemas.microsoft.com/office/powerpoint/2010/main" val="23743570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748762-838E-0643-EAC4-DC706134C7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2F58CE-812E-6C1E-6F1C-636A9AF3FD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F21A3E-4005-A4DC-710E-4C2CC8E65CC2}"/>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ja-JP" altLang="en-US"/>
              <a:t>提案手法の概要です。</a:t>
            </a:r>
            <a:r>
              <a:rPr kumimoji="1" lang="ja-JP" altLang="en-US" sz="1200">
                <a:latin typeface="Meiryo" panose="020B0604030504040204" pitchFamily="34" charset="-128"/>
                <a:ea typeface="Meiryo" panose="020B0604030504040204" pitchFamily="34" charset="-128"/>
              </a:rPr>
              <a:t>入力時系列に対して</a:t>
            </a:r>
            <a:r>
              <a:rPr kumimoji="1" lang="en-US" altLang="ja-JP" sz="1200" dirty="0">
                <a:latin typeface="Meiryo" panose="020B0604030504040204" pitchFamily="34" charset="-128"/>
                <a:ea typeface="Meiryo" panose="020B0604030504040204" pitchFamily="34" charset="-128"/>
              </a:rPr>
              <a:t>, </a:t>
            </a:r>
            <a:r>
              <a:rPr kumimoji="1" lang="ja-JP" altLang="en-US" sz="1200">
                <a:latin typeface="Meiryo" panose="020B0604030504040204" pitchFamily="34" charset="-128"/>
                <a:ea typeface="Meiryo" panose="020B0604030504040204" pitchFamily="34" charset="-128"/>
              </a:rPr>
              <a:t>データ拡張</a:t>
            </a:r>
            <a:r>
              <a:rPr kumimoji="1" lang="en-US" altLang="ja-JP" sz="1200" dirty="0">
                <a:latin typeface="Meiryo" panose="020B0604030504040204" pitchFamily="34" charset="-128"/>
                <a:ea typeface="Meiryo" panose="020B0604030504040204" pitchFamily="34" charset="-128"/>
              </a:rPr>
              <a:t>, </a:t>
            </a:r>
            <a:r>
              <a:rPr kumimoji="1" lang="ja-JP" altLang="en-US" sz="1200">
                <a:latin typeface="Meiryo" panose="020B0604030504040204" pitchFamily="34" charset="-128"/>
                <a:ea typeface="Meiryo" panose="020B0604030504040204" pitchFamily="34" charset="-128"/>
              </a:rPr>
              <a:t>特徴表現への変換</a:t>
            </a:r>
            <a:r>
              <a:rPr kumimoji="1" lang="en-US" altLang="ja-JP" sz="1200" dirty="0">
                <a:latin typeface="Meiryo" panose="020B0604030504040204" pitchFamily="34" charset="-128"/>
                <a:ea typeface="Meiryo" panose="020B0604030504040204" pitchFamily="34" charset="-128"/>
              </a:rPr>
              <a:t>, </a:t>
            </a:r>
            <a:r>
              <a:rPr kumimoji="1" lang="ja-JP" altLang="en-US" sz="1200">
                <a:latin typeface="Meiryo" panose="020B0604030504040204" pitchFamily="34" charset="-128"/>
                <a:ea typeface="Meiryo" panose="020B0604030504040204" pitchFamily="34" charset="-128"/>
              </a:rPr>
              <a:t>対照学習を行います。</a:t>
            </a:r>
            <a:endParaRPr kumimoji="1" lang="en-US" altLang="ja-JP" sz="1200" dirty="0">
              <a:latin typeface="Meiryo" panose="020B0604030504040204" pitchFamily="34" charset="-128"/>
              <a:ea typeface="Meiryo" panose="020B0604030504040204" pitchFamily="34" charset="-128"/>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1" lang="ja-JP" altLang="en-US" sz="1200">
                <a:latin typeface="Meiryo" panose="020B0604030504040204" pitchFamily="34" charset="-128"/>
                <a:ea typeface="Meiryo" panose="020B0604030504040204" pitchFamily="34" charset="-128"/>
              </a:rPr>
              <a:t>エンコーダの設計や対照学習のロス関数の設計においても行いました。</a:t>
            </a:r>
            <a:endParaRPr kumimoji="1" lang="en-US" altLang="ja-JP" sz="1200" dirty="0">
              <a:latin typeface="Meiryo" panose="020B0604030504040204" pitchFamily="34" charset="-128"/>
              <a:ea typeface="Meiryo" panose="020B0604030504040204" pitchFamily="34" charset="-128"/>
            </a:endParaRPr>
          </a:p>
        </p:txBody>
      </p:sp>
      <p:sp>
        <p:nvSpPr>
          <p:cNvPr id="4" name="Slide Number Placeholder 3">
            <a:extLst>
              <a:ext uri="{FF2B5EF4-FFF2-40B4-BE49-F238E27FC236}">
                <a16:creationId xmlns:a16="http://schemas.microsoft.com/office/drawing/2014/main" id="{AC18F890-FFD4-763C-0205-B567395329DB}"/>
              </a:ext>
            </a:extLst>
          </p:cNvPr>
          <p:cNvSpPr>
            <a:spLocks noGrp="1"/>
          </p:cNvSpPr>
          <p:nvPr>
            <p:ph type="sldNum" sz="quarter" idx="5"/>
          </p:nvPr>
        </p:nvSpPr>
        <p:spPr/>
        <p:txBody>
          <a:bodyPr/>
          <a:lstStyle/>
          <a:p>
            <a:fld id="{573B8C13-EC29-D742-991B-033D70E9806E}" type="slidenum">
              <a:rPr lang="en-US" smtClean="0"/>
              <a:t>10</a:t>
            </a:fld>
            <a:endParaRPr lang="en-US"/>
          </a:p>
        </p:txBody>
      </p:sp>
    </p:spTree>
    <p:extLst>
      <p:ext uri="{BB962C8B-B14F-4D97-AF65-F5344CB8AC3E}">
        <p14:creationId xmlns:p14="http://schemas.microsoft.com/office/powerpoint/2010/main" val="34685495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60068-7FE4-750F-A1C5-D47F445586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63CBF9-D5F7-0D55-E970-4993FEE207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CA786F-358E-AE84-5544-2587CF763BE9}"/>
              </a:ext>
            </a:extLst>
          </p:cNvPr>
          <p:cNvSpPr>
            <a:spLocks noGrp="1"/>
          </p:cNvSpPr>
          <p:nvPr>
            <p:ph type="body" idx="1"/>
          </p:nvPr>
        </p:nvSpPr>
        <p:spPr/>
        <p:txBody>
          <a:bodyPr/>
          <a:lstStyle/>
          <a:p>
            <a:r>
              <a:rPr lang="ja-JP" altLang="en-US"/>
              <a:t>はじめにデータ拡張について説明します。</a:t>
            </a:r>
            <a:endParaRPr lang="en-JP" dirty="0"/>
          </a:p>
        </p:txBody>
      </p:sp>
      <p:sp>
        <p:nvSpPr>
          <p:cNvPr id="4" name="Slide Number Placeholder 3">
            <a:extLst>
              <a:ext uri="{FF2B5EF4-FFF2-40B4-BE49-F238E27FC236}">
                <a16:creationId xmlns:a16="http://schemas.microsoft.com/office/drawing/2014/main" id="{D1ACC3D7-829F-239D-E7F2-2EF1BFC134FB}"/>
              </a:ext>
            </a:extLst>
          </p:cNvPr>
          <p:cNvSpPr>
            <a:spLocks noGrp="1"/>
          </p:cNvSpPr>
          <p:nvPr>
            <p:ph type="sldNum" sz="quarter" idx="5"/>
          </p:nvPr>
        </p:nvSpPr>
        <p:spPr/>
        <p:txBody>
          <a:bodyPr/>
          <a:lstStyle/>
          <a:p>
            <a:fld id="{573B8C13-EC29-D742-991B-033D70E9806E}" type="slidenum">
              <a:rPr lang="en-US" smtClean="0"/>
              <a:t>11</a:t>
            </a:fld>
            <a:endParaRPr lang="en-US"/>
          </a:p>
        </p:txBody>
      </p:sp>
    </p:spTree>
    <p:extLst>
      <p:ext uri="{BB962C8B-B14F-4D97-AF65-F5344CB8AC3E}">
        <p14:creationId xmlns:p14="http://schemas.microsoft.com/office/powerpoint/2010/main" val="8406656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EB8BBB-FCD5-8D4F-3A9F-9A17AA8CD7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43739F-14E5-9C83-D23D-41EC401D0C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23C3BB-A839-E4E6-1C2E-653AB08DFA04}"/>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ja-JP" altLang="en-US"/>
              <a:t>入力時系列を</a:t>
            </a:r>
            <a:r>
              <a:rPr kumimoji="1" lang="ja-JP" altLang="en-US" sz="1200">
                <a:latin typeface="Meiryo" panose="020B0604030504040204" pitchFamily="34" charset="-128"/>
                <a:ea typeface="Meiryo" panose="020B0604030504040204" pitchFamily="34" charset="-128"/>
              </a:rPr>
              <a:t>フーリエ変換で周波数領域に変換し、高周波成分にノイズが集まりやすいため</a:t>
            </a:r>
            <a:r>
              <a:rPr kumimoji="1" lang="en-US" altLang="ja-JP" sz="1200" dirty="0">
                <a:latin typeface="Meiryo" panose="020B0604030504040204" pitchFamily="34" charset="-128"/>
                <a:ea typeface="Meiryo" panose="020B0604030504040204" pitchFamily="34" charset="-128"/>
              </a:rPr>
              <a:t>, </a:t>
            </a:r>
            <a:r>
              <a:rPr kumimoji="1" lang="ja-JP" altLang="en-US" sz="1200">
                <a:latin typeface="Meiryo" panose="020B0604030504040204" pitchFamily="34" charset="-128"/>
                <a:ea typeface="Meiryo" panose="020B0604030504040204" pitchFamily="34" charset="-128"/>
              </a:rPr>
              <a:t>低周波成分のみを抽出します。</a:t>
            </a:r>
            <a:endParaRPr kumimoji="1" lang="en-US" altLang="ja-JP" sz="1200" dirty="0">
              <a:latin typeface="Meiryo" panose="020B0604030504040204" pitchFamily="34" charset="-128"/>
              <a:ea typeface="Meiryo" panose="020B0604030504040204" pitchFamily="34" charset="-128"/>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1" lang="ja-JP" altLang="en-US" sz="1200">
                <a:latin typeface="Meiryo" panose="020B0604030504040204" pitchFamily="34" charset="-128"/>
                <a:ea typeface="Meiryo" panose="020B0604030504040204" pitchFamily="34" charset="-128"/>
              </a:rPr>
              <a:t>再度時間領域に変換し、ノイズ除去を行います。</a:t>
            </a:r>
            <a:endParaRPr kumimoji="1" lang="en-US" altLang="ja-JP" sz="1200" dirty="0">
              <a:latin typeface="Meiryo" panose="020B0604030504040204" pitchFamily="34" charset="-128"/>
              <a:ea typeface="Meiryo" panose="020B0604030504040204" pitchFamily="34" charset="-128"/>
            </a:endParaRPr>
          </a:p>
        </p:txBody>
      </p:sp>
      <p:sp>
        <p:nvSpPr>
          <p:cNvPr id="4" name="Slide Number Placeholder 3">
            <a:extLst>
              <a:ext uri="{FF2B5EF4-FFF2-40B4-BE49-F238E27FC236}">
                <a16:creationId xmlns:a16="http://schemas.microsoft.com/office/drawing/2014/main" id="{BF893437-0401-8491-C5AC-EF31DAE08E84}"/>
              </a:ext>
            </a:extLst>
          </p:cNvPr>
          <p:cNvSpPr>
            <a:spLocks noGrp="1"/>
          </p:cNvSpPr>
          <p:nvPr>
            <p:ph type="sldNum" sz="quarter" idx="5"/>
          </p:nvPr>
        </p:nvSpPr>
        <p:spPr/>
        <p:txBody>
          <a:bodyPr/>
          <a:lstStyle/>
          <a:p>
            <a:fld id="{573B8C13-EC29-D742-991B-033D70E9806E}" type="slidenum">
              <a:rPr lang="en-US" smtClean="0"/>
              <a:t>12</a:t>
            </a:fld>
            <a:endParaRPr lang="en-US"/>
          </a:p>
        </p:txBody>
      </p:sp>
    </p:spTree>
    <p:extLst>
      <p:ext uri="{BB962C8B-B14F-4D97-AF65-F5344CB8AC3E}">
        <p14:creationId xmlns:p14="http://schemas.microsoft.com/office/powerpoint/2010/main" val="31173396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ADB412-36BA-8969-4E65-690ACD6031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7D6102-E7AC-E1FF-DD81-9136AF0C74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4C4353-1EA1-8E20-B9BA-093700F92B33}"/>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ja-JP" altLang="en-US"/>
              <a:t>その後</a:t>
            </a:r>
            <a:r>
              <a:rPr lang="en-US" altLang="ja-JP" dirty="0"/>
              <a:t>STL</a:t>
            </a:r>
            <a:r>
              <a:rPr lang="ja-JP" altLang="en-US"/>
              <a:t>分解を行い、</a:t>
            </a:r>
            <a:r>
              <a:rPr lang="ja-JP" altLang="en-US" sz="1200">
                <a:effectLst/>
                <a:latin typeface="Meiryo" panose="020B0604030504040204" pitchFamily="34" charset="-128"/>
                <a:ea typeface="Meiryo" panose="020B0604030504040204" pitchFamily="34" charset="-128"/>
              </a:rPr>
              <a:t>長期的な変動要素のトレンド成分と</a:t>
            </a:r>
            <a:r>
              <a:rPr lang="ja-JP" altLang="en-US" sz="1200">
                <a:latin typeface="Meiryo" panose="020B0604030504040204" pitchFamily="34" charset="-128"/>
                <a:ea typeface="Meiryo" panose="020B0604030504040204" pitchFamily="34" charset="-128"/>
              </a:rPr>
              <a:t>一定時間の周期的な変動要素の</a:t>
            </a:r>
            <a:r>
              <a:rPr lang="ja-JP" altLang="en-US" sz="1200">
                <a:effectLst/>
                <a:latin typeface="Meiryo" panose="020B0604030504040204" pitchFamily="34" charset="-128"/>
                <a:ea typeface="Meiryo" panose="020B0604030504040204" pitchFamily="34" charset="-128"/>
              </a:rPr>
              <a:t>季節成分を抽出します。</a:t>
            </a:r>
            <a:endParaRPr lang="ja-JP" altLang="en-US" sz="1200">
              <a:latin typeface="Meiryo" panose="020B0604030504040204" pitchFamily="34" charset="-128"/>
              <a:ea typeface="Meiryo" panose="020B0604030504040204" pitchFamily="34" charset="-128"/>
            </a:endParaRPr>
          </a:p>
        </p:txBody>
      </p:sp>
      <p:sp>
        <p:nvSpPr>
          <p:cNvPr id="4" name="Slide Number Placeholder 3">
            <a:extLst>
              <a:ext uri="{FF2B5EF4-FFF2-40B4-BE49-F238E27FC236}">
                <a16:creationId xmlns:a16="http://schemas.microsoft.com/office/drawing/2014/main" id="{00F91451-3C8E-8302-EC99-5A64185E7A62}"/>
              </a:ext>
            </a:extLst>
          </p:cNvPr>
          <p:cNvSpPr>
            <a:spLocks noGrp="1"/>
          </p:cNvSpPr>
          <p:nvPr>
            <p:ph type="sldNum" sz="quarter" idx="5"/>
          </p:nvPr>
        </p:nvSpPr>
        <p:spPr/>
        <p:txBody>
          <a:bodyPr/>
          <a:lstStyle/>
          <a:p>
            <a:fld id="{573B8C13-EC29-D742-991B-033D70E9806E}" type="slidenum">
              <a:rPr lang="en-US" smtClean="0"/>
              <a:t>13</a:t>
            </a:fld>
            <a:endParaRPr lang="en-US"/>
          </a:p>
        </p:txBody>
      </p:sp>
    </p:spTree>
    <p:extLst>
      <p:ext uri="{BB962C8B-B14F-4D97-AF65-F5344CB8AC3E}">
        <p14:creationId xmlns:p14="http://schemas.microsoft.com/office/powerpoint/2010/main" val="35289132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08D594-682A-02EC-897B-89E2CBAFD8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4141C1-08C6-D861-F63C-5B975CF87C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0832D4-D04F-B6B0-ACA4-314EE046CF01}"/>
              </a:ext>
            </a:extLst>
          </p:cNvPr>
          <p:cNvSpPr>
            <a:spLocks noGrp="1"/>
          </p:cNvSpPr>
          <p:nvPr>
            <p:ph type="body" idx="1"/>
          </p:nvPr>
        </p:nvSpPr>
        <p:spPr/>
        <p:txBody>
          <a:bodyPr/>
          <a:lstStyle/>
          <a:p>
            <a:r>
              <a:rPr lang="ja-JP" altLang="en-US"/>
              <a:t>次に特徴変換について説明します。</a:t>
            </a:r>
            <a:endParaRPr lang="en-JP" dirty="0"/>
          </a:p>
        </p:txBody>
      </p:sp>
      <p:sp>
        <p:nvSpPr>
          <p:cNvPr id="4" name="Slide Number Placeholder 3">
            <a:extLst>
              <a:ext uri="{FF2B5EF4-FFF2-40B4-BE49-F238E27FC236}">
                <a16:creationId xmlns:a16="http://schemas.microsoft.com/office/drawing/2014/main" id="{10FF65F0-DE8F-8DF9-DD4A-027A6AD8BB33}"/>
              </a:ext>
            </a:extLst>
          </p:cNvPr>
          <p:cNvSpPr>
            <a:spLocks noGrp="1"/>
          </p:cNvSpPr>
          <p:nvPr>
            <p:ph type="sldNum" sz="quarter" idx="5"/>
          </p:nvPr>
        </p:nvSpPr>
        <p:spPr/>
        <p:txBody>
          <a:bodyPr/>
          <a:lstStyle/>
          <a:p>
            <a:fld id="{573B8C13-EC29-D742-991B-033D70E9806E}" type="slidenum">
              <a:rPr lang="en-US" smtClean="0"/>
              <a:t>14</a:t>
            </a:fld>
            <a:endParaRPr lang="en-US"/>
          </a:p>
        </p:txBody>
      </p:sp>
    </p:spTree>
    <p:extLst>
      <p:ext uri="{BB962C8B-B14F-4D97-AF65-F5344CB8AC3E}">
        <p14:creationId xmlns:p14="http://schemas.microsoft.com/office/powerpoint/2010/main" val="11142589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A78E34-3E17-E330-D437-CCCB12C443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C05C35-9711-1AB1-9AFB-31623C860F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045808-C116-8671-D135-2419A76908C5}"/>
              </a:ext>
            </a:extLst>
          </p:cNvPr>
          <p:cNvSpPr>
            <a:spLocks noGrp="1"/>
          </p:cNvSpPr>
          <p:nvPr>
            <p:ph type="body" idx="1"/>
          </p:nvPr>
        </p:nvSpPr>
        <p:spPr/>
        <p:txBody>
          <a:bodyPr/>
          <a:lstStyle/>
          <a:p>
            <a:r>
              <a:rPr lang="ja-JP" altLang="en-US"/>
              <a:t>欠損値処理やマスキング処理をしたのち、畳み込み層を用いて特徴変換を行います。ここで</a:t>
            </a:r>
            <a:r>
              <a:rPr lang="en-US" altLang="ja-JP" dirty="0"/>
              <a:t>Dilation</a:t>
            </a:r>
            <a:r>
              <a:rPr lang="ja-JP" altLang="en-US"/>
              <a:t>という機構を設計し、</a:t>
            </a:r>
            <a:endParaRPr lang="en-US" altLang="ja-JP" dirty="0"/>
          </a:p>
          <a:p>
            <a:r>
              <a:rPr lang="ja-JP" altLang="en-US"/>
              <a:t>このように隣あう局所的なパターンと、周期的なパターンを抽出することができます。</a:t>
            </a:r>
            <a:br>
              <a:rPr lang="en-US" altLang="ja-JP" dirty="0"/>
            </a:br>
            <a:r>
              <a:rPr lang="ja-JP" altLang="en-US"/>
              <a:t>このような畳み込み構造によって</a:t>
            </a:r>
            <a:r>
              <a:rPr lang="en-US" altLang="ja-JP" dirty="0"/>
              <a:t>LSTM</a:t>
            </a:r>
            <a:r>
              <a:rPr lang="ja-JP" altLang="en-US"/>
              <a:t>のようなリカレント構造を使わずに長期的な時系列依存関係を効率的に学習できます。</a:t>
            </a:r>
            <a:endParaRPr lang="en-JP" dirty="0"/>
          </a:p>
        </p:txBody>
      </p:sp>
      <p:sp>
        <p:nvSpPr>
          <p:cNvPr id="4" name="Slide Number Placeholder 3">
            <a:extLst>
              <a:ext uri="{FF2B5EF4-FFF2-40B4-BE49-F238E27FC236}">
                <a16:creationId xmlns:a16="http://schemas.microsoft.com/office/drawing/2014/main" id="{764D114F-246D-CD38-C0EA-DA9EE49B5B23}"/>
              </a:ext>
            </a:extLst>
          </p:cNvPr>
          <p:cNvSpPr>
            <a:spLocks noGrp="1"/>
          </p:cNvSpPr>
          <p:nvPr>
            <p:ph type="sldNum" sz="quarter" idx="5"/>
          </p:nvPr>
        </p:nvSpPr>
        <p:spPr/>
        <p:txBody>
          <a:bodyPr/>
          <a:lstStyle/>
          <a:p>
            <a:fld id="{573B8C13-EC29-D742-991B-033D70E9806E}" type="slidenum">
              <a:rPr lang="en-US" smtClean="0"/>
              <a:t>15</a:t>
            </a:fld>
            <a:endParaRPr lang="en-US"/>
          </a:p>
        </p:txBody>
      </p:sp>
    </p:spTree>
    <p:extLst>
      <p:ext uri="{BB962C8B-B14F-4D97-AF65-F5344CB8AC3E}">
        <p14:creationId xmlns:p14="http://schemas.microsoft.com/office/powerpoint/2010/main" val="40523312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9DFCAA-B9C9-FBB4-AF37-3126B26FF5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8D208A-8566-517A-27A0-29417695FF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53A330-D762-0190-8F25-1C2C28CCE048}"/>
              </a:ext>
            </a:extLst>
          </p:cNvPr>
          <p:cNvSpPr>
            <a:spLocks noGrp="1"/>
          </p:cNvSpPr>
          <p:nvPr>
            <p:ph type="body" idx="1"/>
          </p:nvPr>
        </p:nvSpPr>
        <p:spPr/>
        <p:txBody>
          <a:bodyPr/>
          <a:lstStyle/>
          <a:p>
            <a:r>
              <a:rPr lang="ja-JP" altLang="en-US"/>
              <a:t>次に対照学習やロス関数について説明します。</a:t>
            </a:r>
            <a:endParaRPr lang="en-JP" dirty="0"/>
          </a:p>
        </p:txBody>
      </p:sp>
      <p:sp>
        <p:nvSpPr>
          <p:cNvPr id="4" name="Slide Number Placeholder 3">
            <a:extLst>
              <a:ext uri="{FF2B5EF4-FFF2-40B4-BE49-F238E27FC236}">
                <a16:creationId xmlns:a16="http://schemas.microsoft.com/office/drawing/2014/main" id="{5AFA14F0-E0DC-C3DF-66A1-6610BDE4775D}"/>
              </a:ext>
            </a:extLst>
          </p:cNvPr>
          <p:cNvSpPr>
            <a:spLocks noGrp="1"/>
          </p:cNvSpPr>
          <p:nvPr>
            <p:ph type="sldNum" sz="quarter" idx="5"/>
          </p:nvPr>
        </p:nvSpPr>
        <p:spPr/>
        <p:txBody>
          <a:bodyPr/>
          <a:lstStyle/>
          <a:p>
            <a:fld id="{573B8C13-EC29-D742-991B-033D70E9806E}" type="slidenum">
              <a:rPr lang="en-US" smtClean="0"/>
              <a:t>16</a:t>
            </a:fld>
            <a:endParaRPr lang="en-US"/>
          </a:p>
        </p:txBody>
      </p:sp>
    </p:spTree>
    <p:extLst>
      <p:ext uri="{BB962C8B-B14F-4D97-AF65-F5344CB8AC3E}">
        <p14:creationId xmlns:p14="http://schemas.microsoft.com/office/powerpoint/2010/main" val="35863105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6BA73A-2AEA-EBAB-8804-7244ECE92B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56EB1F-65B0-2FDB-63EA-D7418D8635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C11355-64EA-238C-FD98-E3B3897FB450}"/>
              </a:ext>
            </a:extLst>
          </p:cNvPr>
          <p:cNvSpPr>
            <a:spLocks noGrp="1"/>
          </p:cNvSpPr>
          <p:nvPr>
            <p:ph type="body" idx="1"/>
          </p:nvPr>
        </p:nvSpPr>
        <p:spPr/>
        <p:txBody>
          <a:bodyPr/>
          <a:lstStyle/>
          <a:p>
            <a:r>
              <a:rPr lang="ja-JP" altLang="en-US"/>
              <a:t>長期的なパターン抽出と局所的なパターン抽出の２つのモジュールを設計します。</a:t>
            </a:r>
            <a:endParaRPr lang="en-US" altLang="ja-JP" dirty="0"/>
          </a:p>
          <a:p>
            <a:pPr marL="0" marR="0" lvl="0" indent="0" algn="l" defTabSz="457200" rtl="0" eaLnBrk="1" fontAlgn="auto" latinLnBrk="0" hangingPunct="1">
              <a:lnSpc>
                <a:spcPct val="100000"/>
              </a:lnSpc>
              <a:spcBef>
                <a:spcPts val="0"/>
              </a:spcBef>
              <a:spcAft>
                <a:spcPts val="0"/>
              </a:spcAft>
              <a:buClrTx/>
              <a:buSzTx/>
              <a:buFontTx/>
              <a:buNone/>
              <a:tabLst/>
              <a:defRPr/>
            </a:pPr>
            <a:r>
              <a:rPr lang="ja-JP" altLang="en-US"/>
              <a:t>長期的なパターン抽出では、</a:t>
            </a:r>
            <a:r>
              <a:rPr kumimoji="1" lang="ja-JP" altLang="en-US" sz="1200">
                <a:latin typeface="Meiryo" panose="020B0604030504040204" pitchFamily="34" charset="-128"/>
                <a:ea typeface="Meiryo" panose="020B0604030504040204" pitchFamily="34" charset="-128"/>
              </a:rPr>
              <a:t>時系列データを一括でエンコードし</a:t>
            </a:r>
            <a:r>
              <a:rPr kumimoji="1" lang="en-US" altLang="ja-JP" sz="1200" dirty="0">
                <a:latin typeface="Meiryo" panose="020B0604030504040204" pitchFamily="34" charset="-128"/>
                <a:ea typeface="Meiryo" panose="020B0604030504040204" pitchFamily="34" charset="-128"/>
              </a:rPr>
              <a:t>, </a:t>
            </a:r>
            <a:r>
              <a:rPr kumimoji="1" lang="ja-JP" altLang="en-US" sz="1200">
                <a:latin typeface="Meiryo" panose="020B0604030504040204" pitchFamily="34" charset="-128"/>
                <a:ea typeface="Meiryo" panose="020B0604030504040204" pitchFamily="34" charset="-128"/>
              </a:rPr>
              <a:t>対照学習を行います。</a:t>
            </a:r>
            <a:endParaRPr kumimoji="1" lang="en-US" altLang="ja-JP" sz="1200" dirty="0">
              <a:latin typeface="Meiryo" panose="020B0604030504040204" pitchFamily="34" charset="-128"/>
              <a:ea typeface="Meiryo" panose="020B0604030504040204" pitchFamily="34" charset="-128"/>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1" lang="ja-JP" altLang="en-US" sz="1200">
                <a:latin typeface="Meiryo" panose="020B0604030504040204" pitchFamily="34" charset="-128"/>
                <a:ea typeface="Meiryo" panose="020B0604030504040204" pitchFamily="34" charset="-128"/>
              </a:rPr>
              <a:t>時間的な損失と各次元間の損失、平滑さの損失を設計しています。</a:t>
            </a:r>
            <a:endParaRPr kumimoji="1" lang="en-US" altLang="ja-JP" sz="1200" dirty="0">
              <a:latin typeface="Meiryo" panose="020B0604030504040204" pitchFamily="34" charset="-128"/>
              <a:ea typeface="Meiryo" panose="020B0604030504040204" pitchFamily="34" charset="-128"/>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1" lang="ja-JP" altLang="en-US" sz="1200">
                <a:latin typeface="Meiryo" panose="020B0604030504040204" pitchFamily="34" charset="-128"/>
                <a:ea typeface="Meiryo" panose="020B0604030504040204" pitchFamily="34" charset="-128"/>
              </a:rPr>
              <a:t>平滑さの損失を加えることで時間的に近い点は特徴空間の近い場所に投射され、特徴空間上で時間的変化を捉えることができる。</a:t>
            </a:r>
            <a:endParaRPr kumimoji="1" lang="en-US" altLang="ja-JP" sz="1200" dirty="0">
              <a:latin typeface="Meiryo" panose="020B0604030504040204" pitchFamily="34" charset="-128"/>
              <a:ea typeface="Meiryo" panose="020B0604030504040204" pitchFamily="34" charset="-128"/>
            </a:endParaRPr>
          </a:p>
        </p:txBody>
      </p:sp>
      <p:sp>
        <p:nvSpPr>
          <p:cNvPr id="4" name="Slide Number Placeholder 3">
            <a:extLst>
              <a:ext uri="{FF2B5EF4-FFF2-40B4-BE49-F238E27FC236}">
                <a16:creationId xmlns:a16="http://schemas.microsoft.com/office/drawing/2014/main" id="{F182DBF8-273E-9FE5-78C3-3E700B34E3C5}"/>
              </a:ext>
            </a:extLst>
          </p:cNvPr>
          <p:cNvSpPr>
            <a:spLocks noGrp="1"/>
          </p:cNvSpPr>
          <p:nvPr>
            <p:ph type="sldNum" sz="quarter" idx="5"/>
          </p:nvPr>
        </p:nvSpPr>
        <p:spPr/>
        <p:txBody>
          <a:bodyPr/>
          <a:lstStyle/>
          <a:p>
            <a:fld id="{573B8C13-EC29-D742-991B-033D70E9806E}" type="slidenum">
              <a:rPr lang="en-US" smtClean="0"/>
              <a:t>17</a:t>
            </a:fld>
            <a:endParaRPr lang="en-US"/>
          </a:p>
        </p:txBody>
      </p:sp>
    </p:spTree>
    <p:extLst>
      <p:ext uri="{BB962C8B-B14F-4D97-AF65-F5344CB8AC3E}">
        <p14:creationId xmlns:p14="http://schemas.microsoft.com/office/powerpoint/2010/main" val="75475162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D55EA5-0B21-7BBF-FBC9-679C5E5148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F693E1-80A8-54D4-FC2C-633CB75F9B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625FAF-7AD7-BF86-2BE9-9B6381D9083E}"/>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ja-JP" altLang="en-US"/>
              <a:t>局所的なパターン抽出では、</a:t>
            </a:r>
            <a:r>
              <a:rPr kumimoji="1" lang="ja-JP" altLang="en-US" sz="1200">
                <a:latin typeface="Meiryo" panose="020B0604030504040204" pitchFamily="34" charset="-128"/>
                <a:ea typeface="Meiryo" panose="020B0604030504040204" pitchFamily="34" charset="-128"/>
              </a:rPr>
              <a:t>時系列データをウィンドウ幅で分割し</a:t>
            </a:r>
            <a:r>
              <a:rPr kumimoji="1" lang="en-US" altLang="ja-JP" sz="1200" dirty="0">
                <a:latin typeface="Meiryo" panose="020B0604030504040204" pitchFamily="34" charset="-128"/>
                <a:ea typeface="Meiryo" panose="020B0604030504040204" pitchFamily="34" charset="-128"/>
              </a:rPr>
              <a:t>, </a:t>
            </a:r>
            <a:r>
              <a:rPr kumimoji="1" lang="ja-JP" altLang="en-US" sz="1200">
                <a:latin typeface="Meiryo" panose="020B0604030504040204" pitchFamily="34" charset="-128"/>
                <a:ea typeface="Meiryo" panose="020B0604030504040204" pitchFamily="34" charset="-128"/>
              </a:rPr>
              <a:t>部分行列に対して対照学習を行います。</a:t>
            </a:r>
            <a:endParaRPr kumimoji="1" lang="en-US" altLang="ja-JP" sz="1200" dirty="0">
              <a:latin typeface="Meiryo" panose="020B0604030504040204" pitchFamily="34" charset="-128"/>
              <a:ea typeface="Meiryo" panose="020B0604030504040204" pitchFamily="34" charset="-128"/>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1" lang="ja-JP" altLang="en-US" sz="1200">
                <a:latin typeface="Meiryo" panose="020B0604030504040204" pitchFamily="34" charset="-128"/>
                <a:ea typeface="Meiryo" panose="020B0604030504040204" pitchFamily="34" charset="-128"/>
              </a:rPr>
              <a:t>各ウィンドウごとに平均値、分布や変動を表す標準偏差、</a:t>
            </a:r>
            <a:endParaRPr kumimoji="1" lang="en-US" altLang="ja-JP" sz="1200" dirty="0">
              <a:latin typeface="Meiryo" panose="020B0604030504040204" pitchFamily="34" charset="-128"/>
              <a:ea typeface="Meiryo" panose="020B0604030504040204" pitchFamily="34" charset="-128"/>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1" lang="ja-JP" altLang="en-US" sz="1200">
                <a:latin typeface="Meiryo" panose="020B0604030504040204" pitchFamily="34" charset="-128"/>
                <a:ea typeface="Meiryo" panose="020B0604030504040204" pitchFamily="34" charset="-128"/>
              </a:rPr>
              <a:t>周期性や安定性を示すスペクトルエネルギー、</a:t>
            </a:r>
            <a:r>
              <a:rPr lang="ja-JP" altLang="en-US" sz="1200">
                <a:effectLst/>
                <a:latin typeface="Meiryo" panose="020B0604030504040204" pitchFamily="34" charset="-128"/>
                <a:ea typeface="Meiryo" panose="020B0604030504040204" pitchFamily="34" charset="-128"/>
              </a:rPr>
              <a:t>主要なデータ周期を表す</a:t>
            </a:r>
            <a:r>
              <a:rPr kumimoji="1" lang="ja-JP" altLang="en-US" sz="1200">
                <a:latin typeface="Meiryo" panose="020B0604030504040204" pitchFamily="34" charset="-128"/>
                <a:ea typeface="Meiryo" panose="020B0604030504040204" pitchFamily="34" charset="-128"/>
              </a:rPr>
              <a:t>主要周波数の統計的特徴量を計算します。</a:t>
            </a:r>
            <a:endParaRPr kumimoji="1" lang="en-US" altLang="ja-JP" sz="1200" dirty="0">
              <a:latin typeface="Meiryo" panose="020B0604030504040204" pitchFamily="34" charset="-128"/>
              <a:ea typeface="Meiryo" panose="020B0604030504040204" pitchFamily="34" charset="-128"/>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1" lang="ja-JP" altLang="en-US" sz="1200">
                <a:latin typeface="Meiryo" panose="020B0604030504040204" pitchFamily="34" charset="-128"/>
                <a:ea typeface="Meiryo" panose="020B0604030504040204" pitchFamily="34" charset="-128"/>
              </a:rPr>
              <a:t>その後、ランダムに選ばれた基準ウィンドウに対して、統計的特徴量の類似度が大きいものを正のペア、</a:t>
            </a:r>
            <a:endParaRPr kumimoji="1" lang="en-US" altLang="ja-JP" sz="1200" dirty="0">
              <a:latin typeface="Meiryo" panose="020B0604030504040204" pitchFamily="34" charset="-128"/>
              <a:ea typeface="Meiryo" panose="020B0604030504040204" pitchFamily="34" charset="-128"/>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1" lang="ja-JP" altLang="en-US" sz="1200">
                <a:latin typeface="Meiryo" panose="020B0604030504040204" pitchFamily="34" charset="-128"/>
                <a:ea typeface="Meiryo" panose="020B0604030504040204" pitchFamily="34" charset="-128"/>
              </a:rPr>
              <a:t>類似度が小さいものを負のペアとして対照学習を行います。</a:t>
            </a:r>
            <a:endParaRPr kumimoji="1" lang="en-US" altLang="ja-JP" sz="1200" dirty="0">
              <a:latin typeface="Meiryo" panose="020B0604030504040204" pitchFamily="34" charset="-128"/>
              <a:ea typeface="Meiryo" panose="020B0604030504040204" pitchFamily="34" charset="-128"/>
            </a:endParaRPr>
          </a:p>
          <a:p>
            <a:endParaRPr lang="en-US" dirty="0"/>
          </a:p>
          <a:p>
            <a:endParaRPr lang="en-JP" dirty="0"/>
          </a:p>
        </p:txBody>
      </p:sp>
      <p:sp>
        <p:nvSpPr>
          <p:cNvPr id="4" name="Slide Number Placeholder 3">
            <a:extLst>
              <a:ext uri="{FF2B5EF4-FFF2-40B4-BE49-F238E27FC236}">
                <a16:creationId xmlns:a16="http://schemas.microsoft.com/office/drawing/2014/main" id="{C22E05C3-CAF4-82D3-D8AF-EA7624B9D444}"/>
              </a:ext>
            </a:extLst>
          </p:cNvPr>
          <p:cNvSpPr>
            <a:spLocks noGrp="1"/>
          </p:cNvSpPr>
          <p:nvPr>
            <p:ph type="sldNum" sz="quarter" idx="5"/>
          </p:nvPr>
        </p:nvSpPr>
        <p:spPr/>
        <p:txBody>
          <a:bodyPr/>
          <a:lstStyle/>
          <a:p>
            <a:fld id="{573B8C13-EC29-D742-991B-033D70E9806E}" type="slidenum">
              <a:rPr lang="en-US" smtClean="0"/>
              <a:t>18</a:t>
            </a:fld>
            <a:endParaRPr lang="en-US"/>
          </a:p>
        </p:txBody>
      </p:sp>
    </p:spTree>
    <p:extLst>
      <p:ext uri="{BB962C8B-B14F-4D97-AF65-F5344CB8AC3E}">
        <p14:creationId xmlns:p14="http://schemas.microsoft.com/office/powerpoint/2010/main" val="27756369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9365ED-C106-9034-A7E2-0B61739A1F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25F11E-C341-0E86-37D1-C6C73DEC11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4E4BB0-9E90-D29B-B362-19449A300195}"/>
              </a:ext>
            </a:extLst>
          </p:cNvPr>
          <p:cNvSpPr>
            <a:spLocks noGrp="1"/>
          </p:cNvSpPr>
          <p:nvPr>
            <p:ph type="body" idx="1"/>
          </p:nvPr>
        </p:nvSpPr>
        <p:spPr/>
        <p:txBody>
          <a:bodyPr/>
          <a:lstStyle/>
          <a:p>
            <a:r>
              <a:rPr lang="ja-JP" altLang="en-US"/>
              <a:t>学習ずみのモデルを用いて、状態パターン検出を行います。</a:t>
            </a:r>
            <a:endParaRPr lang="en-US" altLang="ja-JP" dirty="0"/>
          </a:p>
          <a:p>
            <a:r>
              <a:rPr kumimoji="1" lang="ja-JP" altLang="en-US" sz="1200">
                <a:latin typeface="Meiryo" panose="020B0604030504040204" pitchFamily="34" charset="-128"/>
                <a:ea typeface="Meiryo" panose="020B0604030504040204" pitchFamily="34" charset="-128"/>
              </a:rPr>
              <a:t>時系列データをウィンドウ幅で分割し</a:t>
            </a:r>
            <a:r>
              <a:rPr kumimoji="1" lang="en-US" altLang="ja-JP" sz="1200" dirty="0">
                <a:latin typeface="Meiryo" panose="020B0604030504040204" pitchFamily="34" charset="-128"/>
                <a:ea typeface="Meiryo" panose="020B0604030504040204" pitchFamily="34" charset="-128"/>
              </a:rPr>
              <a:t>, </a:t>
            </a:r>
            <a:r>
              <a:rPr kumimoji="1" lang="ja-JP" altLang="en-US" sz="1200">
                <a:latin typeface="Meiryo" panose="020B0604030504040204" pitchFamily="34" charset="-128"/>
                <a:ea typeface="Meiryo" panose="020B0604030504040204" pitchFamily="34" charset="-128"/>
              </a:rPr>
              <a:t>部分時系列に対してエンコードし、</a:t>
            </a:r>
            <a:endParaRPr kumimoji="1" lang="en-US" altLang="ja-JP" sz="1200" dirty="0">
              <a:latin typeface="Meiryo" panose="020B0604030504040204" pitchFamily="34" charset="-128"/>
              <a:ea typeface="Meiryo" panose="020B0604030504040204" pitchFamily="34" charset="-128"/>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1" lang="ja-JP" altLang="en-US" sz="1200">
                <a:latin typeface="Meiryo" panose="020B0604030504040204" pitchFamily="34" charset="-128"/>
                <a:ea typeface="Meiryo" panose="020B0604030504040204" pitchFamily="34" charset="-128"/>
              </a:rPr>
              <a:t>クラスタリングで状態を検出します。その後各観測点に複数のクラスタリング結果が付与されます。</a:t>
            </a:r>
            <a:endParaRPr kumimoji="1" lang="en-US" altLang="ja-JP" sz="1200" dirty="0">
              <a:latin typeface="Meiryo" panose="020B0604030504040204" pitchFamily="34" charset="-128"/>
              <a:ea typeface="Meiryo" panose="020B0604030504040204" pitchFamily="34" charset="-128"/>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1" lang="ja-JP" altLang="en-US" sz="1200">
                <a:latin typeface="Meiryo" panose="020B0604030504040204" pitchFamily="34" charset="-128"/>
                <a:ea typeface="Meiryo" panose="020B0604030504040204" pitchFamily="34" charset="-128"/>
              </a:rPr>
              <a:t>最多の割り当てを最終のクラスタリング結果として状態パターンを検出します。</a:t>
            </a:r>
            <a:endParaRPr kumimoji="1" lang="en-US" altLang="ja-JP" sz="1200" dirty="0">
              <a:latin typeface="Meiryo" panose="020B0604030504040204" pitchFamily="34" charset="-128"/>
              <a:ea typeface="Meiryo" panose="020B0604030504040204" pitchFamily="34" charset="-128"/>
            </a:endParaRPr>
          </a:p>
          <a:p>
            <a:endParaRPr lang="en-JP" dirty="0"/>
          </a:p>
        </p:txBody>
      </p:sp>
      <p:sp>
        <p:nvSpPr>
          <p:cNvPr id="4" name="Slide Number Placeholder 3">
            <a:extLst>
              <a:ext uri="{FF2B5EF4-FFF2-40B4-BE49-F238E27FC236}">
                <a16:creationId xmlns:a16="http://schemas.microsoft.com/office/drawing/2014/main" id="{39C541BF-A282-9D2A-2B0A-43AB2BEF93A2}"/>
              </a:ext>
            </a:extLst>
          </p:cNvPr>
          <p:cNvSpPr>
            <a:spLocks noGrp="1"/>
          </p:cNvSpPr>
          <p:nvPr>
            <p:ph type="sldNum" sz="quarter" idx="5"/>
          </p:nvPr>
        </p:nvSpPr>
        <p:spPr/>
        <p:txBody>
          <a:bodyPr/>
          <a:lstStyle/>
          <a:p>
            <a:fld id="{573B8C13-EC29-D742-991B-033D70E9806E}" type="slidenum">
              <a:rPr lang="en-US" smtClean="0"/>
              <a:t>19</a:t>
            </a:fld>
            <a:endParaRPr lang="en-US"/>
          </a:p>
        </p:txBody>
      </p:sp>
    </p:spTree>
    <p:extLst>
      <p:ext uri="{BB962C8B-B14F-4D97-AF65-F5344CB8AC3E}">
        <p14:creationId xmlns:p14="http://schemas.microsoft.com/office/powerpoint/2010/main" val="120038581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42CDFB-8459-5D85-DFE0-20EB170DB9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056152-32BC-8D6F-0BE7-2C7D71CF51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7369FB-6C0F-0282-8A28-7CD2705A4896}"/>
              </a:ext>
            </a:extLst>
          </p:cNvPr>
          <p:cNvSpPr>
            <a:spLocks noGrp="1"/>
          </p:cNvSpPr>
          <p:nvPr>
            <p:ph type="body" idx="1"/>
          </p:nvPr>
        </p:nvSpPr>
        <p:spPr/>
        <p:txBody>
          <a:bodyPr/>
          <a:lstStyle/>
          <a:p>
            <a:r>
              <a:rPr lang="ja-JP" altLang="en-US"/>
              <a:t>クラスタリング手法として、適切な状態数を自動決定できる以下の３つの手法を実行し、精度を比較します。</a:t>
            </a:r>
            <a:br>
              <a:rPr kumimoji="0" lang="en-US" altLang="ja-JP" sz="1200" dirty="0">
                <a:latin typeface="+mn-lt"/>
                <a:ea typeface="+mn-ea"/>
              </a:rPr>
            </a:br>
            <a:r>
              <a:rPr kumimoji="1" lang="ja-JP" altLang="en-US" sz="1200">
                <a:latin typeface="Meiryo" panose="020B0604030504040204" pitchFamily="34" charset="-128"/>
                <a:ea typeface="Meiryo" panose="020B0604030504040204" pitchFamily="34" charset="-128"/>
              </a:rPr>
              <a:t>ノンパラメトリックベイズ法</a:t>
            </a:r>
            <a:r>
              <a:rPr kumimoji="1" lang="ja-JP" altLang="en-US" sz="1200" b="0">
                <a:latin typeface="Meiryo" panose="020B0604030504040204" pitchFamily="34" charset="-128"/>
                <a:ea typeface="Meiryo" panose="020B0604030504040204" pitchFamily="34" charset="-128"/>
              </a:rPr>
              <a:t>は</a:t>
            </a:r>
            <a:r>
              <a:rPr kumimoji="1" lang="ja-JP" altLang="en-US" sz="1200" b="1">
                <a:latin typeface="Meiryo" panose="020B0604030504040204" pitchFamily="34" charset="-128"/>
                <a:ea typeface="Meiryo" panose="020B0604030504040204" pitchFamily="34" charset="-128"/>
              </a:rPr>
              <a:t>無限次元の確率分布</a:t>
            </a:r>
            <a:r>
              <a:rPr kumimoji="1" lang="ja-JP" altLang="en-US" sz="1200">
                <a:latin typeface="Meiryo" panose="020B0604030504040204" pitchFamily="34" charset="-128"/>
                <a:ea typeface="Meiryo" panose="020B0604030504040204" pitchFamily="34" charset="-128"/>
              </a:rPr>
              <a:t>を仮定しており、適切な状態数を自動決定します。</a:t>
            </a:r>
            <a:br>
              <a:rPr kumimoji="0" lang="en-US" altLang="ja-JP" sz="1200" dirty="0">
                <a:latin typeface="+mn-lt"/>
                <a:ea typeface="+mn-ea"/>
              </a:rPr>
            </a:br>
            <a:r>
              <a:rPr kumimoji="1" lang="en-US" altLang="ja-JP" sz="1200" dirty="0" err="1">
                <a:latin typeface="Meiryo" panose="020B0604030504040204" pitchFamily="34" charset="-128"/>
                <a:ea typeface="Meiryo" panose="020B0604030504040204" pitchFamily="34" charset="-128"/>
              </a:rPr>
              <a:t>MeanShift</a:t>
            </a:r>
            <a:r>
              <a:rPr kumimoji="1" lang="ja-JP" altLang="en-US" sz="1200" b="0">
                <a:latin typeface="Meiryo" panose="020B0604030504040204" pitchFamily="34" charset="-128"/>
                <a:ea typeface="Meiryo" panose="020B0604030504040204" pitchFamily="34" charset="-128"/>
              </a:rPr>
              <a:t>は</a:t>
            </a:r>
            <a:r>
              <a:rPr kumimoji="1" lang="ja-JP" altLang="en-US" sz="1200" b="1">
                <a:latin typeface="Meiryo" panose="020B0604030504040204" pitchFamily="34" charset="-128"/>
                <a:ea typeface="Meiryo" panose="020B0604030504040204" pitchFamily="34" charset="-128"/>
              </a:rPr>
              <a:t>データの密度分布</a:t>
            </a:r>
            <a:r>
              <a:rPr kumimoji="1" lang="ja-JP" altLang="en-US" sz="1200">
                <a:latin typeface="Meiryo" panose="020B0604030504040204" pitchFamily="34" charset="-128"/>
                <a:ea typeface="Meiryo" panose="020B0604030504040204" pitchFamily="34" charset="-128"/>
              </a:rPr>
              <a:t>に基づいて適切な状態数を自動決定します。</a:t>
            </a:r>
            <a:endParaRPr kumimoji="1" lang="en-US" altLang="ja-JP" sz="1200" dirty="0">
              <a:latin typeface="Meiryo" panose="020B0604030504040204" pitchFamily="34" charset="-128"/>
              <a:ea typeface="Meiryo" panose="020B0604030504040204" pitchFamily="34" charset="-128"/>
            </a:endParaRPr>
          </a:p>
          <a:p>
            <a:r>
              <a:rPr kumimoji="1" lang="ja-JP" altLang="en-US" sz="1200">
                <a:latin typeface="Meiryo" panose="020B0604030504040204" pitchFamily="34" charset="-128"/>
                <a:ea typeface="Meiryo" panose="020B0604030504040204" pitchFamily="34" charset="-128"/>
              </a:rPr>
              <a:t>カーネルの重心に向かってデータが移動しデータが密集するようにクラスタ化します。</a:t>
            </a:r>
            <a:br>
              <a:rPr kumimoji="1" lang="en-US" altLang="ja-JP" sz="1200" dirty="0">
                <a:latin typeface="Meiryo" panose="020B0604030504040204" pitchFamily="34" charset="-128"/>
                <a:ea typeface="Meiryo" panose="020B0604030504040204" pitchFamily="34" charset="-128"/>
              </a:rPr>
            </a:br>
            <a:r>
              <a:rPr kumimoji="1" lang="en-US" altLang="ja-JP" sz="1200" dirty="0">
                <a:latin typeface="Meiryo" panose="020B0604030504040204" pitchFamily="34" charset="-128"/>
                <a:ea typeface="Meiryo" panose="020B0604030504040204" pitchFamily="34" charset="-128"/>
              </a:rPr>
              <a:t>DBSCAN</a:t>
            </a:r>
            <a:r>
              <a:rPr kumimoji="1" lang="ja-JP" altLang="en-US" sz="1200" b="0">
                <a:latin typeface="Meiryo" panose="020B0604030504040204" pitchFamily="34" charset="-128"/>
                <a:ea typeface="Meiryo" panose="020B0604030504040204" pitchFamily="34" charset="-128"/>
              </a:rPr>
              <a:t>は</a:t>
            </a:r>
            <a:r>
              <a:rPr kumimoji="1" lang="ja-JP" altLang="en-US" sz="1200" b="1">
                <a:latin typeface="Meiryo" panose="020B0604030504040204" pitchFamily="34" charset="-128"/>
                <a:ea typeface="Meiryo" panose="020B0604030504040204" pitchFamily="34" charset="-128"/>
              </a:rPr>
              <a:t>データの局所的な密度</a:t>
            </a:r>
            <a:r>
              <a:rPr kumimoji="1" lang="ja-JP" altLang="en-US" sz="1200">
                <a:latin typeface="Meiryo" panose="020B0604030504040204" pitchFamily="34" charset="-128"/>
                <a:ea typeface="Meiryo" panose="020B0604030504040204" pitchFamily="34" charset="-128"/>
              </a:rPr>
              <a:t>に基づいて適切な状態数を自動決定します。</a:t>
            </a:r>
            <a:endParaRPr kumimoji="1" lang="en-US" altLang="ja-JP" sz="1200" dirty="0">
              <a:latin typeface="Meiryo" panose="020B0604030504040204" pitchFamily="34" charset="-128"/>
              <a:ea typeface="Meiryo" panose="020B0604030504040204" pitchFamily="34" charset="-128"/>
            </a:endParaRPr>
          </a:p>
          <a:p>
            <a:r>
              <a:rPr kumimoji="1" lang="ja-JP" altLang="en-US" sz="1200">
                <a:latin typeface="Meiryo" panose="020B0604030504040204" pitchFamily="34" charset="-128"/>
                <a:ea typeface="Meiryo" panose="020B0604030504040204" pitchFamily="34" charset="-128"/>
              </a:rPr>
              <a:t>一定以上の密度をクラスタ化しそれ以外の点をノイズとして認識します。</a:t>
            </a:r>
            <a:endParaRPr kumimoji="1" lang="en-US" altLang="ja-JP" sz="1200" dirty="0">
              <a:latin typeface="Meiryo" panose="020B0604030504040204" pitchFamily="34" charset="-128"/>
              <a:ea typeface="Meiryo" panose="020B0604030504040204" pitchFamily="34" charset="-128"/>
            </a:endParaRPr>
          </a:p>
        </p:txBody>
      </p:sp>
      <p:sp>
        <p:nvSpPr>
          <p:cNvPr id="4" name="Slide Number Placeholder 3">
            <a:extLst>
              <a:ext uri="{FF2B5EF4-FFF2-40B4-BE49-F238E27FC236}">
                <a16:creationId xmlns:a16="http://schemas.microsoft.com/office/drawing/2014/main" id="{D57F1412-688F-6F44-9EB4-99CF2EE2C77C}"/>
              </a:ext>
            </a:extLst>
          </p:cNvPr>
          <p:cNvSpPr>
            <a:spLocks noGrp="1"/>
          </p:cNvSpPr>
          <p:nvPr>
            <p:ph type="sldNum" sz="quarter" idx="5"/>
          </p:nvPr>
        </p:nvSpPr>
        <p:spPr/>
        <p:txBody>
          <a:bodyPr/>
          <a:lstStyle/>
          <a:p>
            <a:fld id="{573B8C13-EC29-D742-991B-033D70E9806E}" type="slidenum">
              <a:rPr lang="en-US" smtClean="0"/>
              <a:t>20</a:t>
            </a:fld>
            <a:endParaRPr lang="en-US"/>
          </a:p>
        </p:txBody>
      </p:sp>
    </p:spTree>
    <p:extLst>
      <p:ext uri="{BB962C8B-B14F-4D97-AF65-F5344CB8AC3E}">
        <p14:creationId xmlns:p14="http://schemas.microsoft.com/office/powerpoint/2010/main" val="159558921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JP" dirty="0"/>
              <a:t>では次に実験について説明します．</a:t>
            </a:r>
          </a:p>
        </p:txBody>
      </p:sp>
      <p:sp>
        <p:nvSpPr>
          <p:cNvPr id="4" name="Slide Number Placeholder 3"/>
          <p:cNvSpPr>
            <a:spLocks noGrp="1"/>
          </p:cNvSpPr>
          <p:nvPr>
            <p:ph type="sldNum" sz="quarter" idx="5"/>
          </p:nvPr>
        </p:nvSpPr>
        <p:spPr/>
        <p:txBody>
          <a:bodyPr/>
          <a:lstStyle/>
          <a:p>
            <a:fld id="{573B8C13-EC29-D742-991B-033D70E9806E}" type="slidenum">
              <a:rPr lang="en-US" smtClean="0"/>
              <a:t>21</a:t>
            </a:fld>
            <a:endParaRPr lang="en-US"/>
          </a:p>
        </p:txBody>
      </p:sp>
    </p:spTree>
    <p:extLst>
      <p:ext uri="{BB962C8B-B14F-4D97-AF65-F5344CB8AC3E}">
        <p14:creationId xmlns:p14="http://schemas.microsoft.com/office/powerpoint/2010/main" val="269319388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データセットはこのようになり、１つの合成データと５つのじつデータセットです。</a:t>
            </a:r>
            <a:endParaRPr lang="en-JP" dirty="0"/>
          </a:p>
        </p:txBody>
      </p:sp>
      <p:sp>
        <p:nvSpPr>
          <p:cNvPr id="4" name="Slide Number Placeholder 3"/>
          <p:cNvSpPr>
            <a:spLocks noGrp="1"/>
          </p:cNvSpPr>
          <p:nvPr>
            <p:ph type="sldNum" sz="quarter" idx="5"/>
          </p:nvPr>
        </p:nvSpPr>
        <p:spPr/>
        <p:txBody>
          <a:bodyPr/>
          <a:lstStyle/>
          <a:p>
            <a:fld id="{573B8C13-EC29-D742-991B-033D70E9806E}" type="slidenum">
              <a:rPr lang="en-US" smtClean="0"/>
              <a:t>22</a:t>
            </a:fld>
            <a:endParaRPr lang="en-US"/>
          </a:p>
        </p:txBody>
      </p:sp>
    </p:spTree>
    <p:extLst>
      <p:ext uri="{BB962C8B-B14F-4D97-AF65-F5344CB8AC3E}">
        <p14:creationId xmlns:p14="http://schemas.microsoft.com/office/powerpoint/2010/main" val="338001911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03965E-11CE-3096-1129-38D4155F0A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CC47CC-7016-6448-EE42-0D033C710F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5B39FC-735A-7083-4BBC-CA30D1F6EF7C}"/>
              </a:ext>
            </a:extLst>
          </p:cNvPr>
          <p:cNvSpPr>
            <a:spLocks noGrp="1"/>
          </p:cNvSpPr>
          <p:nvPr>
            <p:ph type="body" idx="1"/>
          </p:nvPr>
        </p:nvSpPr>
        <p:spPr/>
        <p:txBody>
          <a:bodyPr/>
          <a:lstStyle/>
          <a:p>
            <a:r>
              <a:rPr lang="ja-JP" altLang="en-US"/>
              <a:t>数理モデルから</a:t>
            </a:r>
            <a:r>
              <a:rPr kumimoji="1" lang="ja-JP" altLang="en-US" sz="1200">
                <a:latin typeface="Meiryo" panose="020B0604030504040204" pitchFamily="34" charset="-128"/>
                <a:ea typeface="Meiryo" panose="020B0604030504040204" pitchFamily="34" charset="-128"/>
              </a:rPr>
              <a:t>最先端の深層学習モデルを比較手法として実験し、ここでは７つの手法との比較を行った。</a:t>
            </a:r>
            <a:endParaRPr kumimoji="1" lang="en-US" altLang="ja-JP" sz="1200" dirty="0">
              <a:latin typeface="Meiryo" panose="020B0604030504040204" pitchFamily="34" charset="-128"/>
              <a:ea typeface="Meiryo" panose="020B0604030504040204" pitchFamily="34" charset="-128"/>
            </a:endParaRPr>
          </a:p>
          <a:p>
            <a:r>
              <a:rPr kumimoji="1" lang="ja-JP" altLang="en-US" sz="1200">
                <a:latin typeface="Meiryo" panose="020B0604030504040204" pitchFamily="34" charset="-128"/>
                <a:ea typeface="Meiryo" panose="020B0604030504040204" pitchFamily="34" charset="-128"/>
              </a:rPr>
              <a:t>具体的には</a:t>
            </a:r>
            <a:endParaRPr kumimoji="1" lang="en-US" altLang="ja-JP" sz="1200" dirty="0">
              <a:latin typeface="Meiryo" panose="020B0604030504040204" pitchFamily="34" charset="-128"/>
              <a:ea typeface="Meiryo" panose="020B0604030504040204" pitchFamily="34" charset="-128"/>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ja-JP" altLang="en-US"/>
              <a:t>評価指標として、</a:t>
            </a:r>
            <a:r>
              <a:rPr kumimoji="1" lang="ja-JP" altLang="en-US">
                <a:latin typeface="Meiryo" panose="020B0604030504040204" pitchFamily="34" charset="-128"/>
                <a:ea typeface="Meiryo" panose="020B0604030504040204" pitchFamily="34" charset="-128"/>
              </a:rPr>
              <a:t>予測クラスタと真のクラスタ間の一致度を示す調整ランド指数</a:t>
            </a:r>
            <a:r>
              <a:rPr kumimoji="1" lang="en-US" altLang="ja-JP" dirty="0">
                <a:latin typeface="Meiryo" panose="020B0604030504040204" pitchFamily="34" charset="-128"/>
                <a:ea typeface="Meiryo" panose="020B0604030504040204" pitchFamily="34" charset="-128"/>
              </a:rPr>
              <a:t>(ARI)</a:t>
            </a:r>
            <a:r>
              <a:rPr kumimoji="1" lang="ja-JP" altLang="en-US">
                <a:latin typeface="Meiryo" panose="020B0604030504040204" pitchFamily="34" charset="-128"/>
                <a:ea typeface="Meiryo" panose="020B0604030504040204" pitchFamily="34" charset="-128"/>
              </a:rPr>
              <a:t>と</a:t>
            </a:r>
            <a:endParaRPr kumimoji="1" lang="en-US" altLang="ja-JP" dirty="0">
              <a:latin typeface="Meiryo" panose="020B0604030504040204" pitchFamily="34" charset="-128"/>
              <a:ea typeface="Meiryo" panose="020B0604030504040204" pitchFamily="34" charset="-128"/>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1" lang="ja-JP" altLang="en-US">
                <a:latin typeface="Meiryo" panose="020B0604030504040204" pitchFamily="34" charset="-128"/>
                <a:ea typeface="Meiryo" panose="020B0604030504040204" pitchFamily="34" charset="-128"/>
              </a:rPr>
              <a:t>予測クラスタと真のクラスタ間の情報量の共有度を示す正規化相互情報量</a:t>
            </a:r>
            <a:r>
              <a:rPr kumimoji="1" lang="en-US" altLang="ja-JP" dirty="0">
                <a:latin typeface="Meiryo" panose="020B0604030504040204" pitchFamily="34" charset="-128"/>
                <a:ea typeface="Meiryo" panose="020B0604030504040204" pitchFamily="34" charset="-128"/>
              </a:rPr>
              <a:t>(NMI)</a:t>
            </a:r>
            <a:r>
              <a:rPr kumimoji="1" lang="ja-JP" altLang="en-US">
                <a:latin typeface="Meiryo" panose="020B0604030504040204" pitchFamily="34" charset="-128"/>
                <a:ea typeface="Meiryo" panose="020B0604030504040204" pitchFamily="34" charset="-128"/>
              </a:rPr>
              <a:t>を使う。</a:t>
            </a:r>
            <a:endParaRPr kumimoji="1" lang="en-US" altLang="ja-JP" dirty="0">
              <a:latin typeface="Meiryo" panose="020B0604030504040204" pitchFamily="34" charset="-128"/>
              <a:ea typeface="Meiryo" panose="020B0604030504040204" pitchFamily="34" charset="-128"/>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1" lang="ja-JP" altLang="en-US">
                <a:latin typeface="Meiryo" panose="020B0604030504040204" pitchFamily="34" charset="-128"/>
                <a:ea typeface="Meiryo" panose="020B0604030504040204" pitchFamily="34" charset="-128"/>
              </a:rPr>
              <a:t>一般的に</a:t>
            </a:r>
            <a:r>
              <a:rPr kumimoji="1" lang="en-US" altLang="ja-JP" dirty="0">
                <a:latin typeface="Meiryo" panose="020B0604030504040204" pitchFamily="34" charset="-128"/>
                <a:ea typeface="Meiryo" panose="020B0604030504040204" pitchFamily="34" charset="-128"/>
              </a:rPr>
              <a:t>ARI</a:t>
            </a:r>
            <a:r>
              <a:rPr kumimoji="1" lang="ja-JP" altLang="en-US">
                <a:latin typeface="Meiryo" panose="020B0604030504040204" pitchFamily="34" charset="-128"/>
                <a:ea typeface="Meiryo" panose="020B0604030504040204" pitchFamily="34" charset="-128"/>
              </a:rPr>
              <a:t>は</a:t>
            </a:r>
            <a:r>
              <a:rPr lang="ja-JP" altLang="en-US" b="1"/>
              <a:t>クラスタのペア関係</a:t>
            </a:r>
            <a:r>
              <a:rPr lang="ja-JP" altLang="en-US"/>
              <a:t> に着目するため、小さな変更でも変動が大きくなり、</a:t>
            </a:r>
            <a:r>
              <a:rPr lang="en" altLang="ja-JP" b="1" dirty="0"/>
              <a:t>NMI</a:t>
            </a:r>
            <a:r>
              <a:rPr lang="en" altLang="ja-JP" dirty="0"/>
              <a:t> </a:t>
            </a:r>
            <a:r>
              <a:rPr lang="ja-JP" altLang="en-US"/>
              <a:t>は </a:t>
            </a:r>
            <a:r>
              <a:rPr lang="ja-JP" altLang="en-US" b="1"/>
              <a:t>情報量</a:t>
            </a:r>
            <a:r>
              <a:rPr lang="ja-JP" altLang="en-US"/>
              <a:t> に基づくため、クラスタ数が変わっても比較的安定している。</a:t>
            </a:r>
            <a:br>
              <a:rPr lang="en-US" altLang="ja-JP" dirty="0"/>
            </a:br>
            <a:r>
              <a:rPr kumimoji="1" lang="ja-JP" altLang="en-US">
                <a:latin typeface="Meiryo" panose="020B0604030504040204" pitchFamily="34" charset="-128"/>
                <a:ea typeface="Meiryo" panose="020B0604030504040204" pitchFamily="34" charset="-128"/>
              </a:rPr>
              <a:t>ハイパーパラメータの最適化として</a:t>
            </a:r>
            <a:endParaRPr kumimoji="1" lang="en-US" altLang="ja-JP" dirty="0">
              <a:latin typeface="Meiryo" panose="020B0604030504040204" pitchFamily="34" charset="-128"/>
              <a:ea typeface="Meiryo" panose="020B0604030504040204" pitchFamily="34" charset="-128"/>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1" lang="en-US" altLang="ja-JP" dirty="0">
              <a:latin typeface="Meiryo" panose="020B0604030504040204" pitchFamily="34" charset="-128"/>
              <a:ea typeface="Meiryo" panose="020B0604030504040204" pitchFamily="34" charset="-128"/>
            </a:endParaRPr>
          </a:p>
          <a:p>
            <a:endParaRPr lang="en-JP" dirty="0"/>
          </a:p>
        </p:txBody>
      </p:sp>
      <p:sp>
        <p:nvSpPr>
          <p:cNvPr id="4" name="Slide Number Placeholder 3">
            <a:extLst>
              <a:ext uri="{FF2B5EF4-FFF2-40B4-BE49-F238E27FC236}">
                <a16:creationId xmlns:a16="http://schemas.microsoft.com/office/drawing/2014/main" id="{17016A37-F931-96DF-C3BB-23EC7A589E42}"/>
              </a:ext>
            </a:extLst>
          </p:cNvPr>
          <p:cNvSpPr>
            <a:spLocks noGrp="1"/>
          </p:cNvSpPr>
          <p:nvPr>
            <p:ph type="sldNum" sz="quarter" idx="5"/>
          </p:nvPr>
        </p:nvSpPr>
        <p:spPr/>
        <p:txBody>
          <a:bodyPr/>
          <a:lstStyle/>
          <a:p>
            <a:fld id="{573B8C13-EC29-D742-991B-033D70E9806E}" type="slidenum">
              <a:rPr lang="en-US" smtClean="0"/>
              <a:t>23</a:t>
            </a:fld>
            <a:endParaRPr lang="en-US"/>
          </a:p>
        </p:txBody>
      </p:sp>
    </p:spTree>
    <p:extLst>
      <p:ext uri="{BB962C8B-B14F-4D97-AF65-F5344CB8AC3E}">
        <p14:creationId xmlns:p14="http://schemas.microsoft.com/office/powerpoint/2010/main" val="381133857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774E05-B2A1-3684-5DF7-53C16583C4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C63333-BA3E-20CD-813D-E0AA839F8C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3FCE8C-53A0-EE50-7A5B-7B0AD8AAC0AC}"/>
              </a:ext>
            </a:extLst>
          </p:cNvPr>
          <p:cNvSpPr>
            <a:spLocks noGrp="1"/>
          </p:cNvSpPr>
          <p:nvPr>
            <p:ph type="body" idx="1"/>
          </p:nvPr>
        </p:nvSpPr>
        <p:spPr/>
        <p:txBody>
          <a:bodyPr/>
          <a:lstStyle/>
          <a:p>
            <a:endParaRPr lang="en-JP" dirty="0"/>
          </a:p>
        </p:txBody>
      </p:sp>
      <p:sp>
        <p:nvSpPr>
          <p:cNvPr id="4" name="Slide Number Placeholder 3">
            <a:extLst>
              <a:ext uri="{FF2B5EF4-FFF2-40B4-BE49-F238E27FC236}">
                <a16:creationId xmlns:a16="http://schemas.microsoft.com/office/drawing/2014/main" id="{F8998F1D-6D62-6689-6FCF-C196A607D5CC}"/>
              </a:ext>
            </a:extLst>
          </p:cNvPr>
          <p:cNvSpPr>
            <a:spLocks noGrp="1"/>
          </p:cNvSpPr>
          <p:nvPr>
            <p:ph type="sldNum" sz="quarter" idx="5"/>
          </p:nvPr>
        </p:nvSpPr>
        <p:spPr/>
        <p:txBody>
          <a:bodyPr/>
          <a:lstStyle/>
          <a:p>
            <a:fld id="{573B8C13-EC29-D742-991B-033D70E9806E}" type="slidenum">
              <a:rPr lang="en-US" smtClean="0"/>
              <a:t>24</a:t>
            </a:fld>
            <a:endParaRPr lang="en-US"/>
          </a:p>
        </p:txBody>
      </p:sp>
    </p:spTree>
    <p:extLst>
      <p:ext uri="{BB962C8B-B14F-4D97-AF65-F5344CB8AC3E}">
        <p14:creationId xmlns:p14="http://schemas.microsoft.com/office/powerpoint/2010/main" val="129851191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D8593B-A704-F9AC-5887-F1ABF16314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330BAD-A2AC-9373-BB5A-B97937B5B7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E6CB4F-98E0-2830-EA4C-66A36E85FC77}"/>
              </a:ext>
            </a:extLst>
          </p:cNvPr>
          <p:cNvSpPr>
            <a:spLocks noGrp="1"/>
          </p:cNvSpPr>
          <p:nvPr>
            <p:ph type="body" idx="1"/>
          </p:nvPr>
        </p:nvSpPr>
        <p:spPr/>
        <p:txBody>
          <a:bodyPr/>
          <a:lstStyle/>
          <a:p>
            <a:endParaRPr lang="en-JP" dirty="0"/>
          </a:p>
        </p:txBody>
      </p:sp>
      <p:sp>
        <p:nvSpPr>
          <p:cNvPr id="4" name="Slide Number Placeholder 3">
            <a:extLst>
              <a:ext uri="{FF2B5EF4-FFF2-40B4-BE49-F238E27FC236}">
                <a16:creationId xmlns:a16="http://schemas.microsoft.com/office/drawing/2014/main" id="{3716865C-052E-82E7-3784-AD5F35C46256}"/>
              </a:ext>
            </a:extLst>
          </p:cNvPr>
          <p:cNvSpPr>
            <a:spLocks noGrp="1"/>
          </p:cNvSpPr>
          <p:nvPr>
            <p:ph type="sldNum" sz="quarter" idx="5"/>
          </p:nvPr>
        </p:nvSpPr>
        <p:spPr/>
        <p:txBody>
          <a:bodyPr/>
          <a:lstStyle/>
          <a:p>
            <a:fld id="{573B8C13-EC29-D742-991B-033D70E9806E}" type="slidenum">
              <a:rPr lang="en-US" smtClean="0"/>
              <a:t>25</a:t>
            </a:fld>
            <a:endParaRPr lang="en-US"/>
          </a:p>
        </p:txBody>
      </p:sp>
    </p:spTree>
    <p:extLst>
      <p:ext uri="{BB962C8B-B14F-4D97-AF65-F5344CB8AC3E}">
        <p14:creationId xmlns:p14="http://schemas.microsoft.com/office/powerpoint/2010/main" val="306565054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C694E6-4F1A-B474-11FD-E681BCF878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3BD0B5-F5F7-D5F6-5C27-1D1B1B0F4A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5D9F33-8DF9-9623-E9DF-7A11F55DAF99}"/>
              </a:ext>
            </a:extLst>
          </p:cNvPr>
          <p:cNvSpPr>
            <a:spLocks noGrp="1"/>
          </p:cNvSpPr>
          <p:nvPr>
            <p:ph type="body" idx="1"/>
          </p:nvPr>
        </p:nvSpPr>
        <p:spPr/>
        <p:txBody>
          <a:bodyPr/>
          <a:lstStyle/>
          <a:p>
            <a:endParaRPr lang="en-JP" dirty="0"/>
          </a:p>
        </p:txBody>
      </p:sp>
      <p:sp>
        <p:nvSpPr>
          <p:cNvPr id="4" name="Slide Number Placeholder 3">
            <a:extLst>
              <a:ext uri="{FF2B5EF4-FFF2-40B4-BE49-F238E27FC236}">
                <a16:creationId xmlns:a16="http://schemas.microsoft.com/office/drawing/2014/main" id="{16B199A8-8A0A-90A0-70FF-C29B661EBC57}"/>
              </a:ext>
            </a:extLst>
          </p:cNvPr>
          <p:cNvSpPr>
            <a:spLocks noGrp="1"/>
          </p:cNvSpPr>
          <p:nvPr>
            <p:ph type="sldNum" sz="quarter" idx="5"/>
          </p:nvPr>
        </p:nvSpPr>
        <p:spPr/>
        <p:txBody>
          <a:bodyPr/>
          <a:lstStyle/>
          <a:p>
            <a:fld id="{573B8C13-EC29-D742-991B-033D70E9806E}" type="slidenum">
              <a:rPr lang="en-US" smtClean="0"/>
              <a:t>27</a:t>
            </a:fld>
            <a:endParaRPr lang="en-US"/>
          </a:p>
        </p:txBody>
      </p:sp>
    </p:spTree>
    <p:extLst>
      <p:ext uri="{BB962C8B-B14F-4D97-AF65-F5344CB8AC3E}">
        <p14:creationId xmlns:p14="http://schemas.microsoft.com/office/powerpoint/2010/main" val="379810780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　</a:t>
            </a:r>
            <a:r>
              <a:rPr lang="en-JP" dirty="0"/>
              <a:t>最後にまとめです．</a:t>
            </a:r>
          </a:p>
        </p:txBody>
      </p:sp>
      <p:sp>
        <p:nvSpPr>
          <p:cNvPr id="4" name="Slide Number Placeholder 3"/>
          <p:cNvSpPr>
            <a:spLocks noGrp="1"/>
          </p:cNvSpPr>
          <p:nvPr>
            <p:ph type="sldNum" sz="quarter" idx="5"/>
          </p:nvPr>
        </p:nvSpPr>
        <p:spPr/>
        <p:txBody>
          <a:bodyPr/>
          <a:lstStyle/>
          <a:p>
            <a:fld id="{573B8C13-EC29-D742-991B-033D70E9806E}" type="slidenum">
              <a:rPr lang="en-US" smtClean="0"/>
              <a:t>28</a:t>
            </a:fld>
            <a:endParaRPr lang="en-US"/>
          </a:p>
        </p:txBody>
      </p:sp>
    </p:spTree>
    <p:extLst>
      <p:ext uri="{BB962C8B-B14F-4D97-AF65-F5344CB8AC3E}">
        <p14:creationId xmlns:p14="http://schemas.microsoft.com/office/powerpoint/2010/main" val="114740221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JP" dirty="0"/>
          </a:p>
        </p:txBody>
      </p:sp>
      <p:sp>
        <p:nvSpPr>
          <p:cNvPr id="4" name="Slide Number Placeholder 3"/>
          <p:cNvSpPr>
            <a:spLocks noGrp="1"/>
          </p:cNvSpPr>
          <p:nvPr>
            <p:ph type="sldNum" sz="quarter" idx="5"/>
          </p:nvPr>
        </p:nvSpPr>
        <p:spPr/>
        <p:txBody>
          <a:bodyPr/>
          <a:lstStyle/>
          <a:p>
            <a:fld id="{573B8C13-EC29-D742-991B-033D70E9806E}" type="slidenum">
              <a:rPr lang="en-US" smtClean="0"/>
              <a:t>29</a:t>
            </a:fld>
            <a:endParaRPr lang="en-US"/>
          </a:p>
        </p:txBody>
      </p:sp>
    </p:spTree>
    <p:extLst>
      <p:ext uri="{BB962C8B-B14F-4D97-AF65-F5344CB8AC3E}">
        <p14:creationId xmlns:p14="http://schemas.microsoft.com/office/powerpoint/2010/main" val="105144823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　</a:t>
            </a:r>
            <a:r>
              <a:rPr lang="en-JP" dirty="0"/>
              <a:t>こちらが参考文献になります．</a:t>
            </a:r>
          </a:p>
        </p:txBody>
      </p:sp>
      <p:sp>
        <p:nvSpPr>
          <p:cNvPr id="4" name="Slide Number Placeholder 3"/>
          <p:cNvSpPr>
            <a:spLocks noGrp="1"/>
          </p:cNvSpPr>
          <p:nvPr>
            <p:ph type="sldNum" sz="quarter" idx="5"/>
          </p:nvPr>
        </p:nvSpPr>
        <p:spPr/>
        <p:txBody>
          <a:bodyPr/>
          <a:lstStyle/>
          <a:p>
            <a:fld id="{573B8C13-EC29-D742-991B-033D70E9806E}" type="slidenum">
              <a:rPr lang="en-US" smtClean="0"/>
              <a:t>31</a:t>
            </a:fld>
            <a:endParaRPr lang="en-US"/>
          </a:p>
        </p:txBody>
      </p:sp>
    </p:spTree>
    <p:extLst>
      <p:ext uri="{BB962C8B-B14F-4D97-AF65-F5344CB8AC3E}">
        <p14:creationId xmlns:p14="http://schemas.microsoft.com/office/powerpoint/2010/main" val="61255940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3CDBD0-0390-AFF7-0A6B-B6AD804D87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9EFA11-1C40-CF2D-E4CF-82E88729B6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4C222A-10AC-558D-D587-9B53B3AC8002}"/>
              </a:ext>
            </a:extLst>
          </p:cNvPr>
          <p:cNvSpPr>
            <a:spLocks noGrp="1"/>
          </p:cNvSpPr>
          <p:nvPr>
            <p:ph type="body" idx="1"/>
          </p:nvPr>
        </p:nvSpPr>
        <p:spPr/>
        <p:txBody>
          <a:bodyPr/>
          <a:lstStyle/>
          <a:p>
            <a:r>
              <a:rPr lang="ja-JP" altLang="en-US"/>
              <a:t>　ではまずデータセットについて説明します．本実験ではこちらに示すような大型マイニングショベル</a:t>
            </a:r>
            <a:r>
              <a:rPr lang="en-US" altLang="ja-JP" dirty="0"/>
              <a:t>32</a:t>
            </a:r>
            <a:r>
              <a:rPr lang="ja-JP" altLang="en-US"/>
              <a:t>台の実際の稼働データを使用して実験を行いました．また稼働データに加えて</a:t>
            </a:r>
            <a:r>
              <a:rPr lang="en-US" altLang="ja-JP" dirty="0"/>
              <a:t>1</a:t>
            </a:r>
            <a:r>
              <a:rPr lang="ja-JP" altLang="en-US"/>
              <a:t>台のショベルにつきそれぞれ</a:t>
            </a:r>
            <a:r>
              <a:rPr lang="en-US" altLang="ja-JP" dirty="0"/>
              <a:t>1</a:t>
            </a:r>
            <a:r>
              <a:rPr lang="ja-JP" altLang="en-US"/>
              <a:t>件の磨耗の正解データが与えられています．すなわち合計</a:t>
            </a:r>
            <a:r>
              <a:rPr lang="en-US" altLang="ja-JP" dirty="0"/>
              <a:t>32</a:t>
            </a:r>
            <a:r>
              <a:rPr lang="ja-JP" altLang="en-US"/>
              <a:t>件の摩耗の正解データがある形になります．また提案手法の中では</a:t>
            </a:r>
            <a:r>
              <a:rPr lang="en-US" altLang="ja-JP" dirty="0"/>
              <a:t>Archard</a:t>
            </a:r>
            <a:r>
              <a:rPr lang="ja-JP" altLang="en-US"/>
              <a:t>の摩耗推定式を用いていますが，その中に出てくるそれぞれの変数はこちらに示すような形で定めております．</a:t>
            </a:r>
          </a:p>
          <a:p>
            <a:endParaRPr lang="ja-JP" altLang="en-US"/>
          </a:p>
          <a:p>
            <a:endParaRPr lang="en-JP" dirty="0"/>
          </a:p>
        </p:txBody>
      </p:sp>
      <p:sp>
        <p:nvSpPr>
          <p:cNvPr id="4" name="Slide Number Placeholder 3">
            <a:extLst>
              <a:ext uri="{FF2B5EF4-FFF2-40B4-BE49-F238E27FC236}">
                <a16:creationId xmlns:a16="http://schemas.microsoft.com/office/drawing/2014/main" id="{8236E404-434E-53B0-7BAD-994506A1609B}"/>
              </a:ext>
            </a:extLst>
          </p:cNvPr>
          <p:cNvSpPr>
            <a:spLocks noGrp="1"/>
          </p:cNvSpPr>
          <p:nvPr>
            <p:ph type="sldNum" sz="quarter" idx="5"/>
          </p:nvPr>
        </p:nvSpPr>
        <p:spPr/>
        <p:txBody>
          <a:bodyPr/>
          <a:lstStyle/>
          <a:p>
            <a:fld id="{573B8C13-EC29-D742-991B-033D70E9806E}" type="slidenum">
              <a:rPr lang="en-US" smtClean="0"/>
              <a:t>32</a:t>
            </a:fld>
            <a:endParaRPr lang="en-US"/>
          </a:p>
        </p:txBody>
      </p:sp>
    </p:spTree>
    <p:extLst>
      <p:ext uri="{BB962C8B-B14F-4D97-AF65-F5344CB8AC3E}">
        <p14:creationId xmlns:p14="http://schemas.microsoft.com/office/powerpoint/2010/main" val="212937449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DFD3F8-C792-E55E-2052-66935DD9E3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CDCDC1-5532-6254-CA4C-218D276EDE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FD825F-19B8-27BE-4775-1D69F047FDC4}"/>
              </a:ext>
            </a:extLst>
          </p:cNvPr>
          <p:cNvSpPr>
            <a:spLocks noGrp="1"/>
          </p:cNvSpPr>
          <p:nvPr>
            <p:ph type="body" idx="1"/>
          </p:nvPr>
        </p:nvSpPr>
        <p:spPr/>
        <p:txBody>
          <a:bodyPr/>
          <a:lstStyle/>
          <a:p>
            <a:r>
              <a:rPr lang="ja-JP" altLang="en-US"/>
              <a:t>　ではまずデータセットについて説明します．本実験ではこちらに示すような大型マイニングショベル</a:t>
            </a:r>
            <a:r>
              <a:rPr lang="en-US" altLang="ja-JP" dirty="0"/>
              <a:t>32</a:t>
            </a:r>
            <a:r>
              <a:rPr lang="ja-JP" altLang="en-US"/>
              <a:t>台の実際の稼働データを使用して実験を行いました．また稼働データに加えて</a:t>
            </a:r>
            <a:r>
              <a:rPr lang="en-US" altLang="ja-JP" dirty="0"/>
              <a:t>1</a:t>
            </a:r>
            <a:r>
              <a:rPr lang="ja-JP" altLang="en-US"/>
              <a:t>台のショベルにつきそれぞれ</a:t>
            </a:r>
            <a:r>
              <a:rPr lang="en-US" altLang="ja-JP" dirty="0"/>
              <a:t>1</a:t>
            </a:r>
            <a:r>
              <a:rPr lang="ja-JP" altLang="en-US"/>
              <a:t>件の磨耗の正解データが与えられています．すなわち合計</a:t>
            </a:r>
            <a:r>
              <a:rPr lang="en-US" altLang="ja-JP" dirty="0"/>
              <a:t>32</a:t>
            </a:r>
            <a:r>
              <a:rPr lang="ja-JP" altLang="en-US"/>
              <a:t>件の摩耗の正解データがある形になります．また提案手法の中では</a:t>
            </a:r>
            <a:r>
              <a:rPr lang="en-US" altLang="ja-JP" dirty="0"/>
              <a:t>Archard</a:t>
            </a:r>
            <a:r>
              <a:rPr lang="ja-JP" altLang="en-US"/>
              <a:t>の摩耗推定式を用いていますが，その中に出てくるそれぞれの変数はこちらに示すような形で定めております．</a:t>
            </a:r>
          </a:p>
          <a:p>
            <a:endParaRPr lang="ja-JP" altLang="en-US"/>
          </a:p>
          <a:p>
            <a:endParaRPr lang="en-JP" dirty="0"/>
          </a:p>
        </p:txBody>
      </p:sp>
      <p:sp>
        <p:nvSpPr>
          <p:cNvPr id="4" name="Slide Number Placeholder 3">
            <a:extLst>
              <a:ext uri="{FF2B5EF4-FFF2-40B4-BE49-F238E27FC236}">
                <a16:creationId xmlns:a16="http://schemas.microsoft.com/office/drawing/2014/main" id="{E06CE19C-F26F-3941-BC5E-57EBF00A2BCB}"/>
              </a:ext>
            </a:extLst>
          </p:cNvPr>
          <p:cNvSpPr>
            <a:spLocks noGrp="1"/>
          </p:cNvSpPr>
          <p:nvPr>
            <p:ph type="sldNum" sz="quarter" idx="5"/>
          </p:nvPr>
        </p:nvSpPr>
        <p:spPr/>
        <p:txBody>
          <a:bodyPr/>
          <a:lstStyle/>
          <a:p>
            <a:fld id="{573B8C13-EC29-D742-991B-033D70E9806E}" type="slidenum">
              <a:rPr lang="en-US" smtClean="0"/>
              <a:t>33</a:t>
            </a:fld>
            <a:endParaRPr lang="en-US"/>
          </a:p>
        </p:txBody>
      </p:sp>
    </p:spTree>
    <p:extLst>
      <p:ext uri="{BB962C8B-B14F-4D97-AF65-F5344CB8AC3E}">
        <p14:creationId xmlns:p14="http://schemas.microsoft.com/office/powerpoint/2010/main" val="89747337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0F67ED-6163-BA66-3641-5811AB5D93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6CA07D-975E-0195-D2BE-E5B3041657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688B39-8F41-196C-E2BA-9ED12BDDD7F4}"/>
              </a:ext>
            </a:extLst>
          </p:cNvPr>
          <p:cNvSpPr>
            <a:spLocks noGrp="1"/>
          </p:cNvSpPr>
          <p:nvPr>
            <p:ph type="body" idx="1"/>
          </p:nvPr>
        </p:nvSpPr>
        <p:spPr/>
        <p:txBody>
          <a:bodyPr/>
          <a:lstStyle/>
          <a:p>
            <a:r>
              <a:rPr lang="ja-JP" altLang="en-US"/>
              <a:t>　ではまずデータセットについて説明します．本実験ではこちらに示すような大型マイニングショベル</a:t>
            </a:r>
            <a:r>
              <a:rPr lang="en-US" altLang="ja-JP" dirty="0"/>
              <a:t>32</a:t>
            </a:r>
            <a:r>
              <a:rPr lang="ja-JP" altLang="en-US"/>
              <a:t>台の実際の稼働データを使用して実験を行いました．また稼働データに加えて</a:t>
            </a:r>
            <a:r>
              <a:rPr lang="en-US" altLang="ja-JP" dirty="0"/>
              <a:t>1</a:t>
            </a:r>
            <a:r>
              <a:rPr lang="ja-JP" altLang="en-US"/>
              <a:t>台のショベルにつきそれぞれ</a:t>
            </a:r>
            <a:r>
              <a:rPr lang="en-US" altLang="ja-JP" dirty="0"/>
              <a:t>1</a:t>
            </a:r>
            <a:r>
              <a:rPr lang="ja-JP" altLang="en-US"/>
              <a:t>件の磨耗の正解データが与えられています．すなわち合計</a:t>
            </a:r>
            <a:r>
              <a:rPr lang="en-US" altLang="ja-JP" dirty="0"/>
              <a:t>32</a:t>
            </a:r>
            <a:r>
              <a:rPr lang="ja-JP" altLang="en-US"/>
              <a:t>件の摩耗の正解データがある形になります．また提案手法の中では</a:t>
            </a:r>
            <a:r>
              <a:rPr lang="en-US" altLang="ja-JP" dirty="0"/>
              <a:t>Archard</a:t>
            </a:r>
            <a:r>
              <a:rPr lang="ja-JP" altLang="en-US"/>
              <a:t>の摩耗推定式を用いていますが，その中に出てくるそれぞれの変数はこちらに示すような形で定めております．</a:t>
            </a:r>
          </a:p>
          <a:p>
            <a:endParaRPr lang="ja-JP" altLang="en-US"/>
          </a:p>
          <a:p>
            <a:endParaRPr lang="en-JP" dirty="0"/>
          </a:p>
        </p:txBody>
      </p:sp>
      <p:sp>
        <p:nvSpPr>
          <p:cNvPr id="4" name="Slide Number Placeholder 3">
            <a:extLst>
              <a:ext uri="{FF2B5EF4-FFF2-40B4-BE49-F238E27FC236}">
                <a16:creationId xmlns:a16="http://schemas.microsoft.com/office/drawing/2014/main" id="{6E2440CD-00BE-7687-04F4-14D60B4624A7}"/>
              </a:ext>
            </a:extLst>
          </p:cNvPr>
          <p:cNvSpPr>
            <a:spLocks noGrp="1"/>
          </p:cNvSpPr>
          <p:nvPr>
            <p:ph type="sldNum" sz="quarter" idx="5"/>
          </p:nvPr>
        </p:nvSpPr>
        <p:spPr/>
        <p:txBody>
          <a:bodyPr/>
          <a:lstStyle/>
          <a:p>
            <a:fld id="{573B8C13-EC29-D742-991B-033D70E9806E}" type="slidenum">
              <a:rPr lang="en-US" smtClean="0"/>
              <a:t>34</a:t>
            </a:fld>
            <a:endParaRPr lang="en-US"/>
          </a:p>
        </p:txBody>
      </p:sp>
    </p:spTree>
    <p:extLst>
      <p:ext uri="{BB962C8B-B14F-4D97-AF65-F5344CB8AC3E}">
        <p14:creationId xmlns:p14="http://schemas.microsoft.com/office/powerpoint/2010/main" val="39273832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AD26B6-846A-9D04-7096-6C40E09C8A3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JP"/>
          </a:p>
        </p:txBody>
      </p:sp>
      <p:sp>
        <p:nvSpPr>
          <p:cNvPr id="3" name="Subtitle 2">
            <a:extLst>
              <a:ext uri="{FF2B5EF4-FFF2-40B4-BE49-F238E27FC236}">
                <a16:creationId xmlns:a16="http://schemas.microsoft.com/office/drawing/2014/main" id="{F16BB481-5FCB-35BA-EF33-6E9BE241678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JP"/>
          </a:p>
        </p:txBody>
      </p:sp>
      <p:sp>
        <p:nvSpPr>
          <p:cNvPr id="4" name="Date Placeholder 3">
            <a:extLst>
              <a:ext uri="{FF2B5EF4-FFF2-40B4-BE49-F238E27FC236}">
                <a16:creationId xmlns:a16="http://schemas.microsoft.com/office/drawing/2014/main" id="{880A0314-CBCF-0704-62E7-8DE9420C12D9}"/>
              </a:ext>
            </a:extLst>
          </p:cNvPr>
          <p:cNvSpPr>
            <a:spLocks noGrp="1"/>
          </p:cNvSpPr>
          <p:nvPr>
            <p:ph type="dt" sz="half" idx="10"/>
          </p:nvPr>
        </p:nvSpPr>
        <p:spPr>
          <a:xfrm>
            <a:off x="838200" y="6553200"/>
            <a:ext cx="2743200" cy="365125"/>
          </a:xfrm>
        </p:spPr>
        <p:txBody>
          <a:bodyPr/>
          <a:lstStyle/>
          <a:p>
            <a:r>
              <a:rPr lang="en-US" altLang="ja-JP"/>
              <a:t>2024/2/5</a:t>
            </a:r>
            <a:endParaRPr lang="en-US" dirty="0"/>
          </a:p>
        </p:txBody>
      </p:sp>
      <p:sp>
        <p:nvSpPr>
          <p:cNvPr id="5" name="Footer Placeholder 4">
            <a:extLst>
              <a:ext uri="{FF2B5EF4-FFF2-40B4-BE49-F238E27FC236}">
                <a16:creationId xmlns:a16="http://schemas.microsoft.com/office/drawing/2014/main" id="{644EFC1B-C709-1542-57DF-55A036CD7E30}"/>
              </a:ext>
            </a:extLst>
          </p:cNvPr>
          <p:cNvSpPr>
            <a:spLocks noGrp="1"/>
          </p:cNvSpPr>
          <p:nvPr>
            <p:ph type="ftr" sz="quarter" idx="11"/>
          </p:nvPr>
        </p:nvSpPr>
        <p:spPr>
          <a:xfrm>
            <a:off x="4038600" y="6553200"/>
            <a:ext cx="4114800" cy="365125"/>
          </a:xfrm>
        </p:spPr>
        <p:txBody>
          <a:bodyPr/>
          <a:lstStyle/>
          <a:p>
            <a:r>
              <a:rPr lang="fi-FI"/>
              <a:t>Shuhei Tsuriya @ Sakurai Lab.</a:t>
            </a:r>
            <a:endParaRPr lang="en-US" dirty="0"/>
          </a:p>
        </p:txBody>
      </p:sp>
      <p:sp>
        <p:nvSpPr>
          <p:cNvPr id="6" name="Slide Number Placeholder 5">
            <a:extLst>
              <a:ext uri="{FF2B5EF4-FFF2-40B4-BE49-F238E27FC236}">
                <a16:creationId xmlns:a16="http://schemas.microsoft.com/office/drawing/2014/main" id="{F184A6E0-989D-0A9F-CC6A-A96B7CC323BD}"/>
              </a:ext>
            </a:extLst>
          </p:cNvPr>
          <p:cNvSpPr>
            <a:spLocks noGrp="1"/>
          </p:cNvSpPr>
          <p:nvPr>
            <p:ph type="sldNum" sz="quarter" idx="12"/>
          </p:nvPr>
        </p:nvSpPr>
        <p:spPr>
          <a:xfrm>
            <a:off x="8610600" y="6553200"/>
            <a:ext cx="2743200" cy="365125"/>
          </a:xfrm>
        </p:spPr>
        <p:txBody>
          <a:bodyPr/>
          <a:lstStyle/>
          <a:p>
            <a:fld id="{6675BFCB-789E-5945-84C6-0973649846BB}" type="slidenum">
              <a:rPr lang="en-US" smtClean="0"/>
              <a:pPr/>
              <a:t>‹#›</a:t>
            </a:fld>
            <a:endParaRPr lang="en-US" dirty="0"/>
          </a:p>
        </p:txBody>
      </p:sp>
    </p:spTree>
    <p:extLst>
      <p:ext uri="{BB962C8B-B14F-4D97-AF65-F5344CB8AC3E}">
        <p14:creationId xmlns:p14="http://schemas.microsoft.com/office/powerpoint/2010/main" val="34058286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35267-ED7F-A1D2-AF69-B88F14EEA44C}"/>
              </a:ext>
            </a:extLst>
          </p:cNvPr>
          <p:cNvSpPr>
            <a:spLocks noGrp="1"/>
          </p:cNvSpPr>
          <p:nvPr>
            <p:ph type="title"/>
          </p:nvPr>
        </p:nvSpPr>
        <p:spPr/>
        <p:txBody>
          <a:bodyPr/>
          <a:lstStyle/>
          <a:p>
            <a:r>
              <a:rPr lang="en-US"/>
              <a:t>Click to edit Master title style</a:t>
            </a:r>
            <a:endParaRPr lang="en-JP"/>
          </a:p>
        </p:txBody>
      </p:sp>
      <p:sp>
        <p:nvSpPr>
          <p:cNvPr id="3" name="Content Placeholder 2">
            <a:extLst>
              <a:ext uri="{FF2B5EF4-FFF2-40B4-BE49-F238E27FC236}">
                <a16:creationId xmlns:a16="http://schemas.microsoft.com/office/drawing/2014/main" id="{2EFAB7D3-8DA4-8AE3-2E2F-95CF3D31502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4" name="Date Placeholder 3">
            <a:extLst>
              <a:ext uri="{FF2B5EF4-FFF2-40B4-BE49-F238E27FC236}">
                <a16:creationId xmlns:a16="http://schemas.microsoft.com/office/drawing/2014/main" id="{AA451CFC-8B53-42E1-5F9D-853B627F966F}"/>
              </a:ext>
            </a:extLst>
          </p:cNvPr>
          <p:cNvSpPr>
            <a:spLocks noGrp="1"/>
          </p:cNvSpPr>
          <p:nvPr>
            <p:ph type="dt" sz="half" idx="10"/>
          </p:nvPr>
        </p:nvSpPr>
        <p:spPr>
          <a:xfrm>
            <a:off x="838200" y="6553200"/>
            <a:ext cx="2743200" cy="365125"/>
          </a:xfrm>
        </p:spPr>
        <p:txBody>
          <a:bodyPr/>
          <a:lstStyle/>
          <a:p>
            <a:r>
              <a:rPr lang="en-US" altLang="ja-JP" dirty="0"/>
              <a:t>2025/2/7</a:t>
            </a:r>
            <a:endParaRPr lang="en-US" dirty="0"/>
          </a:p>
        </p:txBody>
      </p:sp>
      <p:sp>
        <p:nvSpPr>
          <p:cNvPr id="5" name="Footer Placeholder 4">
            <a:extLst>
              <a:ext uri="{FF2B5EF4-FFF2-40B4-BE49-F238E27FC236}">
                <a16:creationId xmlns:a16="http://schemas.microsoft.com/office/drawing/2014/main" id="{6BF52947-530A-DF3B-73A2-0B75D6EB1D85}"/>
              </a:ext>
            </a:extLst>
          </p:cNvPr>
          <p:cNvSpPr>
            <a:spLocks noGrp="1"/>
          </p:cNvSpPr>
          <p:nvPr>
            <p:ph type="ftr" sz="quarter" idx="11"/>
          </p:nvPr>
        </p:nvSpPr>
        <p:spPr>
          <a:xfrm>
            <a:off x="4038600" y="6553200"/>
            <a:ext cx="4114800" cy="365125"/>
          </a:xfrm>
        </p:spPr>
        <p:txBody>
          <a:bodyPr/>
          <a:lstStyle/>
          <a:p>
            <a:r>
              <a:rPr lang="fi-FI" dirty="0" err="1"/>
              <a:t>Tsubasa</a:t>
            </a:r>
            <a:r>
              <a:rPr lang="fi-FI" dirty="0"/>
              <a:t> Kato @ </a:t>
            </a:r>
            <a:r>
              <a:rPr lang="fi-FI" dirty="0" err="1"/>
              <a:t>Sakurai</a:t>
            </a:r>
            <a:r>
              <a:rPr lang="fi-FI" dirty="0"/>
              <a:t> </a:t>
            </a:r>
            <a:r>
              <a:rPr lang="fi-FI" dirty="0" err="1"/>
              <a:t>Lab</a:t>
            </a:r>
            <a:r>
              <a:rPr lang="fi-FI" dirty="0"/>
              <a:t>.</a:t>
            </a:r>
            <a:endParaRPr lang="en-US" dirty="0"/>
          </a:p>
        </p:txBody>
      </p:sp>
      <p:sp>
        <p:nvSpPr>
          <p:cNvPr id="6" name="Slide Number Placeholder 5">
            <a:extLst>
              <a:ext uri="{FF2B5EF4-FFF2-40B4-BE49-F238E27FC236}">
                <a16:creationId xmlns:a16="http://schemas.microsoft.com/office/drawing/2014/main" id="{C9484548-EB3C-966A-CFE9-2D9F9FE56A21}"/>
              </a:ext>
            </a:extLst>
          </p:cNvPr>
          <p:cNvSpPr>
            <a:spLocks noGrp="1"/>
          </p:cNvSpPr>
          <p:nvPr>
            <p:ph type="sldNum" sz="quarter" idx="12"/>
          </p:nvPr>
        </p:nvSpPr>
        <p:spPr>
          <a:xfrm>
            <a:off x="9416143" y="6492875"/>
            <a:ext cx="2743200" cy="365125"/>
          </a:xfrm>
        </p:spPr>
        <p:txBody>
          <a:bodyPr/>
          <a:lstStyle>
            <a:lvl1pPr>
              <a:defRPr sz="1600"/>
            </a:lvl1pPr>
          </a:lstStyle>
          <a:p>
            <a:fld id="{6675BFCB-789E-5945-84C6-0973649846BB}" type="slidenum">
              <a:rPr lang="en-US" smtClean="0"/>
              <a:pPr/>
              <a:t>‹#›</a:t>
            </a:fld>
            <a:endParaRPr lang="en-US" dirty="0"/>
          </a:p>
        </p:txBody>
      </p:sp>
    </p:spTree>
    <p:extLst>
      <p:ext uri="{BB962C8B-B14F-4D97-AF65-F5344CB8AC3E}">
        <p14:creationId xmlns:p14="http://schemas.microsoft.com/office/powerpoint/2010/main" val="3758046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77372A-0757-46D8-AC5C-205D99ACEB9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JP"/>
          </a:p>
        </p:txBody>
      </p:sp>
      <p:sp>
        <p:nvSpPr>
          <p:cNvPr id="3" name="Text Placeholder 2">
            <a:extLst>
              <a:ext uri="{FF2B5EF4-FFF2-40B4-BE49-F238E27FC236}">
                <a16:creationId xmlns:a16="http://schemas.microsoft.com/office/drawing/2014/main" id="{DCA4096B-9DB0-F0E7-A81A-8936D233DE0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4C7C046-E30A-319B-A0CC-7B90616DCA6C}"/>
              </a:ext>
            </a:extLst>
          </p:cNvPr>
          <p:cNvSpPr>
            <a:spLocks noGrp="1"/>
          </p:cNvSpPr>
          <p:nvPr>
            <p:ph type="dt" sz="half" idx="10"/>
          </p:nvPr>
        </p:nvSpPr>
        <p:spPr/>
        <p:txBody>
          <a:bodyPr/>
          <a:lstStyle/>
          <a:p>
            <a:r>
              <a:rPr lang="en-US" altLang="ja-JP"/>
              <a:t>2024/2/5</a:t>
            </a:r>
            <a:endParaRPr lang="en-US" dirty="0"/>
          </a:p>
        </p:txBody>
      </p:sp>
      <p:sp>
        <p:nvSpPr>
          <p:cNvPr id="5" name="Footer Placeholder 4">
            <a:extLst>
              <a:ext uri="{FF2B5EF4-FFF2-40B4-BE49-F238E27FC236}">
                <a16:creationId xmlns:a16="http://schemas.microsoft.com/office/drawing/2014/main" id="{6A1DAC19-97C3-0813-D8F6-2CD6E223ECBC}"/>
              </a:ext>
            </a:extLst>
          </p:cNvPr>
          <p:cNvSpPr>
            <a:spLocks noGrp="1"/>
          </p:cNvSpPr>
          <p:nvPr>
            <p:ph type="ftr" sz="quarter" idx="11"/>
          </p:nvPr>
        </p:nvSpPr>
        <p:spPr/>
        <p:txBody>
          <a:bodyPr/>
          <a:lstStyle/>
          <a:p>
            <a:r>
              <a:rPr lang="fi-FI"/>
              <a:t>Shuhei Tsuriya @ Sakurai Lab.</a:t>
            </a:r>
            <a:endParaRPr lang="en-US"/>
          </a:p>
        </p:txBody>
      </p:sp>
      <p:sp>
        <p:nvSpPr>
          <p:cNvPr id="6" name="Slide Number Placeholder 5">
            <a:extLst>
              <a:ext uri="{FF2B5EF4-FFF2-40B4-BE49-F238E27FC236}">
                <a16:creationId xmlns:a16="http://schemas.microsoft.com/office/drawing/2014/main" id="{A8F4D73F-77EE-E064-CB70-27D47BF1D6F4}"/>
              </a:ext>
            </a:extLst>
          </p:cNvPr>
          <p:cNvSpPr>
            <a:spLocks noGrp="1"/>
          </p:cNvSpPr>
          <p:nvPr>
            <p:ph type="sldNum" sz="quarter" idx="12"/>
          </p:nvPr>
        </p:nvSpPr>
        <p:spPr/>
        <p:txBody>
          <a:bodyPr/>
          <a:lstStyle/>
          <a:p>
            <a:fld id="{6675BFCB-789E-5945-84C6-0973649846BB}" type="slidenum">
              <a:rPr lang="en-US" smtClean="0"/>
              <a:t>‹#›</a:t>
            </a:fld>
            <a:endParaRPr lang="en-US"/>
          </a:p>
        </p:txBody>
      </p:sp>
    </p:spTree>
    <p:extLst>
      <p:ext uri="{BB962C8B-B14F-4D97-AF65-F5344CB8AC3E}">
        <p14:creationId xmlns:p14="http://schemas.microsoft.com/office/powerpoint/2010/main" val="42575781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5DB924-60C3-ED66-8F07-D592A5794471}"/>
              </a:ext>
            </a:extLst>
          </p:cNvPr>
          <p:cNvSpPr>
            <a:spLocks noGrp="1"/>
          </p:cNvSpPr>
          <p:nvPr>
            <p:ph type="title"/>
          </p:nvPr>
        </p:nvSpPr>
        <p:spPr/>
        <p:txBody>
          <a:bodyPr/>
          <a:lstStyle/>
          <a:p>
            <a:r>
              <a:rPr lang="en-US"/>
              <a:t>Click to edit Master title style</a:t>
            </a:r>
            <a:endParaRPr lang="en-JP"/>
          </a:p>
        </p:txBody>
      </p:sp>
      <p:sp>
        <p:nvSpPr>
          <p:cNvPr id="3" name="Content Placeholder 2">
            <a:extLst>
              <a:ext uri="{FF2B5EF4-FFF2-40B4-BE49-F238E27FC236}">
                <a16:creationId xmlns:a16="http://schemas.microsoft.com/office/drawing/2014/main" id="{FBA00349-FC79-A12B-D890-BD02A3EEB99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4" name="Content Placeholder 3">
            <a:extLst>
              <a:ext uri="{FF2B5EF4-FFF2-40B4-BE49-F238E27FC236}">
                <a16:creationId xmlns:a16="http://schemas.microsoft.com/office/drawing/2014/main" id="{6DF82B39-8B68-F0FA-1AC3-D1ECFE85754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5" name="Date Placeholder 4">
            <a:extLst>
              <a:ext uri="{FF2B5EF4-FFF2-40B4-BE49-F238E27FC236}">
                <a16:creationId xmlns:a16="http://schemas.microsoft.com/office/drawing/2014/main" id="{1A5482D1-FB99-6A3D-0883-897561DE289F}"/>
              </a:ext>
            </a:extLst>
          </p:cNvPr>
          <p:cNvSpPr>
            <a:spLocks noGrp="1"/>
          </p:cNvSpPr>
          <p:nvPr>
            <p:ph type="dt" sz="half" idx="10"/>
          </p:nvPr>
        </p:nvSpPr>
        <p:spPr/>
        <p:txBody>
          <a:bodyPr/>
          <a:lstStyle/>
          <a:p>
            <a:r>
              <a:rPr lang="en-US" altLang="ja-JP"/>
              <a:t>2024/2/5</a:t>
            </a:r>
            <a:endParaRPr lang="en-US"/>
          </a:p>
        </p:txBody>
      </p:sp>
      <p:sp>
        <p:nvSpPr>
          <p:cNvPr id="6" name="Footer Placeholder 5">
            <a:extLst>
              <a:ext uri="{FF2B5EF4-FFF2-40B4-BE49-F238E27FC236}">
                <a16:creationId xmlns:a16="http://schemas.microsoft.com/office/drawing/2014/main" id="{D5224E21-C126-0EC0-5CE2-021AF8C3ED9A}"/>
              </a:ext>
            </a:extLst>
          </p:cNvPr>
          <p:cNvSpPr>
            <a:spLocks noGrp="1"/>
          </p:cNvSpPr>
          <p:nvPr>
            <p:ph type="ftr" sz="quarter" idx="11"/>
          </p:nvPr>
        </p:nvSpPr>
        <p:spPr/>
        <p:txBody>
          <a:bodyPr/>
          <a:lstStyle/>
          <a:p>
            <a:r>
              <a:rPr lang="fi-FI"/>
              <a:t>Shuhei Tsuriya @ Sakurai Lab.</a:t>
            </a:r>
            <a:endParaRPr lang="en-US"/>
          </a:p>
        </p:txBody>
      </p:sp>
      <p:sp>
        <p:nvSpPr>
          <p:cNvPr id="7" name="Slide Number Placeholder 6">
            <a:extLst>
              <a:ext uri="{FF2B5EF4-FFF2-40B4-BE49-F238E27FC236}">
                <a16:creationId xmlns:a16="http://schemas.microsoft.com/office/drawing/2014/main" id="{DC4BA101-A35E-647D-057E-D7F2DE3C6E05}"/>
              </a:ext>
            </a:extLst>
          </p:cNvPr>
          <p:cNvSpPr>
            <a:spLocks noGrp="1"/>
          </p:cNvSpPr>
          <p:nvPr>
            <p:ph type="sldNum" sz="quarter" idx="12"/>
          </p:nvPr>
        </p:nvSpPr>
        <p:spPr/>
        <p:txBody>
          <a:bodyPr/>
          <a:lstStyle/>
          <a:p>
            <a:fld id="{6675BFCB-789E-5945-84C6-0973649846BB}" type="slidenum">
              <a:rPr lang="en-US" smtClean="0"/>
              <a:t>‹#›</a:t>
            </a:fld>
            <a:endParaRPr lang="en-US"/>
          </a:p>
        </p:txBody>
      </p:sp>
    </p:spTree>
    <p:extLst>
      <p:ext uri="{BB962C8B-B14F-4D97-AF65-F5344CB8AC3E}">
        <p14:creationId xmlns:p14="http://schemas.microsoft.com/office/powerpoint/2010/main" val="36406731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5D7939-454F-026A-9031-D6AAA3CF35FA}"/>
              </a:ext>
            </a:extLst>
          </p:cNvPr>
          <p:cNvSpPr>
            <a:spLocks noGrp="1"/>
          </p:cNvSpPr>
          <p:nvPr>
            <p:ph type="title"/>
          </p:nvPr>
        </p:nvSpPr>
        <p:spPr>
          <a:xfrm>
            <a:off x="839788" y="365125"/>
            <a:ext cx="10515600" cy="1325563"/>
          </a:xfrm>
        </p:spPr>
        <p:txBody>
          <a:bodyPr/>
          <a:lstStyle/>
          <a:p>
            <a:r>
              <a:rPr lang="en-US"/>
              <a:t>Click to edit Master title style</a:t>
            </a:r>
            <a:endParaRPr lang="en-JP"/>
          </a:p>
        </p:txBody>
      </p:sp>
      <p:sp>
        <p:nvSpPr>
          <p:cNvPr id="3" name="Text Placeholder 2">
            <a:extLst>
              <a:ext uri="{FF2B5EF4-FFF2-40B4-BE49-F238E27FC236}">
                <a16:creationId xmlns:a16="http://schemas.microsoft.com/office/drawing/2014/main" id="{A1BF62F9-5A51-26E9-4613-BDF2D9EAB66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0E0A77B-0D09-D402-BBC1-273D0939CF8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5" name="Text Placeholder 4">
            <a:extLst>
              <a:ext uri="{FF2B5EF4-FFF2-40B4-BE49-F238E27FC236}">
                <a16:creationId xmlns:a16="http://schemas.microsoft.com/office/drawing/2014/main" id="{0F2ADC7B-0470-F70A-0079-AF813F1F0AD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9AE8934-7960-3CB0-238F-1CAB24AA6EF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7" name="Date Placeholder 6">
            <a:extLst>
              <a:ext uri="{FF2B5EF4-FFF2-40B4-BE49-F238E27FC236}">
                <a16:creationId xmlns:a16="http://schemas.microsoft.com/office/drawing/2014/main" id="{CFC1426C-F638-A5DF-28DC-A5BCFD661410}"/>
              </a:ext>
            </a:extLst>
          </p:cNvPr>
          <p:cNvSpPr>
            <a:spLocks noGrp="1"/>
          </p:cNvSpPr>
          <p:nvPr>
            <p:ph type="dt" sz="half" idx="10"/>
          </p:nvPr>
        </p:nvSpPr>
        <p:spPr/>
        <p:txBody>
          <a:bodyPr/>
          <a:lstStyle/>
          <a:p>
            <a:r>
              <a:rPr lang="en-US" altLang="ja-JP"/>
              <a:t>2024/2/5</a:t>
            </a:r>
            <a:endParaRPr lang="en-US"/>
          </a:p>
        </p:txBody>
      </p:sp>
      <p:sp>
        <p:nvSpPr>
          <p:cNvPr id="8" name="Footer Placeholder 7">
            <a:extLst>
              <a:ext uri="{FF2B5EF4-FFF2-40B4-BE49-F238E27FC236}">
                <a16:creationId xmlns:a16="http://schemas.microsoft.com/office/drawing/2014/main" id="{DD172CF9-6766-A495-A978-7C55BECF96BC}"/>
              </a:ext>
            </a:extLst>
          </p:cNvPr>
          <p:cNvSpPr>
            <a:spLocks noGrp="1"/>
          </p:cNvSpPr>
          <p:nvPr>
            <p:ph type="ftr" sz="quarter" idx="11"/>
          </p:nvPr>
        </p:nvSpPr>
        <p:spPr/>
        <p:txBody>
          <a:bodyPr/>
          <a:lstStyle/>
          <a:p>
            <a:r>
              <a:rPr lang="fi-FI"/>
              <a:t>Shuhei Tsuriya @ Sakurai Lab.</a:t>
            </a:r>
            <a:endParaRPr lang="en-US"/>
          </a:p>
        </p:txBody>
      </p:sp>
      <p:sp>
        <p:nvSpPr>
          <p:cNvPr id="9" name="Slide Number Placeholder 8">
            <a:extLst>
              <a:ext uri="{FF2B5EF4-FFF2-40B4-BE49-F238E27FC236}">
                <a16:creationId xmlns:a16="http://schemas.microsoft.com/office/drawing/2014/main" id="{D071B134-4A2A-1F32-77E8-40AF7ABE5A89}"/>
              </a:ext>
            </a:extLst>
          </p:cNvPr>
          <p:cNvSpPr>
            <a:spLocks noGrp="1"/>
          </p:cNvSpPr>
          <p:nvPr>
            <p:ph type="sldNum" sz="quarter" idx="12"/>
          </p:nvPr>
        </p:nvSpPr>
        <p:spPr/>
        <p:txBody>
          <a:bodyPr/>
          <a:lstStyle/>
          <a:p>
            <a:fld id="{6675BFCB-789E-5945-84C6-0973649846BB}" type="slidenum">
              <a:rPr lang="en-US" smtClean="0"/>
              <a:t>‹#›</a:t>
            </a:fld>
            <a:endParaRPr lang="en-US"/>
          </a:p>
        </p:txBody>
      </p:sp>
    </p:spTree>
    <p:extLst>
      <p:ext uri="{BB962C8B-B14F-4D97-AF65-F5344CB8AC3E}">
        <p14:creationId xmlns:p14="http://schemas.microsoft.com/office/powerpoint/2010/main" val="10091523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04B91A-2FAA-E196-050E-50564BCB6DFD}"/>
              </a:ext>
            </a:extLst>
          </p:cNvPr>
          <p:cNvSpPr>
            <a:spLocks noGrp="1"/>
          </p:cNvSpPr>
          <p:nvPr>
            <p:ph type="title"/>
          </p:nvPr>
        </p:nvSpPr>
        <p:spPr/>
        <p:txBody>
          <a:bodyPr/>
          <a:lstStyle/>
          <a:p>
            <a:r>
              <a:rPr lang="en-US"/>
              <a:t>Click to edit Master title style</a:t>
            </a:r>
            <a:endParaRPr lang="en-JP"/>
          </a:p>
        </p:txBody>
      </p:sp>
      <p:sp>
        <p:nvSpPr>
          <p:cNvPr id="3" name="Date Placeholder 2">
            <a:extLst>
              <a:ext uri="{FF2B5EF4-FFF2-40B4-BE49-F238E27FC236}">
                <a16:creationId xmlns:a16="http://schemas.microsoft.com/office/drawing/2014/main" id="{1785B61A-B02F-DCDD-FF94-FAEAFFAEB4CB}"/>
              </a:ext>
            </a:extLst>
          </p:cNvPr>
          <p:cNvSpPr>
            <a:spLocks noGrp="1"/>
          </p:cNvSpPr>
          <p:nvPr>
            <p:ph type="dt" sz="half" idx="10"/>
          </p:nvPr>
        </p:nvSpPr>
        <p:spPr/>
        <p:txBody>
          <a:bodyPr/>
          <a:lstStyle/>
          <a:p>
            <a:r>
              <a:rPr lang="en-US" altLang="ja-JP"/>
              <a:t>2024/2/5</a:t>
            </a:r>
            <a:endParaRPr lang="en-US"/>
          </a:p>
        </p:txBody>
      </p:sp>
      <p:sp>
        <p:nvSpPr>
          <p:cNvPr id="4" name="Footer Placeholder 3">
            <a:extLst>
              <a:ext uri="{FF2B5EF4-FFF2-40B4-BE49-F238E27FC236}">
                <a16:creationId xmlns:a16="http://schemas.microsoft.com/office/drawing/2014/main" id="{DEB054B4-E882-D528-F2EB-5F922958C2F4}"/>
              </a:ext>
            </a:extLst>
          </p:cNvPr>
          <p:cNvSpPr>
            <a:spLocks noGrp="1"/>
          </p:cNvSpPr>
          <p:nvPr>
            <p:ph type="ftr" sz="quarter" idx="11"/>
          </p:nvPr>
        </p:nvSpPr>
        <p:spPr/>
        <p:txBody>
          <a:bodyPr/>
          <a:lstStyle/>
          <a:p>
            <a:r>
              <a:rPr lang="fi-FI"/>
              <a:t>Shuhei Tsuriya @ Sakurai Lab.</a:t>
            </a:r>
            <a:endParaRPr lang="en-US"/>
          </a:p>
        </p:txBody>
      </p:sp>
      <p:sp>
        <p:nvSpPr>
          <p:cNvPr id="5" name="Slide Number Placeholder 4">
            <a:extLst>
              <a:ext uri="{FF2B5EF4-FFF2-40B4-BE49-F238E27FC236}">
                <a16:creationId xmlns:a16="http://schemas.microsoft.com/office/drawing/2014/main" id="{8785CF20-EB01-DCC9-816B-A011A1B69511}"/>
              </a:ext>
            </a:extLst>
          </p:cNvPr>
          <p:cNvSpPr>
            <a:spLocks noGrp="1"/>
          </p:cNvSpPr>
          <p:nvPr>
            <p:ph type="sldNum" sz="quarter" idx="12"/>
          </p:nvPr>
        </p:nvSpPr>
        <p:spPr/>
        <p:txBody>
          <a:bodyPr/>
          <a:lstStyle/>
          <a:p>
            <a:fld id="{6675BFCB-789E-5945-84C6-0973649846BB}" type="slidenum">
              <a:rPr lang="en-US" smtClean="0"/>
              <a:t>‹#›</a:t>
            </a:fld>
            <a:endParaRPr lang="en-US"/>
          </a:p>
        </p:txBody>
      </p:sp>
    </p:spTree>
    <p:extLst>
      <p:ext uri="{BB962C8B-B14F-4D97-AF65-F5344CB8AC3E}">
        <p14:creationId xmlns:p14="http://schemas.microsoft.com/office/powerpoint/2010/main" val="6584994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9E76239-139B-6F5A-C3E8-2D01E4DBBC67}"/>
              </a:ext>
            </a:extLst>
          </p:cNvPr>
          <p:cNvSpPr>
            <a:spLocks noGrp="1"/>
          </p:cNvSpPr>
          <p:nvPr>
            <p:ph type="dt" sz="half" idx="10"/>
          </p:nvPr>
        </p:nvSpPr>
        <p:spPr/>
        <p:txBody>
          <a:bodyPr/>
          <a:lstStyle/>
          <a:p>
            <a:r>
              <a:rPr lang="en-US" altLang="ja-JP"/>
              <a:t>2024/2/5</a:t>
            </a:r>
            <a:endParaRPr lang="en-US"/>
          </a:p>
        </p:txBody>
      </p:sp>
      <p:sp>
        <p:nvSpPr>
          <p:cNvPr id="3" name="Footer Placeholder 2">
            <a:extLst>
              <a:ext uri="{FF2B5EF4-FFF2-40B4-BE49-F238E27FC236}">
                <a16:creationId xmlns:a16="http://schemas.microsoft.com/office/drawing/2014/main" id="{BB15ABCE-B2BE-FBB3-3312-6320ACC29416}"/>
              </a:ext>
            </a:extLst>
          </p:cNvPr>
          <p:cNvSpPr>
            <a:spLocks noGrp="1"/>
          </p:cNvSpPr>
          <p:nvPr>
            <p:ph type="ftr" sz="quarter" idx="11"/>
          </p:nvPr>
        </p:nvSpPr>
        <p:spPr/>
        <p:txBody>
          <a:bodyPr/>
          <a:lstStyle/>
          <a:p>
            <a:r>
              <a:rPr lang="fi-FI"/>
              <a:t>Shuhei Tsuriya @ Sakurai Lab.</a:t>
            </a:r>
            <a:endParaRPr lang="en-US"/>
          </a:p>
        </p:txBody>
      </p:sp>
      <p:sp>
        <p:nvSpPr>
          <p:cNvPr id="4" name="Slide Number Placeholder 3">
            <a:extLst>
              <a:ext uri="{FF2B5EF4-FFF2-40B4-BE49-F238E27FC236}">
                <a16:creationId xmlns:a16="http://schemas.microsoft.com/office/drawing/2014/main" id="{EB1A2740-473B-25DA-8F48-D6ED74085708}"/>
              </a:ext>
            </a:extLst>
          </p:cNvPr>
          <p:cNvSpPr>
            <a:spLocks noGrp="1"/>
          </p:cNvSpPr>
          <p:nvPr>
            <p:ph type="sldNum" sz="quarter" idx="12"/>
          </p:nvPr>
        </p:nvSpPr>
        <p:spPr/>
        <p:txBody>
          <a:bodyPr/>
          <a:lstStyle/>
          <a:p>
            <a:fld id="{6675BFCB-789E-5945-84C6-0973649846BB}" type="slidenum">
              <a:rPr lang="en-US" smtClean="0"/>
              <a:t>‹#›</a:t>
            </a:fld>
            <a:endParaRPr lang="en-US"/>
          </a:p>
        </p:txBody>
      </p:sp>
    </p:spTree>
    <p:extLst>
      <p:ext uri="{BB962C8B-B14F-4D97-AF65-F5344CB8AC3E}">
        <p14:creationId xmlns:p14="http://schemas.microsoft.com/office/powerpoint/2010/main" val="24667195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D37649-DC09-1E06-E942-CBDCAEC36DE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JP"/>
          </a:p>
        </p:txBody>
      </p:sp>
      <p:sp>
        <p:nvSpPr>
          <p:cNvPr id="3" name="Content Placeholder 2">
            <a:extLst>
              <a:ext uri="{FF2B5EF4-FFF2-40B4-BE49-F238E27FC236}">
                <a16:creationId xmlns:a16="http://schemas.microsoft.com/office/drawing/2014/main" id="{86517C4F-F399-9D6B-D2D4-8E2543F0F79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4" name="Text Placeholder 3">
            <a:extLst>
              <a:ext uri="{FF2B5EF4-FFF2-40B4-BE49-F238E27FC236}">
                <a16:creationId xmlns:a16="http://schemas.microsoft.com/office/drawing/2014/main" id="{6A78294A-0CCA-F452-DC4F-35BCC611177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881952A-4EA8-BB77-9DCC-0EBBC233634E}"/>
              </a:ext>
            </a:extLst>
          </p:cNvPr>
          <p:cNvSpPr>
            <a:spLocks noGrp="1"/>
          </p:cNvSpPr>
          <p:nvPr>
            <p:ph type="dt" sz="half" idx="10"/>
          </p:nvPr>
        </p:nvSpPr>
        <p:spPr/>
        <p:txBody>
          <a:bodyPr/>
          <a:lstStyle/>
          <a:p>
            <a:r>
              <a:rPr lang="en-US" altLang="ja-JP"/>
              <a:t>2024/2/5</a:t>
            </a:r>
            <a:endParaRPr lang="en-US"/>
          </a:p>
        </p:txBody>
      </p:sp>
      <p:sp>
        <p:nvSpPr>
          <p:cNvPr id="6" name="Footer Placeholder 5">
            <a:extLst>
              <a:ext uri="{FF2B5EF4-FFF2-40B4-BE49-F238E27FC236}">
                <a16:creationId xmlns:a16="http://schemas.microsoft.com/office/drawing/2014/main" id="{94CC88E1-15A3-EBF4-7618-700EAAAF1FFA}"/>
              </a:ext>
            </a:extLst>
          </p:cNvPr>
          <p:cNvSpPr>
            <a:spLocks noGrp="1"/>
          </p:cNvSpPr>
          <p:nvPr>
            <p:ph type="ftr" sz="quarter" idx="11"/>
          </p:nvPr>
        </p:nvSpPr>
        <p:spPr/>
        <p:txBody>
          <a:bodyPr/>
          <a:lstStyle/>
          <a:p>
            <a:r>
              <a:rPr lang="fi-FI"/>
              <a:t>Shuhei Tsuriya @ Sakurai Lab.</a:t>
            </a:r>
            <a:endParaRPr lang="en-US"/>
          </a:p>
        </p:txBody>
      </p:sp>
      <p:sp>
        <p:nvSpPr>
          <p:cNvPr id="7" name="Slide Number Placeholder 6">
            <a:extLst>
              <a:ext uri="{FF2B5EF4-FFF2-40B4-BE49-F238E27FC236}">
                <a16:creationId xmlns:a16="http://schemas.microsoft.com/office/drawing/2014/main" id="{5E58E02A-3C3B-347D-C61D-3D5D1C84DEEA}"/>
              </a:ext>
            </a:extLst>
          </p:cNvPr>
          <p:cNvSpPr>
            <a:spLocks noGrp="1"/>
          </p:cNvSpPr>
          <p:nvPr>
            <p:ph type="sldNum" sz="quarter" idx="12"/>
          </p:nvPr>
        </p:nvSpPr>
        <p:spPr/>
        <p:txBody>
          <a:bodyPr/>
          <a:lstStyle/>
          <a:p>
            <a:fld id="{6675BFCB-789E-5945-84C6-0973649846BB}" type="slidenum">
              <a:rPr lang="en-US" smtClean="0"/>
              <a:t>‹#›</a:t>
            </a:fld>
            <a:endParaRPr lang="en-US"/>
          </a:p>
        </p:txBody>
      </p:sp>
    </p:spTree>
    <p:extLst>
      <p:ext uri="{BB962C8B-B14F-4D97-AF65-F5344CB8AC3E}">
        <p14:creationId xmlns:p14="http://schemas.microsoft.com/office/powerpoint/2010/main" val="18460252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DFCD7F-9B4E-17E0-D838-BE1C9CDCA20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JP"/>
          </a:p>
        </p:txBody>
      </p:sp>
      <p:sp>
        <p:nvSpPr>
          <p:cNvPr id="3" name="Picture Placeholder 2">
            <a:extLst>
              <a:ext uri="{FF2B5EF4-FFF2-40B4-BE49-F238E27FC236}">
                <a16:creationId xmlns:a16="http://schemas.microsoft.com/office/drawing/2014/main" id="{E0F10595-7957-7E31-3658-8B2ADA1E79F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JP"/>
          </a:p>
        </p:txBody>
      </p:sp>
      <p:sp>
        <p:nvSpPr>
          <p:cNvPr id="4" name="Text Placeholder 3">
            <a:extLst>
              <a:ext uri="{FF2B5EF4-FFF2-40B4-BE49-F238E27FC236}">
                <a16:creationId xmlns:a16="http://schemas.microsoft.com/office/drawing/2014/main" id="{9669F826-8F9F-7CCB-6A1F-9F5183E5CB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A953662-30B7-AF97-8D80-3076A955098E}"/>
              </a:ext>
            </a:extLst>
          </p:cNvPr>
          <p:cNvSpPr>
            <a:spLocks noGrp="1"/>
          </p:cNvSpPr>
          <p:nvPr>
            <p:ph type="dt" sz="half" idx="10"/>
          </p:nvPr>
        </p:nvSpPr>
        <p:spPr/>
        <p:txBody>
          <a:bodyPr/>
          <a:lstStyle/>
          <a:p>
            <a:r>
              <a:rPr lang="en-US" altLang="ja-JP"/>
              <a:t>2024/2/5</a:t>
            </a:r>
            <a:endParaRPr lang="en-US"/>
          </a:p>
        </p:txBody>
      </p:sp>
      <p:sp>
        <p:nvSpPr>
          <p:cNvPr id="6" name="Footer Placeholder 5">
            <a:extLst>
              <a:ext uri="{FF2B5EF4-FFF2-40B4-BE49-F238E27FC236}">
                <a16:creationId xmlns:a16="http://schemas.microsoft.com/office/drawing/2014/main" id="{6588EAD1-D1DB-048E-B810-00E3C945B20E}"/>
              </a:ext>
            </a:extLst>
          </p:cNvPr>
          <p:cNvSpPr>
            <a:spLocks noGrp="1"/>
          </p:cNvSpPr>
          <p:nvPr>
            <p:ph type="ftr" sz="quarter" idx="11"/>
          </p:nvPr>
        </p:nvSpPr>
        <p:spPr/>
        <p:txBody>
          <a:bodyPr/>
          <a:lstStyle/>
          <a:p>
            <a:r>
              <a:rPr lang="fi-FI"/>
              <a:t>Shuhei Tsuriya @ Sakurai Lab.</a:t>
            </a:r>
            <a:endParaRPr lang="en-US"/>
          </a:p>
        </p:txBody>
      </p:sp>
      <p:sp>
        <p:nvSpPr>
          <p:cNvPr id="7" name="Slide Number Placeholder 6">
            <a:extLst>
              <a:ext uri="{FF2B5EF4-FFF2-40B4-BE49-F238E27FC236}">
                <a16:creationId xmlns:a16="http://schemas.microsoft.com/office/drawing/2014/main" id="{B3FB484D-533B-027C-DE8C-83C9D7125543}"/>
              </a:ext>
            </a:extLst>
          </p:cNvPr>
          <p:cNvSpPr>
            <a:spLocks noGrp="1"/>
          </p:cNvSpPr>
          <p:nvPr>
            <p:ph type="sldNum" sz="quarter" idx="12"/>
          </p:nvPr>
        </p:nvSpPr>
        <p:spPr/>
        <p:txBody>
          <a:bodyPr/>
          <a:lstStyle/>
          <a:p>
            <a:fld id="{6675BFCB-789E-5945-84C6-0973649846BB}" type="slidenum">
              <a:rPr lang="en-US" smtClean="0"/>
              <a:t>‹#›</a:t>
            </a:fld>
            <a:endParaRPr lang="en-US"/>
          </a:p>
        </p:txBody>
      </p:sp>
    </p:spTree>
    <p:extLst>
      <p:ext uri="{BB962C8B-B14F-4D97-AF65-F5344CB8AC3E}">
        <p14:creationId xmlns:p14="http://schemas.microsoft.com/office/powerpoint/2010/main" val="36203730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9BED61-7CD9-8AA4-0AEB-3A4A95FC979C}"/>
              </a:ext>
            </a:extLst>
          </p:cNvPr>
          <p:cNvSpPr>
            <a:spLocks noGrp="1"/>
          </p:cNvSpPr>
          <p:nvPr>
            <p:ph type="title"/>
          </p:nvPr>
        </p:nvSpPr>
        <p:spPr/>
        <p:txBody>
          <a:bodyPr/>
          <a:lstStyle/>
          <a:p>
            <a:r>
              <a:rPr lang="en-US"/>
              <a:t>Click to edit Master title style</a:t>
            </a:r>
            <a:endParaRPr lang="en-JP"/>
          </a:p>
        </p:txBody>
      </p:sp>
      <p:sp>
        <p:nvSpPr>
          <p:cNvPr id="3" name="Vertical Text Placeholder 2">
            <a:extLst>
              <a:ext uri="{FF2B5EF4-FFF2-40B4-BE49-F238E27FC236}">
                <a16:creationId xmlns:a16="http://schemas.microsoft.com/office/drawing/2014/main" id="{E1C022D8-C293-1A35-7A62-2BE32B94CEF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4" name="Date Placeholder 3">
            <a:extLst>
              <a:ext uri="{FF2B5EF4-FFF2-40B4-BE49-F238E27FC236}">
                <a16:creationId xmlns:a16="http://schemas.microsoft.com/office/drawing/2014/main" id="{BF4389B3-D2C8-7E3C-7EFB-A534536E02EF}"/>
              </a:ext>
            </a:extLst>
          </p:cNvPr>
          <p:cNvSpPr>
            <a:spLocks noGrp="1"/>
          </p:cNvSpPr>
          <p:nvPr>
            <p:ph type="dt" sz="half" idx="10"/>
          </p:nvPr>
        </p:nvSpPr>
        <p:spPr/>
        <p:txBody>
          <a:bodyPr/>
          <a:lstStyle/>
          <a:p>
            <a:r>
              <a:rPr lang="en-US" altLang="ja-JP"/>
              <a:t>2024/2/5</a:t>
            </a:r>
            <a:endParaRPr lang="en-US"/>
          </a:p>
        </p:txBody>
      </p:sp>
      <p:sp>
        <p:nvSpPr>
          <p:cNvPr id="5" name="Footer Placeholder 4">
            <a:extLst>
              <a:ext uri="{FF2B5EF4-FFF2-40B4-BE49-F238E27FC236}">
                <a16:creationId xmlns:a16="http://schemas.microsoft.com/office/drawing/2014/main" id="{662DB7F8-E4A6-545B-99BF-9FD68684DBA8}"/>
              </a:ext>
            </a:extLst>
          </p:cNvPr>
          <p:cNvSpPr>
            <a:spLocks noGrp="1"/>
          </p:cNvSpPr>
          <p:nvPr>
            <p:ph type="ftr" sz="quarter" idx="11"/>
          </p:nvPr>
        </p:nvSpPr>
        <p:spPr/>
        <p:txBody>
          <a:bodyPr/>
          <a:lstStyle/>
          <a:p>
            <a:r>
              <a:rPr lang="fi-FI"/>
              <a:t>Shuhei Tsuriya @ Sakurai Lab.</a:t>
            </a:r>
            <a:endParaRPr lang="en-US"/>
          </a:p>
        </p:txBody>
      </p:sp>
      <p:sp>
        <p:nvSpPr>
          <p:cNvPr id="6" name="Slide Number Placeholder 5">
            <a:extLst>
              <a:ext uri="{FF2B5EF4-FFF2-40B4-BE49-F238E27FC236}">
                <a16:creationId xmlns:a16="http://schemas.microsoft.com/office/drawing/2014/main" id="{BEBAE596-BAAA-B89D-F8F6-E0CE1F2AB4F2}"/>
              </a:ext>
            </a:extLst>
          </p:cNvPr>
          <p:cNvSpPr>
            <a:spLocks noGrp="1"/>
          </p:cNvSpPr>
          <p:nvPr>
            <p:ph type="sldNum" sz="quarter" idx="12"/>
          </p:nvPr>
        </p:nvSpPr>
        <p:spPr/>
        <p:txBody>
          <a:bodyPr/>
          <a:lstStyle/>
          <a:p>
            <a:fld id="{6675BFCB-789E-5945-84C6-0973649846BB}" type="slidenum">
              <a:rPr lang="en-US" smtClean="0"/>
              <a:t>‹#›</a:t>
            </a:fld>
            <a:endParaRPr lang="en-US"/>
          </a:p>
        </p:txBody>
      </p:sp>
    </p:spTree>
    <p:extLst>
      <p:ext uri="{BB962C8B-B14F-4D97-AF65-F5344CB8AC3E}">
        <p14:creationId xmlns:p14="http://schemas.microsoft.com/office/powerpoint/2010/main" val="37545803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5BFF6F6-2D54-5A21-4B43-0E9B73DCAC4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JP"/>
          </a:p>
        </p:txBody>
      </p:sp>
      <p:sp>
        <p:nvSpPr>
          <p:cNvPr id="3" name="Vertical Text Placeholder 2">
            <a:extLst>
              <a:ext uri="{FF2B5EF4-FFF2-40B4-BE49-F238E27FC236}">
                <a16:creationId xmlns:a16="http://schemas.microsoft.com/office/drawing/2014/main" id="{6758FBFE-F9BF-B5C9-B3B6-ECE49027E14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4" name="Date Placeholder 3">
            <a:extLst>
              <a:ext uri="{FF2B5EF4-FFF2-40B4-BE49-F238E27FC236}">
                <a16:creationId xmlns:a16="http://schemas.microsoft.com/office/drawing/2014/main" id="{9FAA7F52-F7C0-63FD-FB99-168E1721EAE8}"/>
              </a:ext>
            </a:extLst>
          </p:cNvPr>
          <p:cNvSpPr>
            <a:spLocks noGrp="1"/>
          </p:cNvSpPr>
          <p:nvPr>
            <p:ph type="dt" sz="half" idx="10"/>
          </p:nvPr>
        </p:nvSpPr>
        <p:spPr/>
        <p:txBody>
          <a:bodyPr/>
          <a:lstStyle/>
          <a:p>
            <a:r>
              <a:rPr lang="en-US" altLang="ja-JP"/>
              <a:t>2024/2/5</a:t>
            </a:r>
            <a:endParaRPr lang="en-US"/>
          </a:p>
        </p:txBody>
      </p:sp>
      <p:sp>
        <p:nvSpPr>
          <p:cNvPr id="5" name="Footer Placeholder 4">
            <a:extLst>
              <a:ext uri="{FF2B5EF4-FFF2-40B4-BE49-F238E27FC236}">
                <a16:creationId xmlns:a16="http://schemas.microsoft.com/office/drawing/2014/main" id="{5A11927D-6A51-60A6-BCEB-F02D7F15D1D4}"/>
              </a:ext>
            </a:extLst>
          </p:cNvPr>
          <p:cNvSpPr>
            <a:spLocks noGrp="1"/>
          </p:cNvSpPr>
          <p:nvPr>
            <p:ph type="ftr" sz="quarter" idx="11"/>
          </p:nvPr>
        </p:nvSpPr>
        <p:spPr/>
        <p:txBody>
          <a:bodyPr/>
          <a:lstStyle/>
          <a:p>
            <a:r>
              <a:rPr lang="fi-FI" altLang="ja-JP"/>
              <a:t>Shuhei Tsuriya @ Sakurai Lab.</a:t>
            </a:r>
            <a:endParaRPr lang="en-US" altLang="ja-JP"/>
          </a:p>
        </p:txBody>
      </p:sp>
      <p:sp>
        <p:nvSpPr>
          <p:cNvPr id="6" name="Slide Number Placeholder 5">
            <a:extLst>
              <a:ext uri="{FF2B5EF4-FFF2-40B4-BE49-F238E27FC236}">
                <a16:creationId xmlns:a16="http://schemas.microsoft.com/office/drawing/2014/main" id="{9B0E36A6-275E-4BEE-3EA9-42CA38F82C31}"/>
              </a:ext>
            </a:extLst>
          </p:cNvPr>
          <p:cNvSpPr>
            <a:spLocks noGrp="1"/>
          </p:cNvSpPr>
          <p:nvPr>
            <p:ph type="sldNum" sz="quarter" idx="12"/>
          </p:nvPr>
        </p:nvSpPr>
        <p:spPr/>
        <p:txBody>
          <a:bodyPr/>
          <a:lstStyle/>
          <a:p>
            <a:fld id="{6675BFCB-789E-5945-84C6-0973649846BB}" type="slidenum">
              <a:rPr lang="en-US" smtClean="0"/>
              <a:t>‹#›</a:t>
            </a:fld>
            <a:endParaRPr lang="en-US"/>
          </a:p>
        </p:txBody>
      </p:sp>
    </p:spTree>
    <p:extLst>
      <p:ext uri="{BB962C8B-B14F-4D97-AF65-F5344CB8AC3E}">
        <p14:creationId xmlns:p14="http://schemas.microsoft.com/office/powerpoint/2010/main" val="21195188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9866C5-5F9C-9323-3020-409E4659591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JP"/>
          </a:p>
        </p:txBody>
      </p:sp>
      <p:sp>
        <p:nvSpPr>
          <p:cNvPr id="3" name="Text Placeholder 2">
            <a:extLst>
              <a:ext uri="{FF2B5EF4-FFF2-40B4-BE49-F238E27FC236}">
                <a16:creationId xmlns:a16="http://schemas.microsoft.com/office/drawing/2014/main" id="{85E838A5-48A0-48FB-81DD-B1F4207DAE8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4" name="Date Placeholder 3">
            <a:extLst>
              <a:ext uri="{FF2B5EF4-FFF2-40B4-BE49-F238E27FC236}">
                <a16:creationId xmlns:a16="http://schemas.microsoft.com/office/drawing/2014/main" id="{73A8AA94-717C-48E3-9438-CD34B2395B5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Meiryo" panose="020B0604030504040204" pitchFamily="34" charset="-128"/>
                <a:ea typeface="Meiryo" panose="020B0604030504040204" pitchFamily="34" charset="-128"/>
              </a:defRPr>
            </a:lvl1pPr>
          </a:lstStyle>
          <a:p>
            <a:r>
              <a:rPr lang="en-US" dirty="0"/>
              <a:t>2025/2/7</a:t>
            </a:r>
            <a:endParaRPr lang="en-JP" dirty="0"/>
          </a:p>
        </p:txBody>
      </p:sp>
      <p:sp>
        <p:nvSpPr>
          <p:cNvPr id="5" name="Footer Placeholder 4">
            <a:extLst>
              <a:ext uri="{FF2B5EF4-FFF2-40B4-BE49-F238E27FC236}">
                <a16:creationId xmlns:a16="http://schemas.microsoft.com/office/drawing/2014/main" id="{019D3252-527D-9547-5091-641FF0740A4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Meiryo" panose="020B0604030504040204" pitchFamily="34" charset="-128"/>
                <a:ea typeface="Meiryo" panose="020B0604030504040204" pitchFamily="34" charset="-128"/>
              </a:defRPr>
            </a:lvl1pPr>
          </a:lstStyle>
          <a:p>
            <a:r>
              <a:rPr lang="en-US" dirty="0"/>
              <a:t>Tsubasa Kato@ Sakurai Lab.</a:t>
            </a:r>
            <a:endParaRPr lang="en-JP" dirty="0"/>
          </a:p>
        </p:txBody>
      </p:sp>
      <p:sp>
        <p:nvSpPr>
          <p:cNvPr id="6" name="Slide Number Placeholder 5">
            <a:extLst>
              <a:ext uri="{FF2B5EF4-FFF2-40B4-BE49-F238E27FC236}">
                <a16:creationId xmlns:a16="http://schemas.microsoft.com/office/drawing/2014/main" id="{F042E065-2DFA-EAFB-F4A0-EE2DD51CBB7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Meiryo" panose="020B0604030504040204" pitchFamily="34" charset="-128"/>
                <a:ea typeface="Meiryo" panose="020B0604030504040204" pitchFamily="34" charset="-128"/>
              </a:defRPr>
            </a:lvl1pPr>
          </a:lstStyle>
          <a:p>
            <a:fld id="{5C6576E5-3505-C843-AE90-C8DBFFB9CD51}" type="slidenum">
              <a:rPr lang="en-JP" smtClean="0"/>
              <a:pPr/>
              <a:t>‹#›</a:t>
            </a:fld>
            <a:endParaRPr lang="en-JP" dirty="0"/>
          </a:p>
        </p:txBody>
      </p:sp>
    </p:spTree>
    <p:extLst>
      <p:ext uri="{BB962C8B-B14F-4D97-AF65-F5344CB8AC3E}">
        <p14:creationId xmlns:p14="http://schemas.microsoft.com/office/powerpoint/2010/main" val="257121998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JP"/>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10.jpeg"/><Relationship Id="rId3" Type="http://schemas.openxmlformats.org/officeDocument/2006/relationships/image" Target="../media/image5.png"/><Relationship Id="rId7" Type="http://schemas.openxmlformats.org/officeDocument/2006/relationships/image" Target="../media/image9.jpeg"/><Relationship Id="rId12"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jpeg"/><Relationship Id="rId4" Type="http://schemas.openxmlformats.org/officeDocument/2006/relationships/image" Target="../media/image6.png"/><Relationship Id="rId9" Type="http://schemas.openxmlformats.org/officeDocument/2006/relationships/image" Target="../media/image11.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5.pn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25.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2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3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5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タイトル 1"/>
          <p:cNvSpPr>
            <a:spLocks noGrp="1"/>
          </p:cNvSpPr>
          <p:nvPr>
            <p:ph type="ctrTitle"/>
          </p:nvPr>
        </p:nvSpPr>
        <p:spPr>
          <a:xfrm>
            <a:off x="830545" y="1371600"/>
            <a:ext cx="10530909" cy="1926051"/>
          </a:xfrm>
        </p:spPr>
        <p:txBody>
          <a:bodyPr>
            <a:noAutofit/>
          </a:bodyPr>
          <a:lstStyle/>
          <a:p>
            <a:pPr algn="l"/>
            <a:r>
              <a:rPr kumimoji="1" lang="ja-JP" altLang="en-US" sz="4000" b="0">
                <a:solidFill>
                  <a:schemeClr val="tx1"/>
                </a:solidFill>
                <a:latin typeface="メイリオ"/>
                <a:ea typeface="メイリオ"/>
                <a:cs typeface="メイリオ"/>
              </a:rPr>
              <a:t>自己教師あり対照学習を活用した</a:t>
            </a:r>
            <a:br>
              <a:rPr kumimoji="1" lang="en-US" altLang="ja-JP" sz="4000" b="0" dirty="0">
                <a:solidFill>
                  <a:schemeClr val="tx1"/>
                </a:solidFill>
                <a:latin typeface="メイリオ"/>
                <a:ea typeface="メイリオ"/>
                <a:cs typeface="メイリオ"/>
              </a:rPr>
            </a:br>
            <a:r>
              <a:rPr kumimoji="1" lang="ja-JP" altLang="en-US" sz="4000" b="0">
                <a:solidFill>
                  <a:schemeClr val="tx1"/>
                </a:solidFill>
                <a:latin typeface="メイリオ"/>
                <a:ea typeface="メイリオ"/>
                <a:cs typeface="メイリオ"/>
              </a:rPr>
              <a:t>多変量時系列の部分セグメンテーション</a:t>
            </a:r>
            <a:endParaRPr kumimoji="1" lang="ja-JP" altLang="en-US" sz="4000" b="0" dirty="0">
              <a:solidFill>
                <a:schemeClr val="tx1"/>
              </a:solidFill>
              <a:latin typeface="メイリオ"/>
              <a:ea typeface="メイリオ"/>
              <a:cs typeface="メイリオ"/>
            </a:endParaRPr>
          </a:p>
        </p:txBody>
      </p:sp>
      <p:sp>
        <p:nvSpPr>
          <p:cNvPr id="12" name="サブタイトル 2"/>
          <p:cNvSpPr>
            <a:spLocks noGrp="1"/>
          </p:cNvSpPr>
          <p:nvPr>
            <p:ph type="subTitle" idx="1"/>
          </p:nvPr>
        </p:nvSpPr>
        <p:spPr>
          <a:xfrm>
            <a:off x="5791200" y="3733800"/>
            <a:ext cx="5943600" cy="1600195"/>
          </a:xfrm>
        </p:spPr>
        <p:txBody>
          <a:bodyPr>
            <a:noAutofit/>
          </a:bodyPr>
          <a:lstStyle/>
          <a:p>
            <a:pPr algn="l"/>
            <a:r>
              <a:rPr lang="ja-JP" altLang="en-US" sz="2800">
                <a:solidFill>
                  <a:schemeClr val="tx1">
                    <a:lumMod val="85000"/>
                    <a:lumOff val="15000"/>
                  </a:schemeClr>
                </a:solidFill>
                <a:latin typeface="メイリオ"/>
                <a:ea typeface="メイリオ"/>
                <a:cs typeface="メイリオ"/>
              </a:rPr>
              <a:t>加藤</a:t>
            </a:r>
            <a:r>
              <a:rPr lang="en-US" altLang="ja-JP" sz="2800" dirty="0">
                <a:solidFill>
                  <a:schemeClr val="tx1">
                    <a:lumMod val="85000"/>
                    <a:lumOff val="15000"/>
                  </a:schemeClr>
                </a:solidFill>
                <a:latin typeface="メイリオ"/>
                <a:ea typeface="メイリオ"/>
                <a:cs typeface="メイリオ"/>
              </a:rPr>
              <a:t> </a:t>
            </a:r>
            <a:r>
              <a:rPr lang="ja-JP" altLang="en-US" sz="2800">
                <a:solidFill>
                  <a:schemeClr val="tx1">
                    <a:lumMod val="85000"/>
                    <a:lumOff val="15000"/>
                  </a:schemeClr>
                </a:solidFill>
                <a:latin typeface="メイリオ"/>
                <a:ea typeface="メイリオ"/>
                <a:cs typeface="メイリオ"/>
              </a:rPr>
              <a:t>翼</a:t>
            </a:r>
            <a:r>
              <a:rPr lang="en-US" altLang="ja-JP" sz="2800" dirty="0">
                <a:solidFill>
                  <a:schemeClr val="tx1">
                    <a:lumMod val="85000"/>
                    <a:lumOff val="15000"/>
                  </a:schemeClr>
                </a:solidFill>
                <a:latin typeface="メイリオ"/>
                <a:ea typeface="メイリオ"/>
                <a:cs typeface="メイリオ"/>
              </a:rPr>
              <a:t>, </a:t>
            </a:r>
            <a:r>
              <a:rPr lang="ja-JP" altLang="en-US" sz="2800">
                <a:solidFill>
                  <a:schemeClr val="tx1">
                    <a:lumMod val="85000"/>
                    <a:lumOff val="15000"/>
                  </a:schemeClr>
                </a:solidFill>
                <a:latin typeface="メイリオ"/>
                <a:ea typeface="メイリオ"/>
                <a:cs typeface="メイリオ"/>
              </a:rPr>
              <a:t>松原 靖子</a:t>
            </a:r>
            <a:r>
              <a:rPr lang="en-US" altLang="ja-JP" sz="2800" dirty="0">
                <a:solidFill>
                  <a:schemeClr val="tx1">
                    <a:lumMod val="85000"/>
                    <a:lumOff val="15000"/>
                  </a:schemeClr>
                </a:solidFill>
                <a:latin typeface="メイリオ"/>
                <a:ea typeface="メイリオ"/>
                <a:cs typeface="メイリオ"/>
              </a:rPr>
              <a:t>, </a:t>
            </a:r>
            <a:r>
              <a:rPr lang="ja-JP" altLang="en-US" sz="2800">
                <a:solidFill>
                  <a:schemeClr val="tx1">
                    <a:lumMod val="85000"/>
                    <a:lumOff val="15000"/>
                  </a:schemeClr>
                </a:solidFill>
                <a:latin typeface="メイリオ"/>
                <a:ea typeface="メイリオ"/>
                <a:cs typeface="メイリオ"/>
              </a:rPr>
              <a:t>櫻井 保志　</a:t>
            </a:r>
            <a:br>
              <a:rPr lang="en-US" altLang="ja-JP" sz="2800" dirty="0">
                <a:solidFill>
                  <a:schemeClr val="tx1">
                    <a:lumMod val="85000"/>
                    <a:lumOff val="15000"/>
                  </a:schemeClr>
                </a:solidFill>
                <a:latin typeface="メイリオ"/>
                <a:ea typeface="メイリオ"/>
                <a:cs typeface="メイリオ"/>
              </a:rPr>
            </a:br>
            <a:r>
              <a:rPr lang="ja-JP" altLang="en-US" sz="2800">
                <a:solidFill>
                  <a:schemeClr val="tx1">
                    <a:lumMod val="85000"/>
                    <a:lumOff val="15000"/>
                  </a:schemeClr>
                </a:solidFill>
                <a:latin typeface="メイリオ"/>
                <a:ea typeface="メイリオ"/>
                <a:cs typeface="メイリオ"/>
              </a:rPr>
              <a:t>大阪大学大学院情報科学研究科</a:t>
            </a:r>
            <a:endParaRPr lang="en-US" altLang="ja-JP" sz="2800" dirty="0">
              <a:solidFill>
                <a:schemeClr val="tx1">
                  <a:lumMod val="85000"/>
                  <a:lumOff val="15000"/>
                </a:schemeClr>
              </a:solidFill>
              <a:latin typeface="メイリオ"/>
              <a:ea typeface="メイリオ"/>
              <a:cs typeface="メイリオ"/>
            </a:endParaRPr>
          </a:p>
          <a:p>
            <a:pPr algn="l"/>
            <a:r>
              <a:rPr lang="ja-JP" altLang="en-US" sz="2800">
                <a:solidFill>
                  <a:schemeClr val="tx1">
                    <a:lumMod val="85000"/>
                    <a:lumOff val="15000"/>
                  </a:schemeClr>
                </a:solidFill>
                <a:latin typeface="メイリオ"/>
                <a:ea typeface="メイリオ"/>
                <a:cs typeface="メイリオ"/>
              </a:rPr>
              <a:t>産業科学研究所</a:t>
            </a:r>
            <a:endParaRPr lang="en-US" altLang="ja-JP" sz="2800" dirty="0">
              <a:solidFill>
                <a:schemeClr val="tx1">
                  <a:lumMod val="85000"/>
                  <a:lumOff val="15000"/>
                </a:schemeClr>
              </a:solidFill>
              <a:latin typeface="メイリオ"/>
              <a:ea typeface="メイリオ"/>
              <a:cs typeface="メイリオ"/>
            </a:endParaRPr>
          </a:p>
        </p:txBody>
      </p:sp>
      <p:cxnSp>
        <p:nvCxnSpPr>
          <p:cNvPr id="19" name="直線コネクタ 7"/>
          <p:cNvCxnSpPr>
            <a:cxnSpLocks/>
          </p:cNvCxnSpPr>
          <p:nvPr/>
        </p:nvCxnSpPr>
        <p:spPr>
          <a:xfrm>
            <a:off x="899091" y="3297651"/>
            <a:ext cx="10226109" cy="0"/>
          </a:xfrm>
          <a:prstGeom prst="line">
            <a:avLst/>
          </a:prstGeom>
          <a:ln w="28575" cmpd="sng">
            <a:solidFill>
              <a:schemeClr val="accent1"/>
            </a:solidFill>
          </a:ln>
        </p:spPr>
        <p:style>
          <a:lnRef idx="1">
            <a:schemeClr val="accent2"/>
          </a:lnRef>
          <a:fillRef idx="0">
            <a:schemeClr val="accent2"/>
          </a:fillRef>
          <a:effectRef idx="0">
            <a:schemeClr val="accent2"/>
          </a:effectRef>
          <a:fontRef idx="minor">
            <a:schemeClr val="tx1"/>
          </a:fontRef>
        </p:style>
      </p:cxnSp>
      <p:pic>
        <p:nvPicPr>
          <p:cNvPr id="6" name="Picture 5">
            <a:extLst>
              <a:ext uri="{FF2B5EF4-FFF2-40B4-BE49-F238E27FC236}">
                <a16:creationId xmlns:a16="http://schemas.microsoft.com/office/drawing/2014/main" id="{0679C0C5-EE26-794F-916F-F93AC69624E7}"/>
              </a:ext>
            </a:extLst>
          </p:cNvPr>
          <p:cNvPicPr>
            <a:picLocks noChangeAspect="1"/>
          </p:cNvPicPr>
          <p:nvPr/>
        </p:nvPicPr>
        <p:blipFill>
          <a:blip r:embed="rId3"/>
          <a:stretch>
            <a:fillRect/>
          </a:stretch>
        </p:blipFill>
        <p:spPr>
          <a:xfrm>
            <a:off x="211908" y="310631"/>
            <a:ext cx="1433403" cy="1207775"/>
          </a:xfrm>
          <a:prstGeom prst="rect">
            <a:avLst/>
          </a:prstGeom>
        </p:spPr>
      </p:pic>
      <p:pic>
        <p:nvPicPr>
          <p:cNvPr id="13" name="図 12">
            <a:extLst>
              <a:ext uri="{FF2B5EF4-FFF2-40B4-BE49-F238E27FC236}">
                <a16:creationId xmlns:a16="http://schemas.microsoft.com/office/drawing/2014/main" id="{232EB534-96B6-C64F-B812-84492868E65E}"/>
              </a:ext>
            </a:extLst>
          </p:cNvPr>
          <p:cNvPicPr>
            <a:picLocks noChangeAspect="1"/>
          </p:cNvPicPr>
          <p:nvPr/>
        </p:nvPicPr>
        <p:blipFill rotWithShape="1">
          <a:blip r:embed="rId4"/>
          <a:srcRect l="-3186" r="71398"/>
          <a:stretch/>
        </p:blipFill>
        <p:spPr>
          <a:xfrm>
            <a:off x="3596115" y="484553"/>
            <a:ext cx="911160" cy="859930"/>
          </a:xfrm>
          <a:prstGeom prst="rect">
            <a:avLst/>
          </a:prstGeom>
        </p:spPr>
      </p:pic>
      <p:pic>
        <p:nvPicPr>
          <p:cNvPr id="5" name="Graphic 4">
            <a:extLst>
              <a:ext uri="{FF2B5EF4-FFF2-40B4-BE49-F238E27FC236}">
                <a16:creationId xmlns:a16="http://schemas.microsoft.com/office/drawing/2014/main" id="{DC2AE8F6-C7F2-2DF1-5AFB-56689E50C09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896891" y="146225"/>
            <a:ext cx="1447644" cy="1499759"/>
          </a:xfrm>
          <a:prstGeom prst="rect">
            <a:avLst/>
          </a:prstGeom>
        </p:spPr>
      </p:pic>
      <p:sp>
        <p:nvSpPr>
          <p:cNvPr id="2" name="テキスト ボックス 1">
            <a:extLst>
              <a:ext uri="{FF2B5EF4-FFF2-40B4-BE49-F238E27FC236}">
                <a16:creationId xmlns:a16="http://schemas.microsoft.com/office/drawing/2014/main" id="{4ECB0DB1-21FE-AB66-92E9-E5C468B2D85A}"/>
              </a:ext>
            </a:extLst>
          </p:cNvPr>
          <p:cNvSpPr txBox="1"/>
          <p:nvPr/>
        </p:nvSpPr>
        <p:spPr>
          <a:xfrm>
            <a:off x="899091" y="3733801"/>
            <a:ext cx="4587309" cy="861774"/>
          </a:xfrm>
          <a:prstGeom prst="rect">
            <a:avLst/>
          </a:prstGeom>
          <a:noFill/>
        </p:spPr>
        <p:txBody>
          <a:bodyPr wrap="square" rtlCol="0">
            <a:spAutoFit/>
          </a:bodyPr>
          <a:lstStyle/>
          <a:p>
            <a:r>
              <a:rPr kumimoji="1" lang="en-US" altLang="ja-JP" sz="2500" dirty="0">
                <a:latin typeface="Meiryo" panose="020B0604030504040204" pitchFamily="34" charset="-128"/>
                <a:ea typeface="Meiryo" panose="020B0604030504040204" pitchFamily="34" charset="-128"/>
              </a:rPr>
              <a:t>DEIM2025</a:t>
            </a:r>
          </a:p>
          <a:p>
            <a:r>
              <a:rPr kumimoji="1" lang="ja-JP" altLang="en-US" sz="2500">
                <a:latin typeface="Meiryo" panose="020B0604030504040204" pitchFamily="34" charset="-128"/>
                <a:ea typeface="Meiryo" panose="020B0604030504040204" pitchFamily="34" charset="-128"/>
              </a:rPr>
              <a:t>発表</a:t>
            </a:r>
            <a:r>
              <a:rPr kumimoji="1" lang="en-US" altLang="ja-JP" sz="2500" dirty="0">
                <a:latin typeface="Meiryo" panose="020B0604030504040204" pitchFamily="34" charset="-128"/>
                <a:ea typeface="Meiryo" panose="020B0604030504040204" pitchFamily="34" charset="-128"/>
              </a:rPr>
              <a:t>ID</a:t>
            </a:r>
            <a:r>
              <a:rPr kumimoji="1" lang="ja-JP" altLang="en-US" sz="2500">
                <a:latin typeface="Meiryo" panose="020B0604030504040204" pitchFamily="34" charset="-128"/>
                <a:ea typeface="Meiryo" panose="020B0604030504040204" pitchFamily="34" charset="-128"/>
              </a:rPr>
              <a:t>：</a:t>
            </a:r>
            <a:r>
              <a:rPr kumimoji="1" lang="en-US" altLang="ja-JP" sz="2500" dirty="0">
                <a:latin typeface="Meiryo" panose="020B0604030504040204" pitchFamily="34" charset="-128"/>
                <a:ea typeface="Meiryo" panose="020B0604030504040204" pitchFamily="34" charset="-128"/>
              </a:rPr>
              <a:t>1D-03</a:t>
            </a:r>
            <a:endParaRPr kumimoji="1" lang="ja-JP" altLang="en-US" sz="2500">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24815763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73F43FC-D398-AC44-8566-8C5A8625A3F8}"/>
              </a:ext>
            </a:extLst>
          </p:cNvPr>
          <p:cNvSpPr>
            <a:spLocks noGrp="1"/>
          </p:cNvSpPr>
          <p:nvPr>
            <p:ph type="title"/>
          </p:nvPr>
        </p:nvSpPr>
        <p:spPr>
          <a:xfrm>
            <a:off x="548268" y="284244"/>
            <a:ext cx="10515600" cy="727695"/>
          </a:xfrm>
        </p:spPr>
        <p:txBody>
          <a:bodyPr>
            <a:normAutofit/>
          </a:bodyPr>
          <a:lstStyle/>
          <a:p>
            <a:pPr algn="l"/>
            <a:r>
              <a:rPr lang="ja-JP" altLang="en-US" sz="3200" b="0">
                <a:solidFill>
                  <a:schemeClr val="tx1"/>
                </a:solidFill>
                <a:latin typeface="Meiryo" panose="020B0604030504040204" pitchFamily="34" charset="-128"/>
                <a:ea typeface="Meiryo" panose="020B0604030504040204" pitchFamily="34" charset="-128"/>
              </a:rPr>
              <a:t>目次</a:t>
            </a:r>
            <a:endParaRPr kumimoji="1" lang="ja-JP" altLang="en-US" sz="3200" b="0">
              <a:solidFill>
                <a:schemeClr val="tx1"/>
              </a:solidFill>
              <a:latin typeface="Meiryo" panose="020B0604030504040204" pitchFamily="34" charset="-128"/>
              <a:ea typeface="Meiryo" panose="020B0604030504040204" pitchFamily="34" charset="-128"/>
            </a:endParaRPr>
          </a:p>
        </p:txBody>
      </p:sp>
      <p:sp>
        <p:nvSpPr>
          <p:cNvPr id="3" name="コンテンツ プレースホルダー 2">
            <a:extLst>
              <a:ext uri="{FF2B5EF4-FFF2-40B4-BE49-F238E27FC236}">
                <a16:creationId xmlns:a16="http://schemas.microsoft.com/office/drawing/2014/main" id="{C9EF43C5-3BF4-1245-8E9B-EF744E11B7DF}"/>
              </a:ext>
            </a:extLst>
          </p:cNvPr>
          <p:cNvSpPr>
            <a:spLocks noGrp="1"/>
          </p:cNvSpPr>
          <p:nvPr>
            <p:ph idx="1"/>
          </p:nvPr>
        </p:nvSpPr>
        <p:spPr>
          <a:xfrm>
            <a:off x="548267" y="1156551"/>
            <a:ext cx="10939539" cy="5015648"/>
          </a:xfrm>
          <a:ln>
            <a:noFill/>
          </a:ln>
        </p:spPr>
        <p:txBody>
          <a:bodyPr>
            <a:normAutofit/>
          </a:bodyPr>
          <a:lstStyle/>
          <a:p>
            <a:pPr marL="514350" indent="-514350">
              <a:buFont typeface="+mj-lt"/>
              <a:buAutoNum type="arabicPeriod"/>
            </a:pPr>
            <a:r>
              <a:rPr lang="ja-JP" altLang="en-US" sz="2800" b="1">
                <a:solidFill>
                  <a:schemeClr val="accent1"/>
                </a:solidFill>
                <a:latin typeface="Meiryo" panose="020B0604030504040204" pitchFamily="34" charset="-128"/>
                <a:ea typeface="Meiryo" panose="020B0604030504040204" pitchFamily="34" charset="-128"/>
              </a:rPr>
              <a:t>研究背景</a:t>
            </a:r>
            <a:endParaRPr lang="en-US" altLang="ja-JP" b="1" dirty="0">
              <a:solidFill>
                <a:schemeClr val="accent1"/>
              </a:solidFill>
              <a:latin typeface="Meiryo" panose="020B0604030504040204" pitchFamily="34" charset="-128"/>
              <a:ea typeface="Meiryo" panose="020B0604030504040204" pitchFamily="34" charset="-128"/>
            </a:endParaRPr>
          </a:p>
          <a:p>
            <a:pPr marL="514350" indent="-514350">
              <a:buFont typeface="+mj-lt"/>
              <a:buAutoNum type="arabicPeriod"/>
            </a:pPr>
            <a:endParaRPr lang="en-US" altLang="ja-JP" sz="2800" dirty="0">
              <a:latin typeface="Meiryo" panose="020B0604030504040204" pitchFamily="34" charset="-128"/>
              <a:ea typeface="Meiryo" panose="020B0604030504040204" pitchFamily="34" charset="-128"/>
            </a:endParaRPr>
          </a:p>
          <a:p>
            <a:pPr marL="514350" indent="-514350">
              <a:buFont typeface="+mj-lt"/>
              <a:buAutoNum type="arabicPeriod"/>
            </a:pPr>
            <a:r>
              <a:rPr lang="ja-JP" altLang="en-US" sz="2800">
                <a:latin typeface="Meiryo" panose="020B0604030504040204" pitchFamily="34" charset="-128"/>
                <a:ea typeface="Meiryo" panose="020B0604030504040204" pitchFamily="34" charset="-128"/>
              </a:rPr>
              <a:t>提案手法</a:t>
            </a:r>
            <a:endParaRPr lang="en-US" altLang="ja-JP" sz="2800" dirty="0">
              <a:latin typeface="Meiryo" panose="020B0604030504040204" pitchFamily="34" charset="-128"/>
              <a:ea typeface="Meiryo" panose="020B0604030504040204" pitchFamily="34" charset="-128"/>
            </a:endParaRPr>
          </a:p>
          <a:p>
            <a:pPr marL="514350" indent="-514350">
              <a:buFont typeface="+mj-lt"/>
              <a:buAutoNum type="arabicPeriod"/>
            </a:pPr>
            <a:endParaRPr lang="en-US" altLang="ja-JP" sz="2800" dirty="0">
              <a:latin typeface="Meiryo" panose="020B0604030504040204" pitchFamily="34" charset="-128"/>
              <a:ea typeface="Meiryo" panose="020B0604030504040204" pitchFamily="34" charset="-128"/>
            </a:endParaRPr>
          </a:p>
          <a:p>
            <a:pPr marL="514350" indent="-514350">
              <a:buFont typeface="+mj-lt"/>
              <a:buAutoNum type="arabicPeriod"/>
            </a:pPr>
            <a:r>
              <a:rPr lang="ja-JP" altLang="en-US" sz="2800">
                <a:latin typeface="Meiryo" panose="020B0604030504040204" pitchFamily="34" charset="-128"/>
                <a:ea typeface="Meiryo" panose="020B0604030504040204" pitchFamily="34" charset="-128"/>
              </a:rPr>
              <a:t>実験</a:t>
            </a:r>
            <a:endParaRPr lang="en-US" altLang="ja-JP" sz="2800" dirty="0">
              <a:latin typeface="Meiryo" panose="020B0604030504040204" pitchFamily="34" charset="-128"/>
              <a:ea typeface="Meiryo" panose="020B0604030504040204" pitchFamily="34" charset="-128"/>
            </a:endParaRPr>
          </a:p>
          <a:p>
            <a:pPr marL="514350" indent="-514350">
              <a:buFont typeface="+mj-lt"/>
              <a:buAutoNum type="arabicPeriod"/>
            </a:pPr>
            <a:endParaRPr lang="en-US" altLang="ja-JP" sz="2800" dirty="0">
              <a:latin typeface="Meiryo" panose="020B0604030504040204" pitchFamily="34" charset="-128"/>
              <a:ea typeface="Meiryo" panose="020B0604030504040204" pitchFamily="34" charset="-128"/>
            </a:endParaRPr>
          </a:p>
          <a:p>
            <a:pPr marL="514350" indent="-514350">
              <a:buFont typeface="+mj-lt"/>
              <a:buAutoNum type="arabicPeriod"/>
            </a:pPr>
            <a:r>
              <a:rPr lang="ja-JP" altLang="en-US" sz="2800">
                <a:latin typeface="Meiryo" panose="020B0604030504040204" pitchFamily="34" charset="-128"/>
                <a:ea typeface="Meiryo" panose="020B0604030504040204" pitchFamily="34" charset="-128"/>
              </a:rPr>
              <a:t>まとめ</a:t>
            </a:r>
            <a:endParaRPr lang="en-US" altLang="ja-JP" dirty="0">
              <a:latin typeface="Meiryo" panose="020B0604030504040204" pitchFamily="34" charset="-128"/>
              <a:ea typeface="Meiryo" panose="020B0604030504040204" pitchFamily="34" charset="-128"/>
            </a:endParaRPr>
          </a:p>
        </p:txBody>
      </p:sp>
      <p:cxnSp>
        <p:nvCxnSpPr>
          <p:cNvPr id="7" name="Straight Connector 6">
            <a:extLst>
              <a:ext uri="{FF2B5EF4-FFF2-40B4-BE49-F238E27FC236}">
                <a16:creationId xmlns:a16="http://schemas.microsoft.com/office/drawing/2014/main" id="{BB3800FB-FE81-61B1-706C-CDEC701D78C2}"/>
              </a:ext>
            </a:extLst>
          </p:cNvPr>
          <p:cNvCxnSpPr>
            <a:cxnSpLocks/>
          </p:cNvCxnSpPr>
          <p:nvPr/>
        </p:nvCxnSpPr>
        <p:spPr>
          <a:xfrm>
            <a:off x="646043" y="874643"/>
            <a:ext cx="10694505"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DF540261-FE91-5D83-400B-B0555D4E04A8}"/>
              </a:ext>
            </a:extLst>
          </p:cNvPr>
          <p:cNvSpPr>
            <a:spLocks noGrp="1"/>
          </p:cNvSpPr>
          <p:nvPr>
            <p:ph type="sldNum" sz="quarter" idx="12"/>
          </p:nvPr>
        </p:nvSpPr>
        <p:spPr/>
        <p:txBody>
          <a:bodyPr/>
          <a:lstStyle/>
          <a:p>
            <a:fld id="{6675BFCB-789E-5945-84C6-0973649846BB}" type="slidenum">
              <a:rPr lang="en-US" smtClean="0"/>
              <a:pPr/>
              <a:t>1</a:t>
            </a:fld>
            <a:endParaRPr lang="en-US" dirty="0"/>
          </a:p>
        </p:txBody>
      </p:sp>
      <p:sp>
        <p:nvSpPr>
          <p:cNvPr id="4" name="フッター プレースホルダー 4">
            <a:extLst>
              <a:ext uri="{FF2B5EF4-FFF2-40B4-BE49-F238E27FC236}">
                <a16:creationId xmlns:a16="http://schemas.microsoft.com/office/drawing/2014/main" id="{7163C448-4561-F515-53EC-56C075044C91}"/>
              </a:ext>
            </a:extLst>
          </p:cNvPr>
          <p:cNvSpPr>
            <a:spLocks noGrp="1"/>
          </p:cNvSpPr>
          <p:nvPr>
            <p:ph type="ftr" sz="quarter" idx="11"/>
          </p:nvPr>
        </p:nvSpPr>
        <p:spPr>
          <a:xfrm>
            <a:off x="4038600" y="6553200"/>
            <a:ext cx="4114800" cy="365125"/>
          </a:xfrm>
        </p:spPr>
        <p:txBody>
          <a:bodyPr/>
          <a:lstStyle/>
          <a:p>
            <a:r>
              <a:rPr lang="fi-FI"/>
              <a:t>Tsubasa Kato @ Sakurai Lab.</a:t>
            </a:r>
            <a:endParaRPr lang="en-US" dirty="0"/>
          </a:p>
        </p:txBody>
      </p:sp>
    </p:spTree>
    <p:extLst>
      <p:ext uri="{BB962C8B-B14F-4D97-AF65-F5344CB8AC3E}">
        <p14:creationId xmlns:p14="http://schemas.microsoft.com/office/powerpoint/2010/main" val="8845341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09B1FC-4D49-5D19-C4F7-DAD78F269FB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7D14359-C2FE-04CA-D3DB-7AE4C874D246}"/>
              </a:ext>
            </a:extLst>
          </p:cNvPr>
          <p:cNvSpPr>
            <a:spLocks noGrp="1"/>
          </p:cNvSpPr>
          <p:nvPr>
            <p:ph type="title"/>
          </p:nvPr>
        </p:nvSpPr>
        <p:spPr>
          <a:xfrm>
            <a:off x="548268" y="284244"/>
            <a:ext cx="10515600" cy="727695"/>
          </a:xfrm>
        </p:spPr>
        <p:txBody>
          <a:bodyPr>
            <a:normAutofit/>
          </a:bodyPr>
          <a:lstStyle/>
          <a:p>
            <a:pPr algn="l"/>
            <a:r>
              <a:rPr kumimoji="1" lang="ja-JP" altLang="en-US" sz="3200" b="0">
                <a:solidFill>
                  <a:schemeClr val="tx1"/>
                </a:solidFill>
                <a:latin typeface="Meiryo" panose="020B0604030504040204" pitchFamily="34" charset="-128"/>
                <a:ea typeface="Meiryo" panose="020B0604030504040204" pitchFamily="34" charset="-128"/>
              </a:rPr>
              <a:t>研究背景</a:t>
            </a:r>
          </a:p>
        </p:txBody>
      </p:sp>
      <p:sp>
        <p:nvSpPr>
          <p:cNvPr id="3" name="コンテンツ プレースホルダー 2">
            <a:extLst>
              <a:ext uri="{FF2B5EF4-FFF2-40B4-BE49-F238E27FC236}">
                <a16:creationId xmlns:a16="http://schemas.microsoft.com/office/drawing/2014/main" id="{79FCB65E-A89B-A39E-1CBA-364251408062}"/>
              </a:ext>
            </a:extLst>
          </p:cNvPr>
          <p:cNvSpPr>
            <a:spLocks noGrp="1"/>
          </p:cNvSpPr>
          <p:nvPr>
            <p:ph idx="1"/>
          </p:nvPr>
        </p:nvSpPr>
        <p:spPr>
          <a:xfrm>
            <a:off x="548267" y="1156551"/>
            <a:ext cx="10939539" cy="5015648"/>
          </a:xfrm>
        </p:spPr>
        <p:txBody>
          <a:bodyPr>
            <a:normAutofit/>
          </a:bodyPr>
          <a:lstStyle/>
          <a:p>
            <a:pPr marL="0" indent="0">
              <a:buNone/>
            </a:pPr>
            <a:r>
              <a:rPr lang="ja-JP" altLang="en-US" b="1">
                <a:latin typeface="Meiryo" panose="020B0604030504040204" pitchFamily="34" charset="-128"/>
                <a:ea typeface="Meiryo" panose="020B0604030504040204" pitchFamily="34" charset="-128"/>
              </a:rPr>
              <a:t>時系列データの状態パターン・・・状態に関する豊富な情報を保持</a:t>
            </a:r>
            <a:endParaRPr lang="en-US" altLang="ja-JP" dirty="0">
              <a:latin typeface="Meiryo" panose="020B0604030504040204" pitchFamily="34" charset="-128"/>
              <a:ea typeface="Meiryo" panose="020B0604030504040204" pitchFamily="34" charset="-128"/>
            </a:endParaRPr>
          </a:p>
        </p:txBody>
      </p:sp>
      <p:cxnSp>
        <p:nvCxnSpPr>
          <p:cNvPr id="7" name="Straight Connector 6">
            <a:extLst>
              <a:ext uri="{FF2B5EF4-FFF2-40B4-BE49-F238E27FC236}">
                <a16:creationId xmlns:a16="http://schemas.microsoft.com/office/drawing/2014/main" id="{ABFFF516-F5FF-1F1B-6E73-F707C713AD3C}"/>
              </a:ext>
            </a:extLst>
          </p:cNvPr>
          <p:cNvCxnSpPr>
            <a:cxnSpLocks/>
          </p:cNvCxnSpPr>
          <p:nvPr/>
        </p:nvCxnSpPr>
        <p:spPr>
          <a:xfrm>
            <a:off x="646043" y="874643"/>
            <a:ext cx="10694505"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1CE90B6E-322A-5F0F-E887-29C5308817B6}"/>
              </a:ext>
            </a:extLst>
          </p:cNvPr>
          <p:cNvSpPr>
            <a:spLocks noGrp="1"/>
          </p:cNvSpPr>
          <p:nvPr>
            <p:ph type="sldNum" sz="quarter" idx="12"/>
          </p:nvPr>
        </p:nvSpPr>
        <p:spPr/>
        <p:txBody>
          <a:bodyPr/>
          <a:lstStyle/>
          <a:p>
            <a:fld id="{6675BFCB-789E-5945-84C6-0973649846BB}" type="slidenum">
              <a:rPr lang="en-US" smtClean="0"/>
              <a:pPr/>
              <a:t>2</a:t>
            </a:fld>
            <a:endParaRPr lang="en-US" dirty="0"/>
          </a:p>
        </p:txBody>
      </p:sp>
      <p:pic>
        <p:nvPicPr>
          <p:cNvPr id="4" name="図 3">
            <a:extLst>
              <a:ext uri="{FF2B5EF4-FFF2-40B4-BE49-F238E27FC236}">
                <a16:creationId xmlns:a16="http://schemas.microsoft.com/office/drawing/2014/main" id="{98324C51-98EC-96D9-291A-67E74CA6315F}"/>
              </a:ext>
            </a:extLst>
          </p:cNvPr>
          <p:cNvPicPr>
            <a:picLocks noChangeAspect="1"/>
          </p:cNvPicPr>
          <p:nvPr/>
        </p:nvPicPr>
        <p:blipFill>
          <a:blip r:embed="rId3"/>
          <a:stretch>
            <a:fillRect/>
          </a:stretch>
        </p:blipFill>
        <p:spPr>
          <a:xfrm>
            <a:off x="616539" y="1752600"/>
            <a:ext cx="5376607" cy="2336431"/>
          </a:xfrm>
          <a:prstGeom prst="rect">
            <a:avLst/>
          </a:prstGeom>
        </p:spPr>
      </p:pic>
      <p:pic>
        <p:nvPicPr>
          <p:cNvPr id="8" name="図 7">
            <a:extLst>
              <a:ext uri="{FF2B5EF4-FFF2-40B4-BE49-F238E27FC236}">
                <a16:creationId xmlns:a16="http://schemas.microsoft.com/office/drawing/2014/main" id="{E43312E7-8258-CC78-7826-C41056FE6226}"/>
              </a:ext>
            </a:extLst>
          </p:cNvPr>
          <p:cNvPicPr>
            <a:picLocks noChangeAspect="1"/>
          </p:cNvPicPr>
          <p:nvPr/>
        </p:nvPicPr>
        <p:blipFill>
          <a:blip r:embed="rId4"/>
          <a:stretch>
            <a:fillRect/>
          </a:stretch>
        </p:blipFill>
        <p:spPr>
          <a:xfrm>
            <a:off x="7393543" y="1520495"/>
            <a:ext cx="1854601" cy="1285206"/>
          </a:xfrm>
          <a:prstGeom prst="rect">
            <a:avLst/>
          </a:prstGeom>
        </p:spPr>
      </p:pic>
      <p:pic>
        <p:nvPicPr>
          <p:cNvPr id="13" name="図 12">
            <a:extLst>
              <a:ext uri="{FF2B5EF4-FFF2-40B4-BE49-F238E27FC236}">
                <a16:creationId xmlns:a16="http://schemas.microsoft.com/office/drawing/2014/main" id="{A135F67E-8EE9-2A4B-35D7-6DA1CAFB42A8}"/>
              </a:ext>
            </a:extLst>
          </p:cNvPr>
          <p:cNvPicPr>
            <a:picLocks noChangeAspect="1"/>
          </p:cNvPicPr>
          <p:nvPr/>
        </p:nvPicPr>
        <p:blipFill>
          <a:blip r:embed="rId5"/>
          <a:stretch>
            <a:fillRect/>
          </a:stretch>
        </p:blipFill>
        <p:spPr>
          <a:xfrm>
            <a:off x="6553200" y="2753653"/>
            <a:ext cx="1715476" cy="1132547"/>
          </a:xfrm>
          <a:prstGeom prst="rect">
            <a:avLst/>
          </a:prstGeom>
        </p:spPr>
      </p:pic>
      <p:pic>
        <p:nvPicPr>
          <p:cNvPr id="20" name="図 19">
            <a:extLst>
              <a:ext uri="{FF2B5EF4-FFF2-40B4-BE49-F238E27FC236}">
                <a16:creationId xmlns:a16="http://schemas.microsoft.com/office/drawing/2014/main" id="{A6886288-1EEC-565A-7EE7-7049A3AE59A6}"/>
              </a:ext>
            </a:extLst>
          </p:cNvPr>
          <p:cNvPicPr>
            <a:picLocks noChangeAspect="1"/>
          </p:cNvPicPr>
          <p:nvPr/>
        </p:nvPicPr>
        <p:blipFill>
          <a:blip r:embed="rId6"/>
          <a:stretch>
            <a:fillRect/>
          </a:stretch>
        </p:blipFill>
        <p:spPr>
          <a:xfrm>
            <a:off x="8534400" y="2753653"/>
            <a:ext cx="1765441" cy="1132547"/>
          </a:xfrm>
          <a:prstGeom prst="rect">
            <a:avLst/>
          </a:prstGeom>
        </p:spPr>
      </p:pic>
      <p:pic>
        <p:nvPicPr>
          <p:cNvPr id="2050" name="Picture 2" descr="カーラインナップ｜福岡と長崎で新車・トヨタ車なら福岡トヨタ／長崎トヨタ｜公式サイト | 福岡トヨタ自動車株式会社">
            <a:extLst>
              <a:ext uri="{FF2B5EF4-FFF2-40B4-BE49-F238E27FC236}">
                <a16:creationId xmlns:a16="http://schemas.microsoft.com/office/drawing/2014/main" id="{A700F565-3043-400B-33A9-80E136DF1D4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2400" y="4479071"/>
            <a:ext cx="2590800" cy="1727200"/>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高速道路で見る、急カーブの警告標識にある「R」の意味とは？どぼくじら.com">
            <a:extLst>
              <a:ext uri="{FF2B5EF4-FFF2-40B4-BE49-F238E27FC236}">
                <a16:creationId xmlns:a16="http://schemas.microsoft.com/office/drawing/2014/main" id="{B1A0D41F-BD55-C374-18A4-AAAF403A2ECF}"/>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28100" t="3645" r="29752" b="9443"/>
          <a:stretch/>
        </p:blipFill>
        <p:spPr bwMode="auto">
          <a:xfrm>
            <a:off x="2514600" y="4169732"/>
            <a:ext cx="1295400" cy="1504286"/>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路面道路標識 路面－３３０ 止まれ 一時停止 １０１１１０ | 【ミドリ安全】公式通販">
            <a:extLst>
              <a:ext uri="{FF2B5EF4-FFF2-40B4-BE49-F238E27FC236}">
                <a16:creationId xmlns:a16="http://schemas.microsoft.com/office/drawing/2014/main" id="{C5FE307B-AD43-DE38-E2B5-1EBB38078EB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810000" y="4387665"/>
            <a:ext cx="980031" cy="980031"/>
          </a:xfrm>
          <a:prstGeom prst="rect">
            <a:avLst/>
          </a:prstGeom>
          <a:noFill/>
          <a:extLst>
            <a:ext uri="{909E8E84-426E-40DD-AFC4-6F175D3DCCD1}">
              <a14:hiddenFill xmlns:a14="http://schemas.microsoft.com/office/drawing/2010/main">
                <a:solidFill>
                  <a:srgbClr val="FFFFFF"/>
                </a:solidFill>
              </a14:hiddenFill>
            </a:ext>
          </a:extLst>
        </p:spPr>
      </p:pic>
      <p:pic>
        <p:nvPicPr>
          <p:cNvPr id="2060" name="Picture 12" descr="徐行の意味とは。徐行運転の速度・標識・場所｜チューリッヒ">
            <a:extLst>
              <a:ext uri="{FF2B5EF4-FFF2-40B4-BE49-F238E27FC236}">
                <a16:creationId xmlns:a16="http://schemas.microsoft.com/office/drawing/2014/main" id="{2901F1CD-1900-9D63-505C-5A2510FB9AA7}"/>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l="20941" t="8462" r="19750" b="6154"/>
          <a:stretch/>
        </p:blipFill>
        <p:spPr bwMode="auto">
          <a:xfrm>
            <a:off x="3048000" y="5585628"/>
            <a:ext cx="928093" cy="868478"/>
          </a:xfrm>
          <a:prstGeom prst="rect">
            <a:avLst/>
          </a:prstGeom>
          <a:noFill/>
          <a:extLst>
            <a:ext uri="{909E8E84-426E-40DD-AFC4-6F175D3DCCD1}">
              <a14:hiddenFill xmlns:a14="http://schemas.microsoft.com/office/drawing/2010/main">
                <a:solidFill>
                  <a:srgbClr val="FFFFFF"/>
                </a:solidFill>
              </a14:hiddenFill>
            </a:ext>
          </a:extLst>
        </p:spPr>
      </p:pic>
      <p:pic>
        <p:nvPicPr>
          <p:cNvPr id="2062" name="Picture 14" descr="睡眠と記憶の関係性 | 長野県長野市の呼吸器内科・睡眠呼吸障害｜わかまつ呼吸器内科クリニック">
            <a:extLst>
              <a:ext uri="{FF2B5EF4-FFF2-40B4-BE49-F238E27FC236}">
                <a16:creationId xmlns:a16="http://schemas.microsoft.com/office/drawing/2014/main" id="{3BED73E2-F692-CF28-44DB-B1C54820DB25}"/>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096000" y="4492659"/>
            <a:ext cx="1504286" cy="1504286"/>
          </a:xfrm>
          <a:prstGeom prst="rect">
            <a:avLst/>
          </a:prstGeom>
          <a:noFill/>
          <a:extLst>
            <a:ext uri="{909E8E84-426E-40DD-AFC4-6F175D3DCCD1}">
              <a14:hiddenFill xmlns:a14="http://schemas.microsoft.com/office/drawing/2010/main">
                <a:solidFill>
                  <a:srgbClr val="FFFFFF"/>
                </a:solidFill>
              </a14:hiddenFill>
            </a:ext>
          </a:extLst>
        </p:spPr>
      </p:pic>
      <p:sp>
        <p:nvSpPr>
          <p:cNvPr id="34" name="フッター プレースホルダー 4">
            <a:extLst>
              <a:ext uri="{FF2B5EF4-FFF2-40B4-BE49-F238E27FC236}">
                <a16:creationId xmlns:a16="http://schemas.microsoft.com/office/drawing/2014/main" id="{42848AAF-1D0F-C5FD-1134-CBEA1A9D9A60}"/>
              </a:ext>
            </a:extLst>
          </p:cNvPr>
          <p:cNvSpPr>
            <a:spLocks noGrp="1"/>
          </p:cNvSpPr>
          <p:nvPr>
            <p:ph type="ftr" sz="quarter" idx="11"/>
          </p:nvPr>
        </p:nvSpPr>
        <p:spPr>
          <a:xfrm>
            <a:off x="4038600" y="6553200"/>
            <a:ext cx="4114800" cy="365125"/>
          </a:xfrm>
        </p:spPr>
        <p:txBody>
          <a:bodyPr/>
          <a:lstStyle/>
          <a:p>
            <a:r>
              <a:rPr lang="fi-FI"/>
              <a:t>Tsubasa Kato @ Sakurai Lab.</a:t>
            </a:r>
            <a:endParaRPr lang="en-US" dirty="0"/>
          </a:p>
        </p:txBody>
      </p:sp>
      <p:sp>
        <p:nvSpPr>
          <p:cNvPr id="35" name="TextBox 3">
            <a:extLst>
              <a:ext uri="{FF2B5EF4-FFF2-40B4-BE49-F238E27FC236}">
                <a16:creationId xmlns:a16="http://schemas.microsoft.com/office/drawing/2014/main" id="{C0262B5B-7988-0602-FF3A-867A50644D71}"/>
              </a:ext>
            </a:extLst>
          </p:cNvPr>
          <p:cNvSpPr txBox="1"/>
          <p:nvPr/>
        </p:nvSpPr>
        <p:spPr>
          <a:xfrm>
            <a:off x="6778524" y="3886200"/>
            <a:ext cx="2980303" cy="338554"/>
          </a:xfrm>
          <a:prstGeom prst="rect">
            <a:avLst/>
          </a:prstGeom>
          <a:noFill/>
        </p:spPr>
        <p:txBody>
          <a:bodyPr wrap="none" rtlCol="0">
            <a:spAutoFit/>
          </a:bodyPr>
          <a:lstStyle/>
          <a:p>
            <a:r>
              <a:rPr lang="en-JP" sz="1600">
                <a:latin typeface="Meiryo" panose="020B0604030504040204" pitchFamily="34" charset="-128"/>
                <a:ea typeface="Meiryo" panose="020B0604030504040204" pitchFamily="34" charset="-128"/>
              </a:rPr>
              <a:t>図</a:t>
            </a:r>
            <a:r>
              <a:rPr lang="en-US" sz="1600" dirty="0">
                <a:latin typeface="Meiryo" panose="020B0604030504040204" pitchFamily="34" charset="-128"/>
                <a:ea typeface="Meiryo" panose="020B0604030504040204" pitchFamily="34" charset="-128"/>
              </a:rPr>
              <a:t>1</a:t>
            </a:r>
            <a:r>
              <a:rPr lang="en-JP" sz="1600">
                <a:latin typeface="Meiryo" panose="020B0604030504040204" pitchFamily="34" charset="-128"/>
                <a:ea typeface="Meiryo" panose="020B0604030504040204" pitchFamily="34" charset="-128"/>
              </a:rPr>
              <a:t>：</a:t>
            </a:r>
            <a:r>
              <a:rPr lang="ja-JP" altLang="en-US" sz="1600">
                <a:latin typeface="Meiryo" panose="020B0604030504040204" pitchFamily="34" charset="-128"/>
                <a:ea typeface="Meiryo" panose="020B0604030504040204" pitchFamily="34" charset="-128"/>
              </a:rPr>
              <a:t>人の行動の状態パターン</a:t>
            </a:r>
            <a:endParaRPr lang="en-JP" sz="1600" dirty="0">
              <a:latin typeface="Meiryo" panose="020B0604030504040204" pitchFamily="34" charset="-128"/>
              <a:ea typeface="Meiryo" panose="020B0604030504040204" pitchFamily="34" charset="-128"/>
            </a:endParaRPr>
          </a:p>
        </p:txBody>
      </p:sp>
      <p:sp>
        <p:nvSpPr>
          <p:cNvPr id="36" name="TextBox 3">
            <a:extLst>
              <a:ext uri="{FF2B5EF4-FFF2-40B4-BE49-F238E27FC236}">
                <a16:creationId xmlns:a16="http://schemas.microsoft.com/office/drawing/2014/main" id="{32B5B135-5DB5-058F-1FE7-6B3565039653}"/>
              </a:ext>
            </a:extLst>
          </p:cNvPr>
          <p:cNvSpPr txBox="1"/>
          <p:nvPr/>
        </p:nvSpPr>
        <p:spPr>
          <a:xfrm>
            <a:off x="1779246" y="6422707"/>
            <a:ext cx="3094117" cy="338554"/>
          </a:xfrm>
          <a:prstGeom prst="rect">
            <a:avLst/>
          </a:prstGeom>
          <a:noFill/>
        </p:spPr>
        <p:txBody>
          <a:bodyPr wrap="none" rtlCol="0">
            <a:spAutoFit/>
          </a:bodyPr>
          <a:lstStyle/>
          <a:p>
            <a:r>
              <a:rPr lang="en-JP" sz="1600">
                <a:latin typeface="Meiryo" panose="020B0604030504040204" pitchFamily="34" charset="-128"/>
                <a:ea typeface="Meiryo" panose="020B0604030504040204" pitchFamily="34" charset="-128"/>
              </a:rPr>
              <a:t>図</a:t>
            </a:r>
            <a:r>
              <a:rPr lang="en-US" sz="1600" dirty="0">
                <a:latin typeface="Meiryo" panose="020B0604030504040204" pitchFamily="34" charset="-128"/>
                <a:ea typeface="Meiryo" panose="020B0604030504040204" pitchFamily="34" charset="-128"/>
              </a:rPr>
              <a:t>2</a:t>
            </a:r>
            <a:r>
              <a:rPr lang="en-JP" sz="1600">
                <a:latin typeface="Meiryo" panose="020B0604030504040204" pitchFamily="34" charset="-128"/>
                <a:ea typeface="Meiryo" panose="020B0604030504040204" pitchFamily="34" charset="-128"/>
              </a:rPr>
              <a:t>：</a:t>
            </a:r>
            <a:r>
              <a:rPr lang="ja-JP" altLang="en-US" sz="1600">
                <a:latin typeface="Meiryo" panose="020B0604030504040204" pitchFamily="34" charset="-128"/>
                <a:ea typeface="Meiryo" panose="020B0604030504040204" pitchFamily="34" charset="-128"/>
              </a:rPr>
              <a:t>車の走行の状態パターン</a:t>
            </a:r>
            <a:endParaRPr lang="en-JP" sz="1600" dirty="0">
              <a:latin typeface="Meiryo" panose="020B0604030504040204" pitchFamily="34" charset="-128"/>
              <a:ea typeface="Meiryo" panose="020B0604030504040204" pitchFamily="34" charset="-128"/>
            </a:endParaRPr>
          </a:p>
        </p:txBody>
      </p:sp>
      <p:sp>
        <p:nvSpPr>
          <p:cNvPr id="37" name="TextBox 3">
            <a:extLst>
              <a:ext uri="{FF2B5EF4-FFF2-40B4-BE49-F238E27FC236}">
                <a16:creationId xmlns:a16="http://schemas.microsoft.com/office/drawing/2014/main" id="{FDB21D09-1841-4B73-9F8B-34AE40D93366}"/>
              </a:ext>
            </a:extLst>
          </p:cNvPr>
          <p:cNvSpPr txBox="1"/>
          <p:nvPr/>
        </p:nvSpPr>
        <p:spPr>
          <a:xfrm>
            <a:off x="6561864" y="6241297"/>
            <a:ext cx="2980303" cy="338554"/>
          </a:xfrm>
          <a:prstGeom prst="rect">
            <a:avLst/>
          </a:prstGeom>
          <a:noFill/>
        </p:spPr>
        <p:txBody>
          <a:bodyPr wrap="none" rtlCol="0">
            <a:spAutoFit/>
          </a:bodyPr>
          <a:lstStyle/>
          <a:p>
            <a:r>
              <a:rPr lang="en-JP" sz="1600">
                <a:latin typeface="Meiryo" panose="020B0604030504040204" pitchFamily="34" charset="-128"/>
                <a:ea typeface="Meiryo" panose="020B0604030504040204" pitchFamily="34" charset="-128"/>
              </a:rPr>
              <a:t>図</a:t>
            </a:r>
            <a:r>
              <a:rPr lang="en-US" sz="1600" dirty="0">
                <a:latin typeface="Meiryo" panose="020B0604030504040204" pitchFamily="34" charset="-128"/>
                <a:ea typeface="Meiryo" panose="020B0604030504040204" pitchFamily="34" charset="-128"/>
              </a:rPr>
              <a:t>3</a:t>
            </a:r>
            <a:r>
              <a:rPr lang="en-JP" sz="1600">
                <a:latin typeface="Meiryo" panose="020B0604030504040204" pitchFamily="34" charset="-128"/>
                <a:ea typeface="Meiryo" panose="020B0604030504040204" pitchFamily="34" charset="-128"/>
              </a:rPr>
              <a:t>：</a:t>
            </a:r>
            <a:r>
              <a:rPr lang="ja-JP" altLang="en-US" sz="1600">
                <a:latin typeface="Meiryo" panose="020B0604030504040204" pitchFamily="34" charset="-128"/>
                <a:ea typeface="Meiryo" panose="020B0604030504040204" pitchFamily="34" charset="-128"/>
              </a:rPr>
              <a:t>人の睡眠の状態パターン</a:t>
            </a:r>
            <a:endParaRPr lang="en-JP" sz="1600" dirty="0">
              <a:latin typeface="Meiryo" panose="020B0604030504040204" pitchFamily="34" charset="-128"/>
              <a:ea typeface="Meiryo" panose="020B0604030504040204" pitchFamily="34" charset="-128"/>
            </a:endParaRPr>
          </a:p>
        </p:txBody>
      </p:sp>
      <p:pic>
        <p:nvPicPr>
          <p:cNvPr id="5" name="図 4">
            <a:extLst>
              <a:ext uri="{FF2B5EF4-FFF2-40B4-BE49-F238E27FC236}">
                <a16:creationId xmlns:a16="http://schemas.microsoft.com/office/drawing/2014/main" id="{23657D2A-C10C-373B-A41F-D30E25DF5381}"/>
              </a:ext>
            </a:extLst>
          </p:cNvPr>
          <p:cNvPicPr>
            <a:picLocks noChangeAspect="1"/>
          </p:cNvPicPr>
          <p:nvPr/>
        </p:nvPicPr>
        <p:blipFill>
          <a:blip r:embed="rId12"/>
          <a:stretch>
            <a:fillRect/>
          </a:stretch>
        </p:blipFill>
        <p:spPr>
          <a:xfrm>
            <a:off x="7696201" y="4233685"/>
            <a:ext cx="3644356" cy="2026575"/>
          </a:xfrm>
          <a:prstGeom prst="rect">
            <a:avLst/>
          </a:prstGeom>
        </p:spPr>
      </p:pic>
      <p:sp>
        <p:nvSpPr>
          <p:cNvPr id="9" name="Date Placeholder 10">
            <a:extLst>
              <a:ext uri="{FF2B5EF4-FFF2-40B4-BE49-F238E27FC236}">
                <a16:creationId xmlns:a16="http://schemas.microsoft.com/office/drawing/2014/main" id="{13700822-67DA-6CA8-758A-1092BFB49669}"/>
              </a:ext>
            </a:extLst>
          </p:cNvPr>
          <p:cNvSpPr>
            <a:spLocks noGrp="1"/>
          </p:cNvSpPr>
          <p:nvPr>
            <p:ph type="dt" sz="half" idx="10"/>
          </p:nvPr>
        </p:nvSpPr>
        <p:spPr>
          <a:xfrm>
            <a:off x="838200" y="6553200"/>
            <a:ext cx="2743200" cy="365125"/>
          </a:xfrm>
        </p:spPr>
        <p:txBody>
          <a:bodyPr/>
          <a:lstStyle/>
          <a:p>
            <a:r>
              <a:rPr lang="en-US" altLang="ja-JP" dirty="0"/>
              <a:t>2025/2/27</a:t>
            </a:r>
            <a:endParaRPr lang="en-US" dirty="0"/>
          </a:p>
        </p:txBody>
      </p:sp>
    </p:spTree>
    <p:extLst>
      <p:ext uri="{BB962C8B-B14F-4D97-AF65-F5344CB8AC3E}">
        <p14:creationId xmlns:p14="http://schemas.microsoft.com/office/powerpoint/2010/main" val="1083476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7EB028-C5F8-D523-73DE-01C633E04D2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D39A7E4-B6A2-A653-947F-DE93A970243E}"/>
              </a:ext>
            </a:extLst>
          </p:cNvPr>
          <p:cNvSpPr>
            <a:spLocks noGrp="1"/>
          </p:cNvSpPr>
          <p:nvPr>
            <p:ph type="title"/>
          </p:nvPr>
        </p:nvSpPr>
        <p:spPr>
          <a:xfrm>
            <a:off x="548268" y="284244"/>
            <a:ext cx="10515600" cy="727695"/>
          </a:xfrm>
        </p:spPr>
        <p:txBody>
          <a:bodyPr>
            <a:normAutofit/>
          </a:bodyPr>
          <a:lstStyle/>
          <a:p>
            <a:pPr algn="l"/>
            <a:r>
              <a:rPr kumimoji="1" lang="ja-JP" altLang="en-US" sz="3200" b="0">
                <a:solidFill>
                  <a:schemeClr val="tx1"/>
                </a:solidFill>
                <a:latin typeface="Meiryo" panose="020B0604030504040204" pitchFamily="34" charset="-128"/>
                <a:ea typeface="Meiryo" panose="020B0604030504040204" pitchFamily="34" charset="-128"/>
              </a:rPr>
              <a:t>課題</a:t>
            </a:r>
          </a:p>
        </p:txBody>
      </p:sp>
      <p:sp>
        <p:nvSpPr>
          <p:cNvPr id="3" name="コンテンツ プレースホルダー 2">
            <a:extLst>
              <a:ext uri="{FF2B5EF4-FFF2-40B4-BE49-F238E27FC236}">
                <a16:creationId xmlns:a16="http://schemas.microsoft.com/office/drawing/2014/main" id="{3CB582CB-95B8-5C86-22DD-0F442B944588}"/>
              </a:ext>
            </a:extLst>
          </p:cNvPr>
          <p:cNvSpPr>
            <a:spLocks noGrp="1"/>
          </p:cNvSpPr>
          <p:nvPr>
            <p:ph idx="1"/>
          </p:nvPr>
        </p:nvSpPr>
        <p:spPr>
          <a:xfrm>
            <a:off x="548267" y="1156550"/>
            <a:ext cx="10939539" cy="5336321"/>
          </a:xfrm>
        </p:spPr>
        <p:txBody>
          <a:bodyPr>
            <a:normAutofit/>
          </a:bodyPr>
          <a:lstStyle/>
          <a:p>
            <a:pPr marL="0" indent="0">
              <a:buNone/>
            </a:pPr>
            <a:r>
              <a:rPr lang="ja-JP" altLang="en-US">
                <a:latin typeface="Meiryo" panose="020B0604030504040204" pitchFamily="34" charset="-128"/>
                <a:ea typeface="Meiryo" panose="020B0604030504040204" pitchFamily="34" charset="-128"/>
              </a:rPr>
              <a:t>人手によるセグメンテーションは</a:t>
            </a:r>
            <a:r>
              <a:rPr lang="ja-JP" altLang="en-US" sz="3200">
                <a:solidFill>
                  <a:srgbClr val="00B0F0"/>
                </a:solidFill>
                <a:latin typeface="Meiryo" panose="020B0604030504040204" pitchFamily="34" charset="-128"/>
                <a:ea typeface="Meiryo" panose="020B0604030504040204" pitchFamily="34" charset="-128"/>
              </a:rPr>
              <a:t>コスト増大</a:t>
            </a:r>
            <a:endParaRPr lang="en-US" altLang="ja-JP" sz="3200" dirty="0">
              <a:solidFill>
                <a:srgbClr val="00B0F0"/>
              </a:solidFill>
              <a:latin typeface="Meiryo" panose="020B0604030504040204" pitchFamily="34" charset="-128"/>
              <a:ea typeface="Meiryo" panose="020B0604030504040204" pitchFamily="34" charset="-128"/>
            </a:endParaRPr>
          </a:p>
          <a:p>
            <a:pPr marL="0" indent="0">
              <a:buNone/>
            </a:pPr>
            <a:endParaRPr lang="en-US" altLang="ja-JP" dirty="0">
              <a:latin typeface="Meiryo" panose="020B0604030504040204" pitchFamily="34" charset="-128"/>
              <a:ea typeface="Meiryo" panose="020B0604030504040204" pitchFamily="34" charset="-128"/>
            </a:endParaRPr>
          </a:p>
          <a:p>
            <a:pPr marL="0" indent="0">
              <a:buNone/>
            </a:pPr>
            <a:r>
              <a:rPr lang="ja-JP" altLang="en-US">
                <a:latin typeface="Meiryo" panose="020B0604030504040204" pitchFamily="34" charset="-128"/>
                <a:ea typeface="Meiryo" panose="020B0604030504040204" pitchFamily="34" charset="-128"/>
              </a:rPr>
              <a:t>セグメンテーションの自動化が求められている</a:t>
            </a:r>
            <a:endParaRPr lang="en-US" altLang="ja-JP" dirty="0">
              <a:latin typeface="Meiryo" panose="020B0604030504040204" pitchFamily="34" charset="-128"/>
              <a:ea typeface="Meiryo" panose="020B0604030504040204" pitchFamily="34" charset="-128"/>
            </a:endParaRPr>
          </a:p>
          <a:p>
            <a:pPr marL="0" indent="0">
              <a:buNone/>
            </a:pPr>
            <a:endParaRPr lang="en-US" altLang="ja-JP" dirty="0">
              <a:latin typeface="Meiryo" panose="020B0604030504040204" pitchFamily="34" charset="-128"/>
              <a:ea typeface="Meiryo" panose="020B0604030504040204" pitchFamily="34" charset="-128"/>
            </a:endParaRPr>
          </a:p>
          <a:p>
            <a:pPr marL="0" indent="0">
              <a:buNone/>
            </a:pPr>
            <a:r>
              <a:rPr lang="ja-JP" altLang="en-US">
                <a:latin typeface="Meiryo" panose="020B0604030504040204" pitchFamily="34" charset="-128"/>
                <a:ea typeface="Meiryo" panose="020B0604030504040204" pitchFamily="34" charset="-128"/>
              </a:rPr>
              <a:t>　　　　　</a:t>
            </a:r>
            <a:r>
              <a:rPr lang="ja-JP" altLang="en-US" sz="3200" u="sng">
                <a:solidFill>
                  <a:srgbClr val="FF0000"/>
                </a:solidFill>
                <a:latin typeface="Meiryo" panose="020B0604030504040204" pitchFamily="34" charset="-128"/>
                <a:ea typeface="Meiryo" panose="020B0604030504040204" pitchFamily="34" charset="-128"/>
              </a:rPr>
              <a:t>教師なし状態パターン検出</a:t>
            </a:r>
            <a:endParaRPr lang="en-US" altLang="ja-JP" sz="3200" u="sng" dirty="0">
              <a:solidFill>
                <a:srgbClr val="FF0000"/>
              </a:solidFill>
              <a:latin typeface="Meiryo" panose="020B0604030504040204" pitchFamily="34" charset="-128"/>
              <a:ea typeface="Meiryo" panose="020B0604030504040204" pitchFamily="34" charset="-128"/>
            </a:endParaRPr>
          </a:p>
          <a:p>
            <a:pPr marL="0" indent="0">
              <a:buNone/>
            </a:pPr>
            <a:endParaRPr lang="en-US" altLang="ja-JP" dirty="0">
              <a:latin typeface="Meiryo" panose="020B0604030504040204" pitchFamily="34" charset="-128"/>
              <a:ea typeface="Meiryo" panose="020B0604030504040204" pitchFamily="34" charset="-128"/>
            </a:endParaRPr>
          </a:p>
          <a:p>
            <a:pPr marL="0" indent="0">
              <a:buNone/>
            </a:pPr>
            <a:r>
              <a:rPr lang="ja-JP" altLang="en-US">
                <a:latin typeface="Meiryo" panose="020B0604030504040204" pitchFamily="34" charset="-128"/>
                <a:ea typeface="Meiryo" panose="020B0604030504040204" pitchFamily="34" charset="-128"/>
              </a:rPr>
              <a:t>ドメイン知識がない場合の教師なし状態パターン検出</a:t>
            </a:r>
            <a:endParaRPr lang="en-US" altLang="ja-JP" dirty="0">
              <a:latin typeface="Meiryo" panose="020B0604030504040204" pitchFamily="34" charset="-128"/>
              <a:ea typeface="Meiryo" panose="020B0604030504040204" pitchFamily="34" charset="-128"/>
            </a:endParaRPr>
          </a:p>
          <a:p>
            <a:pPr>
              <a:buFont typeface="Wingdings" pitchFamily="2" charset="2"/>
              <a:buChar char="Ø"/>
            </a:pPr>
            <a:r>
              <a:rPr lang="ja-JP" altLang="en-US">
                <a:latin typeface="Meiryo" panose="020B0604030504040204" pitchFamily="34" charset="-128"/>
                <a:ea typeface="Meiryo" panose="020B0604030504040204" pitchFamily="34" charset="-128"/>
              </a:rPr>
              <a:t>適切な状態数がわからない</a:t>
            </a:r>
            <a:endParaRPr lang="en-US" altLang="ja-JP" dirty="0">
              <a:latin typeface="Meiryo" panose="020B0604030504040204" pitchFamily="34" charset="-128"/>
              <a:ea typeface="Meiryo" panose="020B0604030504040204" pitchFamily="34" charset="-128"/>
            </a:endParaRPr>
          </a:p>
          <a:p>
            <a:pPr>
              <a:buFont typeface="Wingdings" pitchFamily="2" charset="2"/>
              <a:buChar char="Ø"/>
            </a:pPr>
            <a:r>
              <a:rPr lang="ja-JP" altLang="en-US">
                <a:latin typeface="Meiryo" panose="020B0604030504040204" pitchFamily="34" charset="-128"/>
                <a:ea typeface="Meiryo" panose="020B0604030504040204" pitchFamily="34" charset="-128"/>
              </a:rPr>
              <a:t>遠隔にある同一パターンの検知率の低さ</a:t>
            </a:r>
            <a:endParaRPr lang="en-US" altLang="ja-JP" dirty="0">
              <a:latin typeface="Meiryo" panose="020B0604030504040204" pitchFamily="34" charset="-128"/>
              <a:ea typeface="Meiryo" panose="020B0604030504040204" pitchFamily="34" charset="-128"/>
            </a:endParaRPr>
          </a:p>
          <a:p>
            <a:pPr>
              <a:buFont typeface="Wingdings" pitchFamily="2" charset="2"/>
              <a:buChar char="Ø"/>
            </a:pPr>
            <a:r>
              <a:rPr lang="ja-JP" altLang="en-US">
                <a:latin typeface="Meiryo" panose="020B0604030504040204" pitchFamily="34" charset="-128"/>
                <a:ea typeface="Meiryo" panose="020B0604030504040204" pitchFamily="34" charset="-128"/>
              </a:rPr>
              <a:t>特徴空間の変換の際に情報のブラックボックス化</a:t>
            </a:r>
            <a:endParaRPr lang="en-US" altLang="ja-JP" dirty="0">
              <a:latin typeface="Meiryo" panose="020B0604030504040204" pitchFamily="34" charset="-128"/>
              <a:ea typeface="Meiryo" panose="020B0604030504040204" pitchFamily="34" charset="-128"/>
            </a:endParaRPr>
          </a:p>
          <a:p>
            <a:pPr>
              <a:buFont typeface="Wingdings" pitchFamily="2" charset="2"/>
              <a:buChar char="Ø"/>
            </a:pPr>
            <a:endParaRPr lang="en-US" altLang="ja-JP" dirty="0">
              <a:latin typeface="Meiryo" panose="020B0604030504040204" pitchFamily="34" charset="-128"/>
              <a:ea typeface="Meiryo" panose="020B0604030504040204" pitchFamily="34" charset="-128"/>
            </a:endParaRPr>
          </a:p>
        </p:txBody>
      </p:sp>
      <p:cxnSp>
        <p:nvCxnSpPr>
          <p:cNvPr id="7" name="Straight Connector 6">
            <a:extLst>
              <a:ext uri="{FF2B5EF4-FFF2-40B4-BE49-F238E27FC236}">
                <a16:creationId xmlns:a16="http://schemas.microsoft.com/office/drawing/2014/main" id="{A19F9AF2-E20C-D6FE-7739-539B4EEFF616}"/>
              </a:ext>
            </a:extLst>
          </p:cNvPr>
          <p:cNvCxnSpPr>
            <a:cxnSpLocks/>
          </p:cNvCxnSpPr>
          <p:nvPr/>
        </p:nvCxnSpPr>
        <p:spPr>
          <a:xfrm>
            <a:off x="646043" y="874643"/>
            <a:ext cx="10694505"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4590FD7E-8B84-314B-C4BF-6324B18B8EE3}"/>
              </a:ext>
            </a:extLst>
          </p:cNvPr>
          <p:cNvSpPr>
            <a:spLocks noGrp="1"/>
          </p:cNvSpPr>
          <p:nvPr>
            <p:ph type="sldNum" sz="quarter" idx="12"/>
          </p:nvPr>
        </p:nvSpPr>
        <p:spPr/>
        <p:txBody>
          <a:bodyPr/>
          <a:lstStyle/>
          <a:p>
            <a:fld id="{6675BFCB-789E-5945-84C6-0973649846BB}" type="slidenum">
              <a:rPr lang="en-US" smtClean="0"/>
              <a:pPr/>
              <a:t>3</a:t>
            </a:fld>
            <a:endParaRPr lang="en-US" dirty="0"/>
          </a:p>
        </p:txBody>
      </p:sp>
      <p:sp>
        <p:nvSpPr>
          <p:cNvPr id="12" name="フッター プレースホルダー 4">
            <a:extLst>
              <a:ext uri="{FF2B5EF4-FFF2-40B4-BE49-F238E27FC236}">
                <a16:creationId xmlns:a16="http://schemas.microsoft.com/office/drawing/2014/main" id="{E0CDE50C-3A06-BD23-1C71-79ABDF10F05E}"/>
              </a:ext>
            </a:extLst>
          </p:cNvPr>
          <p:cNvSpPr>
            <a:spLocks noGrp="1"/>
          </p:cNvSpPr>
          <p:nvPr>
            <p:ph type="ftr" sz="quarter" idx="11"/>
          </p:nvPr>
        </p:nvSpPr>
        <p:spPr>
          <a:xfrm>
            <a:off x="4038600" y="6553200"/>
            <a:ext cx="4114800" cy="365125"/>
          </a:xfrm>
        </p:spPr>
        <p:txBody>
          <a:bodyPr/>
          <a:lstStyle/>
          <a:p>
            <a:r>
              <a:rPr lang="fi-FI"/>
              <a:t>Tsubasa Kato @ Sakurai Lab.</a:t>
            </a:r>
            <a:endParaRPr lang="en-US" dirty="0"/>
          </a:p>
        </p:txBody>
      </p:sp>
      <p:sp>
        <p:nvSpPr>
          <p:cNvPr id="14" name="下矢印 13">
            <a:extLst>
              <a:ext uri="{FF2B5EF4-FFF2-40B4-BE49-F238E27FC236}">
                <a16:creationId xmlns:a16="http://schemas.microsoft.com/office/drawing/2014/main" id="{C2BDF601-8B7A-2C6E-4E7C-C2FEC98CFF20}"/>
              </a:ext>
            </a:extLst>
          </p:cNvPr>
          <p:cNvSpPr/>
          <p:nvPr/>
        </p:nvSpPr>
        <p:spPr>
          <a:xfrm>
            <a:off x="4059936" y="1676400"/>
            <a:ext cx="914400" cy="38100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下矢印 14">
            <a:extLst>
              <a:ext uri="{FF2B5EF4-FFF2-40B4-BE49-F238E27FC236}">
                <a16:creationId xmlns:a16="http://schemas.microsoft.com/office/drawing/2014/main" id="{D401BB5D-6FAA-BBE9-B8B4-F5609F575F95}"/>
              </a:ext>
            </a:extLst>
          </p:cNvPr>
          <p:cNvSpPr/>
          <p:nvPr/>
        </p:nvSpPr>
        <p:spPr>
          <a:xfrm>
            <a:off x="4059936" y="2688338"/>
            <a:ext cx="914400" cy="38100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Date Placeholder 10">
            <a:extLst>
              <a:ext uri="{FF2B5EF4-FFF2-40B4-BE49-F238E27FC236}">
                <a16:creationId xmlns:a16="http://schemas.microsoft.com/office/drawing/2014/main" id="{BFEB3236-A1E9-45C1-CC89-ACC07C5850C4}"/>
              </a:ext>
            </a:extLst>
          </p:cNvPr>
          <p:cNvSpPr>
            <a:spLocks noGrp="1"/>
          </p:cNvSpPr>
          <p:nvPr>
            <p:ph type="dt" sz="half" idx="10"/>
          </p:nvPr>
        </p:nvSpPr>
        <p:spPr>
          <a:xfrm>
            <a:off x="838200" y="6553200"/>
            <a:ext cx="2743200" cy="365125"/>
          </a:xfrm>
        </p:spPr>
        <p:txBody>
          <a:bodyPr/>
          <a:lstStyle/>
          <a:p>
            <a:r>
              <a:rPr lang="en-US" altLang="ja-JP" dirty="0"/>
              <a:t>2025/2/27</a:t>
            </a:r>
            <a:endParaRPr lang="en-US" dirty="0"/>
          </a:p>
        </p:txBody>
      </p:sp>
    </p:spTree>
    <p:extLst>
      <p:ext uri="{BB962C8B-B14F-4D97-AF65-F5344CB8AC3E}">
        <p14:creationId xmlns:p14="http://schemas.microsoft.com/office/powerpoint/2010/main" val="25548408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73F43FC-D398-AC44-8566-8C5A8625A3F8}"/>
              </a:ext>
            </a:extLst>
          </p:cNvPr>
          <p:cNvSpPr>
            <a:spLocks noGrp="1"/>
          </p:cNvSpPr>
          <p:nvPr>
            <p:ph type="title"/>
          </p:nvPr>
        </p:nvSpPr>
        <p:spPr>
          <a:xfrm>
            <a:off x="548268" y="284244"/>
            <a:ext cx="10515600" cy="727695"/>
          </a:xfrm>
        </p:spPr>
        <p:txBody>
          <a:bodyPr>
            <a:normAutofit/>
          </a:bodyPr>
          <a:lstStyle/>
          <a:p>
            <a:pPr algn="l"/>
            <a:r>
              <a:rPr kumimoji="1" lang="ja-JP" altLang="en-US" sz="3200" b="0">
                <a:solidFill>
                  <a:schemeClr val="tx1"/>
                </a:solidFill>
                <a:latin typeface="Meiryo" panose="020B0604030504040204" pitchFamily="34" charset="-128"/>
                <a:ea typeface="Meiryo" panose="020B0604030504040204" pitchFamily="34" charset="-128"/>
              </a:rPr>
              <a:t>研究目的</a:t>
            </a:r>
          </a:p>
        </p:txBody>
      </p:sp>
      <p:sp>
        <p:nvSpPr>
          <p:cNvPr id="3" name="コンテンツ プレースホルダー 2">
            <a:extLst>
              <a:ext uri="{FF2B5EF4-FFF2-40B4-BE49-F238E27FC236}">
                <a16:creationId xmlns:a16="http://schemas.microsoft.com/office/drawing/2014/main" id="{C9EF43C5-3BF4-1245-8E9B-EF744E11B7DF}"/>
              </a:ext>
            </a:extLst>
          </p:cNvPr>
          <p:cNvSpPr>
            <a:spLocks noGrp="1"/>
          </p:cNvSpPr>
          <p:nvPr>
            <p:ph idx="1"/>
          </p:nvPr>
        </p:nvSpPr>
        <p:spPr>
          <a:xfrm>
            <a:off x="548267" y="1086228"/>
            <a:ext cx="10939539" cy="2304317"/>
          </a:xfrm>
        </p:spPr>
        <p:txBody>
          <a:bodyPr>
            <a:normAutofit/>
          </a:bodyPr>
          <a:lstStyle/>
          <a:p>
            <a:pPr marL="0" indent="0">
              <a:buNone/>
            </a:pPr>
            <a:r>
              <a:rPr lang="ja-JP" altLang="en-US" sz="2400">
                <a:latin typeface="Meiryo" panose="020B0604030504040204" pitchFamily="34" charset="-128"/>
                <a:ea typeface="Meiryo" panose="020B0604030504040204" pitchFamily="34" charset="-128"/>
              </a:rPr>
              <a:t>状態検知と状態数を同時に学習する手法の提案</a:t>
            </a:r>
            <a:endParaRPr lang="en-US" altLang="ja-JP" sz="2400" dirty="0">
              <a:latin typeface="Meiryo" panose="020B0604030504040204" pitchFamily="34" charset="-128"/>
              <a:ea typeface="Meiryo" panose="020B0604030504040204" pitchFamily="34" charset="-128"/>
            </a:endParaRPr>
          </a:p>
          <a:p>
            <a:pPr>
              <a:buFont typeface="Wingdings" pitchFamily="2" charset="2"/>
              <a:buChar char="Ø"/>
            </a:pPr>
            <a:r>
              <a:rPr lang="ja-JP" altLang="en-US" sz="2400">
                <a:latin typeface="Meiryo" panose="020B0604030504040204" pitchFamily="34" charset="-128"/>
                <a:ea typeface="Meiryo" panose="020B0604030504040204" pitchFamily="34" charset="-128"/>
              </a:rPr>
              <a:t>適切なパターン数も同時に学習</a:t>
            </a:r>
            <a:endParaRPr lang="en-US" altLang="ja-JP" sz="2400" dirty="0">
              <a:latin typeface="Meiryo" panose="020B0604030504040204" pitchFamily="34" charset="-128"/>
              <a:ea typeface="Meiryo" panose="020B0604030504040204" pitchFamily="34" charset="-128"/>
            </a:endParaRPr>
          </a:p>
          <a:p>
            <a:pPr>
              <a:buFont typeface="Wingdings" pitchFamily="2" charset="2"/>
              <a:buChar char="Ø"/>
            </a:pPr>
            <a:r>
              <a:rPr lang="ja-JP" altLang="en-US" sz="2400">
                <a:latin typeface="Meiryo" panose="020B0604030504040204" pitchFamily="34" charset="-128"/>
                <a:ea typeface="Meiryo" panose="020B0604030504040204" pitchFamily="34" charset="-128"/>
              </a:rPr>
              <a:t>時間幅ごとの統計的特徴量の類似度に基づいた対照学習</a:t>
            </a:r>
            <a:endParaRPr lang="en-US" altLang="ja-JP" sz="2400" dirty="0">
              <a:latin typeface="Meiryo" panose="020B0604030504040204" pitchFamily="34" charset="-128"/>
              <a:ea typeface="Meiryo" panose="020B0604030504040204" pitchFamily="34" charset="-128"/>
            </a:endParaRPr>
          </a:p>
          <a:p>
            <a:pPr>
              <a:buFont typeface="Wingdings" pitchFamily="2" charset="2"/>
              <a:buChar char="Ø"/>
            </a:pPr>
            <a:r>
              <a:rPr lang="ja-JP" altLang="en-US" sz="2400">
                <a:latin typeface="Meiryo" panose="020B0604030504040204" pitchFamily="34" charset="-128"/>
                <a:ea typeface="Meiryo" panose="020B0604030504040204" pitchFamily="34" charset="-128"/>
              </a:rPr>
              <a:t>局所的な特徴と長期的な特徴の両方を抽出することで同一パターンの検知</a:t>
            </a:r>
            <a:endParaRPr lang="en-US" altLang="ja-JP" sz="2400" dirty="0">
              <a:latin typeface="Meiryo" panose="020B0604030504040204" pitchFamily="34" charset="-128"/>
              <a:ea typeface="Meiryo" panose="020B0604030504040204" pitchFamily="34" charset="-128"/>
            </a:endParaRPr>
          </a:p>
        </p:txBody>
      </p:sp>
      <p:cxnSp>
        <p:nvCxnSpPr>
          <p:cNvPr id="7" name="Straight Connector 6">
            <a:extLst>
              <a:ext uri="{FF2B5EF4-FFF2-40B4-BE49-F238E27FC236}">
                <a16:creationId xmlns:a16="http://schemas.microsoft.com/office/drawing/2014/main" id="{BB3800FB-FE81-61B1-706C-CDEC701D78C2}"/>
              </a:ext>
            </a:extLst>
          </p:cNvPr>
          <p:cNvCxnSpPr>
            <a:cxnSpLocks/>
          </p:cNvCxnSpPr>
          <p:nvPr/>
        </p:nvCxnSpPr>
        <p:spPr>
          <a:xfrm>
            <a:off x="646043" y="874643"/>
            <a:ext cx="10694505"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1" name="Picture 10" descr="Shape&#10;&#10;Description automatically generated with low confidence">
            <a:extLst>
              <a:ext uri="{FF2B5EF4-FFF2-40B4-BE49-F238E27FC236}">
                <a16:creationId xmlns:a16="http://schemas.microsoft.com/office/drawing/2014/main" id="{C7347E0E-867C-5903-3EA8-AF1D1C076A54}"/>
              </a:ext>
            </a:extLst>
          </p:cNvPr>
          <p:cNvPicPr>
            <a:picLocks noChangeAspect="1"/>
          </p:cNvPicPr>
          <p:nvPr/>
        </p:nvPicPr>
        <p:blipFill>
          <a:blip r:embed="rId3"/>
          <a:stretch>
            <a:fillRect/>
          </a:stretch>
        </p:blipFill>
        <p:spPr>
          <a:xfrm>
            <a:off x="1169632" y="5122612"/>
            <a:ext cx="624307" cy="902953"/>
          </a:xfrm>
          <a:prstGeom prst="rect">
            <a:avLst/>
          </a:prstGeom>
        </p:spPr>
      </p:pic>
      <p:pic>
        <p:nvPicPr>
          <p:cNvPr id="27" name="Picture 26" descr="Shape&#10;&#10;Description automatically generated with low confidence">
            <a:extLst>
              <a:ext uri="{FF2B5EF4-FFF2-40B4-BE49-F238E27FC236}">
                <a16:creationId xmlns:a16="http://schemas.microsoft.com/office/drawing/2014/main" id="{B84E36C2-FD92-0A65-B6AE-98BFCB0E8C46}"/>
              </a:ext>
            </a:extLst>
          </p:cNvPr>
          <p:cNvPicPr>
            <a:picLocks noChangeAspect="1"/>
          </p:cNvPicPr>
          <p:nvPr/>
        </p:nvPicPr>
        <p:blipFill>
          <a:blip r:embed="rId4"/>
          <a:stretch>
            <a:fillRect/>
          </a:stretch>
        </p:blipFill>
        <p:spPr>
          <a:xfrm>
            <a:off x="4459722" y="3907928"/>
            <a:ext cx="787400" cy="787400"/>
          </a:xfrm>
          <a:prstGeom prst="rect">
            <a:avLst/>
          </a:prstGeom>
        </p:spPr>
      </p:pic>
      <p:sp>
        <p:nvSpPr>
          <p:cNvPr id="29" name="Rounded Rectangular Callout 28">
            <a:extLst>
              <a:ext uri="{FF2B5EF4-FFF2-40B4-BE49-F238E27FC236}">
                <a16:creationId xmlns:a16="http://schemas.microsoft.com/office/drawing/2014/main" id="{0EC8888D-E557-7E42-85A0-9DE4F5BCF734}"/>
              </a:ext>
            </a:extLst>
          </p:cNvPr>
          <p:cNvSpPr/>
          <p:nvPr/>
        </p:nvSpPr>
        <p:spPr>
          <a:xfrm>
            <a:off x="2219834" y="4957619"/>
            <a:ext cx="3266566" cy="902953"/>
          </a:xfrm>
          <a:prstGeom prst="wedgeRoundRectCallout">
            <a:avLst>
              <a:gd name="adj1" fmla="val -58322"/>
              <a:gd name="adj2" fmla="val 21121"/>
              <a:gd name="adj3" fmla="val 16667"/>
            </a:avLst>
          </a:prstGeom>
          <a:noFill/>
          <a:ln w="38100">
            <a:solidFill>
              <a:srgbClr val="00BE0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30" name="TextBox 29">
            <a:extLst>
              <a:ext uri="{FF2B5EF4-FFF2-40B4-BE49-F238E27FC236}">
                <a16:creationId xmlns:a16="http://schemas.microsoft.com/office/drawing/2014/main" id="{1102F15D-EFE5-D3D5-F604-959E9D4BC04D}"/>
              </a:ext>
            </a:extLst>
          </p:cNvPr>
          <p:cNvSpPr txBox="1"/>
          <p:nvPr/>
        </p:nvSpPr>
        <p:spPr>
          <a:xfrm>
            <a:off x="2260373" y="5116847"/>
            <a:ext cx="3185487" cy="646331"/>
          </a:xfrm>
          <a:prstGeom prst="rect">
            <a:avLst/>
          </a:prstGeom>
          <a:noFill/>
        </p:spPr>
        <p:txBody>
          <a:bodyPr wrap="none" rtlCol="0">
            <a:spAutoFit/>
          </a:bodyPr>
          <a:lstStyle/>
          <a:p>
            <a:r>
              <a:rPr lang="ja-JP" altLang="en-US">
                <a:latin typeface="Meiryo" panose="020B0604030504040204" pitchFamily="34" charset="-128"/>
                <a:ea typeface="Meiryo" panose="020B0604030504040204" pitchFamily="34" charset="-128"/>
              </a:rPr>
              <a:t>走行データの状態を検出し</a:t>
            </a:r>
            <a:br>
              <a:rPr lang="en-US" altLang="ja-JP" dirty="0">
                <a:latin typeface="Meiryo" panose="020B0604030504040204" pitchFamily="34" charset="-128"/>
                <a:ea typeface="Meiryo" panose="020B0604030504040204" pitchFamily="34" charset="-128"/>
              </a:rPr>
            </a:br>
            <a:r>
              <a:rPr lang="ja-JP" altLang="en-US">
                <a:latin typeface="Meiryo" panose="020B0604030504040204" pitchFamily="34" charset="-128"/>
                <a:ea typeface="Meiryo" panose="020B0604030504040204" pitchFamily="34" charset="-128"/>
              </a:rPr>
              <a:t>ブレーキの部分時系列を抽出</a:t>
            </a:r>
            <a:endParaRPr lang="en-JP" dirty="0">
              <a:latin typeface="Meiryo" panose="020B0604030504040204" pitchFamily="34" charset="-128"/>
              <a:ea typeface="Meiryo" panose="020B0604030504040204" pitchFamily="34" charset="-128"/>
            </a:endParaRPr>
          </a:p>
        </p:txBody>
      </p:sp>
      <p:sp>
        <p:nvSpPr>
          <p:cNvPr id="33" name="Rounded Rectangle 32">
            <a:extLst>
              <a:ext uri="{FF2B5EF4-FFF2-40B4-BE49-F238E27FC236}">
                <a16:creationId xmlns:a16="http://schemas.microsoft.com/office/drawing/2014/main" id="{5DE4B5EF-4BBF-1518-BF7B-3131C05B85C1}"/>
              </a:ext>
            </a:extLst>
          </p:cNvPr>
          <p:cNvSpPr/>
          <p:nvPr/>
        </p:nvSpPr>
        <p:spPr>
          <a:xfrm>
            <a:off x="785072" y="3630004"/>
            <a:ext cx="2857499" cy="787400"/>
          </a:xfrm>
          <a:prstGeom prst="round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34" name="TextBox 33">
            <a:extLst>
              <a:ext uri="{FF2B5EF4-FFF2-40B4-BE49-F238E27FC236}">
                <a16:creationId xmlns:a16="http://schemas.microsoft.com/office/drawing/2014/main" id="{EBF0F420-E6BF-2317-B6C0-83A233E78080}"/>
              </a:ext>
            </a:extLst>
          </p:cNvPr>
          <p:cNvSpPr txBox="1"/>
          <p:nvPr/>
        </p:nvSpPr>
        <p:spPr>
          <a:xfrm>
            <a:off x="942584" y="3697069"/>
            <a:ext cx="2492990" cy="646331"/>
          </a:xfrm>
          <a:prstGeom prst="rect">
            <a:avLst/>
          </a:prstGeom>
          <a:noFill/>
        </p:spPr>
        <p:txBody>
          <a:bodyPr wrap="none" rtlCol="0">
            <a:spAutoFit/>
          </a:bodyPr>
          <a:lstStyle/>
          <a:p>
            <a:r>
              <a:rPr lang="ja-JP" altLang="en-US">
                <a:latin typeface="Meiryo" panose="020B0604030504040204" pitchFamily="34" charset="-128"/>
                <a:ea typeface="Meiryo" panose="020B0604030504040204" pitchFamily="34" charset="-128"/>
              </a:rPr>
              <a:t>走行データのブレーキ</a:t>
            </a:r>
            <a:br>
              <a:rPr lang="en-US" altLang="ja-JP" dirty="0">
                <a:latin typeface="Meiryo" panose="020B0604030504040204" pitchFamily="34" charset="-128"/>
                <a:ea typeface="Meiryo" panose="020B0604030504040204" pitchFamily="34" charset="-128"/>
              </a:rPr>
            </a:br>
            <a:r>
              <a:rPr lang="ja-JP" altLang="en-US">
                <a:latin typeface="Meiryo" panose="020B0604030504040204" pitchFamily="34" charset="-128"/>
                <a:ea typeface="Meiryo" panose="020B0604030504040204" pitchFamily="34" charset="-128"/>
              </a:rPr>
              <a:t>の解析がしたい</a:t>
            </a:r>
            <a:endParaRPr lang="en-JP" dirty="0">
              <a:latin typeface="Meiryo" panose="020B0604030504040204" pitchFamily="34" charset="-128"/>
              <a:ea typeface="Meiryo" panose="020B0604030504040204" pitchFamily="34" charset="-128"/>
            </a:endParaRPr>
          </a:p>
        </p:txBody>
      </p:sp>
      <p:sp>
        <p:nvSpPr>
          <p:cNvPr id="35" name="Oval 34">
            <a:extLst>
              <a:ext uri="{FF2B5EF4-FFF2-40B4-BE49-F238E27FC236}">
                <a16:creationId xmlns:a16="http://schemas.microsoft.com/office/drawing/2014/main" id="{CE0D6EA8-2E60-BC77-B648-1479A44436CA}"/>
              </a:ext>
            </a:extLst>
          </p:cNvPr>
          <p:cNvSpPr/>
          <p:nvPr/>
        </p:nvSpPr>
        <p:spPr>
          <a:xfrm>
            <a:off x="4020441" y="4000588"/>
            <a:ext cx="165698" cy="165698"/>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JP">
              <a:solidFill>
                <a:schemeClr val="tx1"/>
              </a:solidFill>
            </a:endParaRPr>
          </a:p>
        </p:txBody>
      </p:sp>
      <p:sp>
        <p:nvSpPr>
          <p:cNvPr id="36" name="Oval 35">
            <a:extLst>
              <a:ext uri="{FF2B5EF4-FFF2-40B4-BE49-F238E27FC236}">
                <a16:creationId xmlns:a16="http://schemas.microsoft.com/office/drawing/2014/main" id="{8EC468FA-35FC-EE80-63A2-C4D1ABCB53DF}"/>
              </a:ext>
            </a:extLst>
          </p:cNvPr>
          <p:cNvSpPr/>
          <p:nvPr/>
        </p:nvSpPr>
        <p:spPr>
          <a:xfrm>
            <a:off x="3790110" y="3750079"/>
            <a:ext cx="248490" cy="248490"/>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JP">
              <a:solidFill>
                <a:schemeClr val="tx1"/>
              </a:solidFill>
            </a:endParaRPr>
          </a:p>
        </p:txBody>
      </p:sp>
      <p:sp>
        <p:nvSpPr>
          <p:cNvPr id="37" name="Oval 36">
            <a:extLst>
              <a:ext uri="{FF2B5EF4-FFF2-40B4-BE49-F238E27FC236}">
                <a16:creationId xmlns:a16="http://schemas.microsoft.com/office/drawing/2014/main" id="{1815A58B-CF6F-1624-B88E-BB6E34587CB2}"/>
              </a:ext>
            </a:extLst>
          </p:cNvPr>
          <p:cNvSpPr/>
          <p:nvPr/>
        </p:nvSpPr>
        <p:spPr>
          <a:xfrm>
            <a:off x="4236736" y="4157095"/>
            <a:ext cx="110105" cy="110105"/>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JP">
              <a:solidFill>
                <a:schemeClr val="tx1"/>
              </a:solidFill>
            </a:endParaRPr>
          </a:p>
        </p:txBody>
      </p:sp>
      <p:sp>
        <p:nvSpPr>
          <p:cNvPr id="6" name="Slide Number Placeholder 5">
            <a:extLst>
              <a:ext uri="{FF2B5EF4-FFF2-40B4-BE49-F238E27FC236}">
                <a16:creationId xmlns:a16="http://schemas.microsoft.com/office/drawing/2014/main" id="{DD010084-73D6-9E43-6E0C-92FF603800ED}"/>
              </a:ext>
            </a:extLst>
          </p:cNvPr>
          <p:cNvSpPr>
            <a:spLocks noGrp="1"/>
          </p:cNvSpPr>
          <p:nvPr>
            <p:ph type="sldNum" sz="quarter" idx="12"/>
          </p:nvPr>
        </p:nvSpPr>
        <p:spPr/>
        <p:txBody>
          <a:bodyPr/>
          <a:lstStyle/>
          <a:p>
            <a:fld id="{6675BFCB-789E-5945-84C6-0973649846BB}" type="slidenum">
              <a:rPr lang="en-US" smtClean="0"/>
              <a:pPr/>
              <a:t>4</a:t>
            </a:fld>
            <a:endParaRPr lang="en-US" dirty="0"/>
          </a:p>
        </p:txBody>
      </p:sp>
      <p:sp>
        <p:nvSpPr>
          <p:cNvPr id="4" name="TextBox 3">
            <a:extLst>
              <a:ext uri="{FF2B5EF4-FFF2-40B4-BE49-F238E27FC236}">
                <a16:creationId xmlns:a16="http://schemas.microsoft.com/office/drawing/2014/main" id="{738E7B67-3176-B80F-A14A-03CE7BAB119A}"/>
              </a:ext>
            </a:extLst>
          </p:cNvPr>
          <p:cNvSpPr txBox="1"/>
          <p:nvPr/>
        </p:nvSpPr>
        <p:spPr>
          <a:xfrm>
            <a:off x="4413630" y="6167096"/>
            <a:ext cx="2980303" cy="338554"/>
          </a:xfrm>
          <a:prstGeom prst="rect">
            <a:avLst/>
          </a:prstGeom>
          <a:noFill/>
        </p:spPr>
        <p:txBody>
          <a:bodyPr wrap="none" rtlCol="0">
            <a:spAutoFit/>
          </a:bodyPr>
          <a:lstStyle/>
          <a:p>
            <a:r>
              <a:rPr lang="en-JP" sz="1600" dirty="0">
                <a:latin typeface="Meiryo" panose="020B0604030504040204" pitchFamily="34" charset="-128"/>
                <a:ea typeface="Meiryo" panose="020B0604030504040204" pitchFamily="34" charset="-128"/>
              </a:rPr>
              <a:t>図4：提案手法の活用イメージ</a:t>
            </a:r>
          </a:p>
        </p:txBody>
      </p:sp>
      <p:sp>
        <p:nvSpPr>
          <p:cNvPr id="5" name="Date Placeholder 10">
            <a:extLst>
              <a:ext uri="{FF2B5EF4-FFF2-40B4-BE49-F238E27FC236}">
                <a16:creationId xmlns:a16="http://schemas.microsoft.com/office/drawing/2014/main" id="{C0F42E58-FCF3-84E5-F8F2-525627FD3007}"/>
              </a:ext>
            </a:extLst>
          </p:cNvPr>
          <p:cNvSpPr>
            <a:spLocks noGrp="1"/>
          </p:cNvSpPr>
          <p:nvPr>
            <p:ph type="dt" sz="half" idx="10"/>
          </p:nvPr>
        </p:nvSpPr>
        <p:spPr>
          <a:xfrm>
            <a:off x="838200" y="6553200"/>
            <a:ext cx="2743200" cy="365125"/>
          </a:xfrm>
        </p:spPr>
        <p:txBody>
          <a:bodyPr/>
          <a:lstStyle/>
          <a:p>
            <a:r>
              <a:rPr lang="en-US" altLang="ja-JP" dirty="0"/>
              <a:t>2025/2/27</a:t>
            </a:r>
            <a:endParaRPr lang="en-US" dirty="0"/>
          </a:p>
        </p:txBody>
      </p:sp>
      <p:sp>
        <p:nvSpPr>
          <p:cNvPr id="8" name="フッター プレースホルダー 4">
            <a:extLst>
              <a:ext uri="{FF2B5EF4-FFF2-40B4-BE49-F238E27FC236}">
                <a16:creationId xmlns:a16="http://schemas.microsoft.com/office/drawing/2014/main" id="{A5EB954F-E096-2D50-9F12-7BA728CFA1EB}"/>
              </a:ext>
            </a:extLst>
          </p:cNvPr>
          <p:cNvSpPr>
            <a:spLocks noGrp="1"/>
          </p:cNvSpPr>
          <p:nvPr>
            <p:ph type="ftr" sz="quarter" idx="11"/>
          </p:nvPr>
        </p:nvSpPr>
        <p:spPr>
          <a:xfrm>
            <a:off x="4038600" y="6553200"/>
            <a:ext cx="4114800" cy="365125"/>
          </a:xfrm>
        </p:spPr>
        <p:txBody>
          <a:bodyPr/>
          <a:lstStyle/>
          <a:p>
            <a:r>
              <a:rPr lang="fi-FI"/>
              <a:t>Tsubasa Kato @ Sakurai Lab.</a:t>
            </a:r>
            <a:endParaRPr lang="en-US" dirty="0"/>
          </a:p>
        </p:txBody>
      </p:sp>
      <p:pic>
        <p:nvPicPr>
          <p:cNvPr id="10" name="Picture 10" descr="Shape&#10;&#10;Description automatically generated with low confidence">
            <a:extLst>
              <a:ext uri="{FF2B5EF4-FFF2-40B4-BE49-F238E27FC236}">
                <a16:creationId xmlns:a16="http://schemas.microsoft.com/office/drawing/2014/main" id="{2B73A8A0-7419-0750-6556-BAD8B38641BD}"/>
              </a:ext>
            </a:extLst>
          </p:cNvPr>
          <p:cNvPicPr>
            <a:picLocks noChangeAspect="1"/>
          </p:cNvPicPr>
          <p:nvPr/>
        </p:nvPicPr>
        <p:blipFill>
          <a:blip r:embed="rId3"/>
          <a:stretch>
            <a:fillRect/>
          </a:stretch>
        </p:blipFill>
        <p:spPr>
          <a:xfrm>
            <a:off x="6783223" y="5049064"/>
            <a:ext cx="624307" cy="902953"/>
          </a:xfrm>
          <a:prstGeom prst="rect">
            <a:avLst/>
          </a:prstGeom>
        </p:spPr>
      </p:pic>
      <p:pic>
        <p:nvPicPr>
          <p:cNvPr id="13" name="Picture 26" descr="Shape&#10;&#10;Description automatically generated with low confidence">
            <a:extLst>
              <a:ext uri="{FF2B5EF4-FFF2-40B4-BE49-F238E27FC236}">
                <a16:creationId xmlns:a16="http://schemas.microsoft.com/office/drawing/2014/main" id="{C8683F83-4200-4B52-6390-EE71695E458A}"/>
              </a:ext>
            </a:extLst>
          </p:cNvPr>
          <p:cNvPicPr>
            <a:picLocks noChangeAspect="1"/>
          </p:cNvPicPr>
          <p:nvPr/>
        </p:nvPicPr>
        <p:blipFill>
          <a:blip r:embed="rId4"/>
          <a:stretch>
            <a:fillRect/>
          </a:stretch>
        </p:blipFill>
        <p:spPr>
          <a:xfrm>
            <a:off x="10073313" y="3834380"/>
            <a:ext cx="787400" cy="787400"/>
          </a:xfrm>
          <a:prstGeom prst="rect">
            <a:avLst/>
          </a:prstGeom>
        </p:spPr>
      </p:pic>
      <p:sp>
        <p:nvSpPr>
          <p:cNvPr id="14" name="Rounded Rectangular Callout 28">
            <a:extLst>
              <a:ext uri="{FF2B5EF4-FFF2-40B4-BE49-F238E27FC236}">
                <a16:creationId xmlns:a16="http://schemas.microsoft.com/office/drawing/2014/main" id="{0D512538-C7E9-6C39-9D99-C17D272F7825}"/>
              </a:ext>
            </a:extLst>
          </p:cNvPr>
          <p:cNvSpPr/>
          <p:nvPr/>
        </p:nvSpPr>
        <p:spPr>
          <a:xfrm>
            <a:off x="7924800" y="4835374"/>
            <a:ext cx="3505200" cy="1025198"/>
          </a:xfrm>
          <a:prstGeom prst="wedgeRoundRectCallout">
            <a:avLst>
              <a:gd name="adj1" fmla="val -58322"/>
              <a:gd name="adj2" fmla="val 21121"/>
              <a:gd name="adj3" fmla="val 16667"/>
            </a:avLst>
          </a:prstGeom>
          <a:noFill/>
          <a:ln w="38100">
            <a:solidFill>
              <a:srgbClr val="00BE0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15" name="TextBox 29">
            <a:extLst>
              <a:ext uri="{FF2B5EF4-FFF2-40B4-BE49-F238E27FC236}">
                <a16:creationId xmlns:a16="http://schemas.microsoft.com/office/drawing/2014/main" id="{325CE0FA-ED2E-C9FF-BC46-2A3F0073F249}"/>
              </a:ext>
            </a:extLst>
          </p:cNvPr>
          <p:cNvSpPr txBox="1"/>
          <p:nvPr/>
        </p:nvSpPr>
        <p:spPr>
          <a:xfrm>
            <a:off x="8001000" y="4926838"/>
            <a:ext cx="3185487" cy="923330"/>
          </a:xfrm>
          <a:prstGeom prst="rect">
            <a:avLst/>
          </a:prstGeom>
          <a:noFill/>
        </p:spPr>
        <p:txBody>
          <a:bodyPr wrap="none" rtlCol="0">
            <a:spAutoFit/>
          </a:bodyPr>
          <a:lstStyle/>
          <a:p>
            <a:r>
              <a:rPr lang="ja-JP" altLang="en-US">
                <a:latin typeface="Meiryo" panose="020B0604030504040204" pitchFamily="34" charset="-128"/>
                <a:ea typeface="Meiryo" panose="020B0604030504040204" pitchFamily="34" charset="-128"/>
              </a:rPr>
              <a:t>機械の故障パターンを検出し</a:t>
            </a:r>
            <a:br>
              <a:rPr lang="en-US" altLang="ja-JP" dirty="0">
                <a:latin typeface="Meiryo" panose="020B0604030504040204" pitchFamily="34" charset="-128"/>
                <a:ea typeface="Meiryo" panose="020B0604030504040204" pitchFamily="34" charset="-128"/>
              </a:rPr>
            </a:br>
            <a:r>
              <a:rPr lang="ja-JP" altLang="en-US">
                <a:latin typeface="Meiryo" panose="020B0604030504040204" pitchFamily="34" charset="-128"/>
                <a:ea typeface="Meiryo" panose="020B0604030504040204" pitchFamily="34" charset="-128"/>
              </a:rPr>
              <a:t>現在の状態が故障パターンの</a:t>
            </a:r>
            <a:br>
              <a:rPr lang="en-US" altLang="ja-JP" dirty="0">
                <a:latin typeface="Meiryo" panose="020B0604030504040204" pitchFamily="34" charset="-128"/>
                <a:ea typeface="Meiryo" panose="020B0604030504040204" pitchFamily="34" charset="-128"/>
              </a:rPr>
            </a:br>
            <a:r>
              <a:rPr lang="ja-JP" altLang="en-US">
                <a:latin typeface="Meiryo" panose="020B0604030504040204" pitchFamily="34" charset="-128"/>
                <a:ea typeface="Meiryo" panose="020B0604030504040204" pitchFamily="34" charset="-128"/>
              </a:rPr>
              <a:t>どの状態に該当するか解析</a:t>
            </a:r>
            <a:endParaRPr lang="en-JP" dirty="0">
              <a:latin typeface="Meiryo" panose="020B0604030504040204" pitchFamily="34" charset="-128"/>
              <a:ea typeface="Meiryo" panose="020B0604030504040204" pitchFamily="34" charset="-128"/>
            </a:endParaRPr>
          </a:p>
        </p:txBody>
      </p:sp>
      <p:sp>
        <p:nvSpPr>
          <p:cNvPr id="16" name="Rounded Rectangle 32">
            <a:extLst>
              <a:ext uri="{FF2B5EF4-FFF2-40B4-BE49-F238E27FC236}">
                <a16:creationId xmlns:a16="http://schemas.microsoft.com/office/drawing/2014/main" id="{AA512436-2B0F-383C-0A63-A3799DBAA665}"/>
              </a:ext>
            </a:extLst>
          </p:cNvPr>
          <p:cNvSpPr/>
          <p:nvPr/>
        </p:nvSpPr>
        <p:spPr>
          <a:xfrm>
            <a:off x="6477934" y="3581651"/>
            <a:ext cx="2810602" cy="787400"/>
          </a:xfrm>
          <a:prstGeom prst="round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17" name="TextBox 33">
            <a:extLst>
              <a:ext uri="{FF2B5EF4-FFF2-40B4-BE49-F238E27FC236}">
                <a16:creationId xmlns:a16="http://schemas.microsoft.com/office/drawing/2014/main" id="{1B1AF23B-669F-F697-4FD5-BBDA2AA1CEE7}"/>
              </a:ext>
            </a:extLst>
          </p:cNvPr>
          <p:cNvSpPr txBox="1"/>
          <p:nvPr/>
        </p:nvSpPr>
        <p:spPr>
          <a:xfrm>
            <a:off x="6705600" y="3657600"/>
            <a:ext cx="2262158" cy="646331"/>
          </a:xfrm>
          <a:prstGeom prst="rect">
            <a:avLst/>
          </a:prstGeom>
          <a:noFill/>
        </p:spPr>
        <p:txBody>
          <a:bodyPr wrap="none" rtlCol="0">
            <a:spAutoFit/>
          </a:bodyPr>
          <a:lstStyle/>
          <a:p>
            <a:r>
              <a:rPr lang="ja-JP" altLang="en-US">
                <a:latin typeface="Meiryo" panose="020B0604030504040204" pitchFamily="34" charset="-128"/>
                <a:ea typeface="Meiryo" panose="020B0604030504040204" pitchFamily="34" charset="-128"/>
              </a:rPr>
              <a:t>機械がいつ</a:t>
            </a:r>
            <a:br>
              <a:rPr lang="en-US" altLang="ja-JP" dirty="0">
                <a:latin typeface="Meiryo" panose="020B0604030504040204" pitchFamily="34" charset="-128"/>
                <a:ea typeface="Meiryo" panose="020B0604030504040204" pitchFamily="34" charset="-128"/>
              </a:rPr>
            </a:br>
            <a:r>
              <a:rPr lang="ja-JP" altLang="en-US">
                <a:latin typeface="Meiryo" panose="020B0604030504040204" pitchFamily="34" charset="-128"/>
                <a:ea typeface="Meiryo" panose="020B0604030504040204" pitchFamily="34" charset="-128"/>
              </a:rPr>
              <a:t>故障するか知りたい</a:t>
            </a:r>
            <a:endParaRPr lang="en-JP" dirty="0">
              <a:latin typeface="Meiryo" panose="020B0604030504040204" pitchFamily="34" charset="-128"/>
              <a:ea typeface="Meiryo" panose="020B0604030504040204" pitchFamily="34" charset="-128"/>
            </a:endParaRPr>
          </a:p>
        </p:txBody>
      </p:sp>
      <p:sp>
        <p:nvSpPr>
          <p:cNvPr id="18" name="Oval 34">
            <a:extLst>
              <a:ext uri="{FF2B5EF4-FFF2-40B4-BE49-F238E27FC236}">
                <a16:creationId xmlns:a16="http://schemas.microsoft.com/office/drawing/2014/main" id="{C717BEBA-701F-9994-24FB-595F29957CF2}"/>
              </a:ext>
            </a:extLst>
          </p:cNvPr>
          <p:cNvSpPr/>
          <p:nvPr/>
        </p:nvSpPr>
        <p:spPr>
          <a:xfrm>
            <a:off x="9634032" y="3927040"/>
            <a:ext cx="165698" cy="165698"/>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JP">
              <a:solidFill>
                <a:schemeClr val="tx1"/>
              </a:solidFill>
            </a:endParaRPr>
          </a:p>
        </p:txBody>
      </p:sp>
      <p:sp>
        <p:nvSpPr>
          <p:cNvPr id="19" name="Oval 35">
            <a:extLst>
              <a:ext uri="{FF2B5EF4-FFF2-40B4-BE49-F238E27FC236}">
                <a16:creationId xmlns:a16="http://schemas.microsoft.com/office/drawing/2014/main" id="{CB097A99-A75F-2183-B03C-928AFBA4AC4B}"/>
              </a:ext>
            </a:extLst>
          </p:cNvPr>
          <p:cNvSpPr/>
          <p:nvPr/>
        </p:nvSpPr>
        <p:spPr>
          <a:xfrm>
            <a:off x="9403701" y="3676531"/>
            <a:ext cx="248490" cy="248490"/>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JP">
              <a:solidFill>
                <a:schemeClr val="tx1"/>
              </a:solidFill>
            </a:endParaRPr>
          </a:p>
        </p:txBody>
      </p:sp>
      <p:sp>
        <p:nvSpPr>
          <p:cNvPr id="20" name="Oval 36">
            <a:extLst>
              <a:ext uri="{FF2B5EF4-FFF2-40B4-BE49-F238E27FC236}">
                <a16:creationId xmlns:a16="http://schemas.microsoft.com/office/drawing/2014/main" id="{7C5561FE-3926-CE13-4C30-DF4472918BCE}"/>
              </a:ext>
            </a:extLst>
          </p:cNvPr>
          <p:cNvSpPr/>
          <p:nvPr/>
        </p:nvSpPr>
        <p:spPr>
          <a:xfrm>
            <a:off x="9850327" y="4083547"/>
            <a:ext cx="110105" cy="110105"/>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JP">
              <a:solidFill>
                <a:schemeClr val="tx1"/>
              </a:solidFill>
            </a:endParaRPr>
          </a:p>
        </p:txBody>
      </p:sp>
    </p:spTree>
    <p:extLst>
      <p:ext uri="{BB962C8B-B14F-4D97-AF65-F5344CB8AC3E}">
        <p14:creationId xmlns:p14="http://schemas.microsoft.com/office/powerpoint/2010/main" val="35448062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32AD48-8827-FFEC-7F27-C0A0DE7A8BA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7C8E7A4-978D-B9E5-A552-9773533C089C}"/>
              </a:ext>
            </a:extLst>
          </p:cNvPr>
          <p:cNvSpPr>
            <a:spLocks noGrp="1"/>
          </p:cNvSpPr>
          <p:nvPr>
            <p:ph type="title"/>
          </p:nvPr>
        </p:nvSpPr>
        <p:spPr>
          <a:xfrm>
            <a:off x="548268" y="284244"/>
            <a:ext cx="10515600" cy="727695"/>
          </a:xfrm>
        </p:spPr>
        <p:txBody>
          <a:bodyPr>
            <a:normAutofit/>
          </a:bodyPr>
          <a:lstStyle/>
          <a:p>
            <a:pPr algn="l"/>
            <a:r>
              <a:rPr kumimoji="1" lang="ja-JP" altLang="en-US" sz="3200" b="0">
                <a:solidFill>
                  <a:schemeClr val="tx1"/>
                </a:solidFill>
                <a:latin typeface="Meiryo" panose="020B0604030504040204" pitchFamily="34" charset="-128"/>
                <a:ea typeface="Meiryo" panose="020B0604030504040204" pitchFamily="34" charset="-128"/>
              </a:rPr>
              <a:t>関連研究</a:t>
            </a:r>
          </a:p>
        </p:txBody>
      </p:sp>
      <p:sp>
        <p:nvSpPr>
          <p:cNvPr id="3" name="コンテンツ プレースホルダー 2">
            <a:extLst>
              <a:ext uri="{FF2B5EF4-FFF2-40B4-BE49-F238E27FC236}">
                <a16:creationId xmlns:a16="http://schemas.microsoft.com/office/drawing/2014/main" id="{03847ADC-A2C0-65FC-6BF7-1D51480673F4}"/>
              </a:ext>
            </a:extLst>
          </p:cNvPr>
          <p:cNvSpPr>
            <a:spLocks noGrp="1"/>
          </p:cNvSpPr>
          <p:nvPr>
            <p:ph idx="1"/>
          </p:nvPr>
        </p:nvSpPr>
        <p:spPr>
          <a:xfrm>
            <a:off x="548267" y="1086228"/>
            <a:ext cx="10939539" cy="2304317"/>
          </a:xfrm>
        </p:spPr>
        <p:txBody>
          <a:bodyPr>
            <a:normAutofit/>
          </a:bodyPr>
          <a:lstStyle/>
          <a:p>
            <a:pPr marL="0" indent="0">
              <a:buNone/>
            </a:pPr>
            <a:r>
              <a:rPr lang="ja-JP" altLang="en-US" sz="3200">
                <a:latin typeface="Meiryo" panose="020B0604030504040204" pitchFamily="34" charset="-128"/>
                <a:ea typeface="Meiryo" panose="020B0604030504040204" pitchFamily="34" charset="-128"/>
              </a:rPr>
              <a:t>数理モデル</a:t>
            </a:r>
            <a:endParaRPr lang="en-US" altLang="ja-JP" sz="3200" dirty="0">
              <a:latin typeface="Meiryo" panose="020B0604030504040204" pitchFamily="34" charset="-128"/>
              <a:ea typeface="Meiryo" panose="020B0604030504040204" pitchFamily="34" charset="-128"/>
            </a:endParaRPr>
          </a:p>
          <a:p>
            <a:pPr>
              <a:buFont typeface="Wingdings" pitchFamily="2" charset="2"/>
              <a:buChar char="Ø"/>
            </a:pPr>
            <a:r>
              <a:rPr lang="en-US" altLang="ja-JP" dirty="0" err="1">
                <a:latin typeface="Meiryo" panose="020B0604030504040204" pitchFamily="34" charset="-128"/>
                <a:ea typeface="Meiryo" panose="020B0604030504040204" pitchFamily="34" charset="-128"/>
              </a:rPr>
              <a:t>AutoPlait</a:t>
            </a:r>
            <a:r>
              <a:rPr lang="en-US" altLang="ja-JP" baseline="30000" dirty="0">
                <a:latin typeface="Meiryo" panose="020B0604030504040204" pitchFamily="34" charset="-128"/>
                <a:ea typeface="Meiryo" panose="020B0604030504040204" pitchFamily="34" charset="-128"/>
              </a:rPr>
              <a:t> </a:t>
            </a:r>
            <a:r>
              <a:rPr lang="en-US" altLang="ja-JP" sz="1600" baseline="30000" dirty="0">
                <a:latin typeface="Meiryo" panose="020B0604030504040204" pitchFamily="34" charset="-128"/>
                <a:ea typeface="Meiryo" panose="020B0604030504040204" pitchFamily="34" charset="-128"/>
              </a:rPr>
              <a:t>(</a:t>
            </a:r>
            <a:r>
              <a:rPr lang="en-US" altLang="ja-JP" sz="1600" dirty="0">
                <a:solidFill>
                  <a:srgbClr val="222222"/>
                </a:solidFill>
                <a:latin typeface="Meiryo" panose="020B0604030504040204" pitchFamily="34" charset="-128"/>
                <a:ea typeface="Meiryo" panose="020B0604030504040204" pitchFamily="34" charset="-128"/>
              </a:rPr>
              <a:t>SIGMOD 2014 Yasuko</a:t>
            </a:r>
            <a:r>
              <a:rPr lang="ja-JP" altLang="en-US" sz="1600">
                <a:solidFill>
                  <a:srgbClr val="222222"/>
                </a:solidFill>
                <a:latin typeface="Meiryo" panose="020B0604030504040204" pitchFamily="34" charset="-128"/>
                <a:ea typeface="Meiryo" panose="020B0604030504040204" pitchFamily="34" charset="-128"/>
              </a:rPr>
              <a:t>ら</a:t>
            </a:r>
            <a:r>
              <a:rPr lang="en-US" altLang="ja-JP" sz="1600" baseline="30000" dirty="0">
                <a:latin typeface="Meiryo" panose="020B0604030504040204" pitchFamily="34" charset="-128"/>
                <a:ea typeface="Meiryo" panose="020B0604030504040204" pitchFamily="34" charset="-128"/>
              </a:rPr>
              <a:t>)</a:t>
            </a:r>
            <a:endParaRPr lang="en-US" altLang="ja-JP" sz="1600" dirty="0">
              <a:latin typeface="Meiryo" panose="020B0604030504040204" pitchFamily="34" charset="-128"/>
              <a:ea typeface="Meiryo" panose="020B0604030504040204" pitchFamily="34" charset="-128"/>
            </a:endParaRPr>
          </a:p>
          <a:p>
            <a:pPr lvl="1">
              <a:buFont typeface="Wingdings" pitchFamily="2" charset="2"/>
              <a:buChar char="Ø"/>
            </a:pPr>
            <a:r>
              <a:rPr lang="ja-JP" altLang="en-US" sz="2800">
                <a:latin typeface="Meiryo" panose="020B0604030504040204" pitchFamily="34" charset="-128"/>
                <a:ea typeface="Meiryo" panose="020B0604030504040204" pitchFamily="34" charset="-128"/>
              </a:rPr>
              <a:t>隠れマルコフモデルによる状態変化の検出</a:t>
            </a:r>
            <a:endParaRPr lang="en-US" altLang="ja-JP" sz="2800" dirty="0">
              <a:latin typeface="Meiryo" panose="020B0604030504040204" pitchFamily="34" charset="-128"/>
              <a:ea typeface="Meiryo" panose="020B0604030504040204" pitchFamily="34" charset="-128"/>
            </a:endParaRPr>
          </a:p>
          <a:p>
            <a:pPr lvl="1">
              <a:buFont typeface="Wingdings" pitchFamily="2" charset="2"/>
              <a:buChar char="Ø"/>
            </a:pPr>
            <a:r>
              <a:rPr lang="en-US" altLang="ja-JP" sz="2800" dirty="0">
                <a:latin typeface="Meiryo" panose="020B0604030504040204" pitchFamily="34" charset="-128"/>
                <a:ea typeface="Meiryo" panose="020B0604030504040204" pitchFamily="34" charset="-128"/>
              </a:rPr>
              <a:t>MDL</a:t>
            </a:r>
            <a:r>
              <a:rPr lang="ja-JP" altLang="en-US" sz="2800">
                <a:latin typeface="Meiryo" panose="020B0604030504040204" pitchFamily="34" charset="-128"/>
                <a:ea typeface="Meiryo" panose="020B0604030504040204" pitchFamily="34" charset="-128"/>
              </a:rPr>
              <a:t>原理に基づく符号化コスト最小化のモデル選択</a:t>
            </a:r>
            <a:endParaRPr lang="en-US" altLang="ja-JP" sz="2800" dirty="0">
              <a:latin typeface="Meiryo" panose="020B0604030504040204" pitchFamily="34" charset="-128"/>
              <a:ea typeface="Meiryo" panose="020B0604030504040204" pitchFamily="34" charset="-128"/>
            </a:endParaRPr>
          </a:p>
          <a:p>
            <a:pPr>
              <a:buFont typeface="Wingdings" pitchFamily="2" charset="2"/>
              <a:buChar char="Ø"/>
            </a:pPr>
            <a:endParaRPr lang="en-US" altLang="ja-JP" sz="2400" dirty="0">
              <a:latin typeface="Meiryo" panose="020B0604030504040204" pitchFamily="34" charset="-128"/>
              <a:ea typeface="Meiryo" panose="020B0604030504040204" pitchFamily="34" charset="-128"/>
            </a:endParaRPr>
          </a:p>
        </p:txBody>
      </p:sp>
      <p:cxnSp>
        <p:nvCxnSpPr>
          <p:cNvPr id="7" name="Straight Connector 6">
            <a:extLst>
              <a:ext uri="{FF2B5EF4-FFF2-40B4-BE49-F238E27FC236}">
                <a16:creationId xmlns:a16="http://schemas.microsoft.com/office/drawing/2014/main" id="{5DA1AF85-DAF1-01F9-CCB3-CFBBDD226C2D}"/>
              </a:ext>
            </a:extLst>
          </p:cNvPr>
          <p:cNvCxnSpPr>
            <a:cxnSpLocks/>
          </p:cNvCxnSpPr>
          <p:nvPr/>
        </p:nvCxnSpPr>
        <p:spPr>
          <a:xfrm>
            <a:off x="646043" y="874643"/>
            <a:ext cx="10694505"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CF57EADD-FAA4-8A1C-71C5-DDBB975C510B}"/>
              </a:ext>
            </a:extLst>
          </p:cNvPr>
          <p:cNvSpPr>
            <a:spLocks noGrp="1"/>
          </p:cNvSpPr>
          <p:nvPr>
            <p:ph type="sldNum" sz="quarter" idx="12"/>
          </p:nvPr>
        </p:nvSpPr>
        <p:spPr/>
        <p:txBody>
          <a:bodyPr/>
          <a:lstStyle/>
          <a:p>
            <a:fld id="{6675BFCB-789E-5945-84C6-0973649846BB}" type="slidenum">
              <a:rPr lang="en-US" smtClean="0"/>
              <a:pPr/>
              <a:t>5</a:t>
            </a:fld>
            <a:endParaRPr lang="en-US" dirty="0"/>
          </a:p>
        </p:txBody>
      </p:sp>
      <p:sp>
        <p:nvSpPr>
          <p:cNvPr id="5" name="Date Placeholder 10">
            <a:extLst>
              <a:ext uri="{FF2B5EF4-FFF2-40B4-BE49-F238E27FC236}">
                <a16:creationId xmlns:a16="http://schemas.microsoft.com/office/drawing/2014/main" id="{CFC48660-A936-3F40-9365-80631FC3509A}"/>
              </a:ext>
            </a:extLst>
          </p:cNvPr>
          <p:cNvSpPr>
            <a:spLocks noGrp="1"/>
          </p:cNvSpPr>
          <p:nvPr>
            <p:ph type="dt" sz="half" idx="10"/>
          </p:nvPr>
        </p:nvSpPr>
        <p:spPr>
          <a:xfrm>
            <a:off x="838200" y="6553200"/>
            <a:ext cx="2743200" cy="365125"/>
          </a:xfrm>
        </p:spPr>
        <p:txBody>
          <a:bodyPr/>
          <a:lstStyle/>
          <a:p>
            <a:r>
              <a:rPr lang="en-US" altLang="ja-JP" dirty="0"/>
              <a:t>2025/2/27</a:t>
            </a:r>
            <a:endParaRPr lang="en-US" dirty="0"/>
          </a:p>
        </p:txBody>
      </p:sp>
      <p:sp>
        <p:nvSpPr>
          <p:cNvPr id="8" name="フッター プレースホルダー 4">
            <a:extLst>
              <a:ext uri="{FF2B5EF4-FFF2-40B4-BE49-F238E27FC236}">
                <a16:creationId xmlns:a16="http://schemas.microsoft.com/office/drawing/2014/main" id="{627622B8-E6EF-7F2E-66E3-B4299268AECB}"/>
              </a:ext>
            </a:extLst>
          </p:cNvPr>
          <p:cNvSpPr>
            <a:spLocks noGrp="1"/>
          </p:cNvSpPr>
          <p:nvPr>
            <p:ph type="ftr" sz="quarter" idx="11"/>
          </p:nvPr>
        </p:nvSpPr>
        <p:spPr>
          <a:xfrm>
            <a:off x="4038600" y="6553200"/>
            <a:ext cx="4114800" cy="365125"/>
          </a:xfrm>
        </p:spPr>
        <p:txBody>
          <a:bodyPr/>
          <a:lstStyle/>
          <a:p>
            <a:r>
              <a:rPr lang="fi-FI"/>
              <a:t>Tsubasa Kato @ Sakurai Lab.</a:t>
            </a:r>
            <a:endParaRPr lang="en-US" dirty="0"/>
          </a:p>
        </p:txBody>
      </p:sp>
      <p:pic>
        <p:nvPicPr>
          <p:cNvPr id="12" name="図 11">
            <a:extLst>
              <a:ext uri="{FF2B5EF4-FFF2-40B4-BE49-F238E27FC236}">
                <a16:creationId xmlns:a16="http://schemas.microsoft.com/office/drawing/2014/main" id="{D5C9EC8C-E5E9-47C0-FED2-C50E3A51B967}"/>
              </a:ext>
            </a:extLst>
          </p:cNvPr>
          <p:cNvPicPr>
            <a:picLocks noChangeAspect="1"/>
          </p:cNvPicPr>
          <p:nvPr/>
        </p:nvPicPr>
        <p:blipFill>
          <a:blip r:embed="rId3"/>
          <a:stretch>
            <a:fillRect/>
          </a:stretch>
        </p:blipFill>
        <p:spPr>
          <a:xfrm>
            <a:off x="640600" y="3406874"/>
            <a:ext cx="5067300" cy="2781300"/>
          </a:xfrm>
          <a:prstGeom prst="rect">
            <a:avLst/>
          </a:prstGeom>
        </p:spPr>
      </p:pic>
      <p:pic>
        <p:nvPicPr>
          <p:cNvPr id="21" name="図 20">
            <a:extLst>
              <a:ext uri="{FF2B5EF4-FFF2-40B4-BE49-F238E27FC236}">
                <a16:creationId xmlns:a16="http://schemas.microsoft.com/office/drawing/2014/main" id="{67162EDB-5DAB-E76D-5CAE-71F7D2434143}"/>
              </a:ext>
            </a:extLst>
          </p:cNvPr>
          <p:cNvPicPr>
            <a:picLocks noChangeAspect="1"/>
          </p:cNvPicPr>
          <p:nvPr/>
        </p:nvPicPr>
        <p:blipFill>
          <a:blip r:embed="rId4"/>
          <a:stretch>
            <a:fillRect/>
          </a:stretch>
        </p:blipFill>
        <p:spPr>
          <a:xfrm>
            <a:off x="5913458" y="3809469"/>
            <a:ext cx="5576420" cy="1803320"/>
          </a:xfrm>
          <a:prstGeom prst="rect">
            <a:avLst/>
          </a:prstGeom>
        </p:spPr>
      </p:pic>
    </p:spTree>
    <p:extLst>
      <p:ext uri="{BB962C8B-B14F-4D97-AF65-F5344CB8AC3E}">
        <p14:creationId xmlns:p14="http://schemas.microsoft.com/office/powerpoint/2010/main" val="6470280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59FDD-1F6F-4BEE-D87C-352B3B46910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59BBF3F-B436-CECA-C325-E4935C022573}"/>
              </a:ext>
            </a:extLst>
          </p:cNvPr>
          <p:cNvSpPr>
            <a:spLocks noGrp="1"/>
          </p:cNvSpPr>
          <p:nvPr>
            <p:ph type="title"/>
          </p:nvPr>
        </p:nvSpPr>
        <p:spPr>
          <a:xfrm>
            <a:off x="548268" y="284244"/>
            <a:ext cx="10515600" cy="727695"/>
          </a:xfrm>
        </p:spPr>
        <p:txBody>
          <a:bodyPr>
            <a:normAutofit/>
          </a:bodyPr>
          <a:lstStyle/>
          <a:p>
            <a:pPr algn="l"/>
            <a:r>
              <a:rPr kumimoji="1" lang="ja-JP" altLang="en-US" sz="3200" b="0">
                <a:solidFill>
                  <a:schemeClr val="tx1"/>
                </a:solidFill>
                <a:latin typeface="Meiryo" panose="020B0604030504040204" pitchFamily="34" charset="-128"/>
                <a:ea typeface="Meiryo" panose="020B0604030504040204" pitchFamily="34" charset="-128"/>
              </a:rPr>
              <a:t>関連研究</a:t>
            </a:r>
          </a:p>
        </p:txBody>
      </p:sp>
      <p:sp>
        <p:nvSpPr>
          <p:cNvPr id="3" name="コンテンツ プレースホルダー 2">
            <a:extLst>
              <a:ext uri="{FF2B5EF4-FFF2-40B4-BE49-F238E27FC236}">
                <a16:creationId xmlns:a16="http://schemas.microsoft.com/office/drawing/2014/main" id="{82CE4778-3A54-F00F-F8CC-7C45FD064010}"/>
              </a:ext>
            </a:extLst>
          </p:cNvPr>
          <p:cNvSpPr>
            <a:spLocks noGrp="1"/>
          </p:cNvSpPr>
          <p:nvPr>
            <p:ph idx="1"/>
          </p:nvPr>
        </p:nvSpPr>
        <p:spPr>
          <a:xfrm>
            <a:off x="548267" y="1086226"/>
            <a:ext cx="10939539" cy="5487527"/>
          </a:xfrm>
        </p:spPr>
        <p:txBody>
          <a:bodyPr>
            <a:normAutofit/>
          </a:bodyPr>
          <a:lstStyle/>
          <a:p>
            <a:pPr marL="0" indent="0">
              <a:buNone/>
            </a:pPr>
            <a:r>
              <a:rPr lang="ja-JP" altLang="en-US" sz="2400">
                <a:latin typeface="Meiryo" panose="020B0604030504040204" pitchFamily="34" charset="-128"/>
                <a:ea typeface="Meiryo" panose="020B0604030504040204" pitchFamily="34" charset="-128"/>
              </a:rPr>
              <a:t>深層学習モデル・・・表現学習＋クラスタリング</a:t>
            </a:r>
            <a:endParaRPr lang="en-US" altLang="ja-JP" sz="2400" dirty="0">
              <a:latin typeface="Meiryo" panose="020B0604030504040204" pitchFamily="34" charset="-128"/>
              <a:ea typeface="Meiryo" panose="020B0604030504040204" pitchFamily="34" charset="-128"/>
            </a:endParaRPr>
          </a:p>
          <a:p>
            <a:pPr marL="0" indent="0">
              <a:buNone/>
            </a:pPr>
            <a:endParaRPr lang="en-US" altLang="ja-JP" sz="2400" dirty="0">
              <a:latin typeface="Meiryo" panose="020B0604030504040204" pitchFamily="34" charset="-128"/>
              <a:ea typeface="Meiryo" panose="020B0604030504040204" pitchFamily="34" charset="-128"/>
            </a:endParaRPr>
          </a:p>
          <a:p>
            <a:pPr marL="0" indent="0">
              <a:buNone/>
            </a:pPr>
            <a:endParaRPr lang="en-US" altLang="ja-JP" sz="2400" dirty="0">
              <a:latin typeface="Meiryo" panose="020B0604030504040204" pitchFamily="34" charset="-128"/>
              <a:ea typeface="Meiryo" panose="020B0604030504040204" pitchFamily="34" charset="-128"/>
            </a:endParaRPr>
          </a:p>
          <a:p>
            <a:pPr marL="0" indent="0">
              <a:buNone/>
            </a:pPr>
            <a:r>
              <a:rPr lang="ja-JP" altLang="en-US" sz="2400">
                <a:latin typeface="Meiryo" panose="020B0604030504040204" pitchFamily="34" charset="-128"/>
                <a:ea typeface="Meiryo" panose="020B0604030504040204" pitchFamily="34" charset="-128"/>
              </a:rPr>
              <a:t>表現学習</a:t>
            </a:r>
            <a:endParaRPr lang="en-US" altLang="ja-JP" sz="2400" dirty="0">
              <a:latin typeface="Meiryo" panose="020B0604030504040204" pitchFamily="34" charset="-128"/>
              <a:ea typeface="Meiryo" panose="020B0604030504040204" pitchFamily="34" charset="-128"/>
            </a:endParaRPr>
          </a:p>
          <a:p>
            <a:r>
              <a:rPr lang="ja-JP" altLang="en-US" sz="2400">
                <a:latin typeface="Meiryo" panose="020B0604030504040204" pitchFamily="34" charset="-128"/>
                <a:ea typeface="Meiryo" panose="020B0604030504040204" pitchFamily="34" charset="-128"/>
              </a:rPr>
              <a:t>時系列データを低次元空間のベクトル表現に変換</a:t>
            </a:r>
            <a:endParaRPr lang="en-US" altLang="ja-JP" sz="2400" dirty="0">
              <a:latin typeface="Meiryo" panose="020B0604030504040204" pitchFamily="34" charset="-128"/>
              <a:ea typeface="Meiryo" panose="020B0604030504040204" pitchFamily="34" charset="-128"/>
            </a:endParaRPr>
          </a:p>
          <a:p>
            <a:r>
              <a:rPr lang="en-US" altLang="ja-JP" sz="2400" dirty="0" err="1">
                <a:latin typeface="Meiryo" panose="020B0604030504040204" pitchFamily="34" charset="-128"/>
                <a:ea typeface="Meiryo" panose="020B0604030504040204" pitchFamily="34" charset="-128"/>
              </a:rPr>
              <a:t>AutoEncoder</a:t>
            </a:r>
            <a:r>
              <a:rPr lang="ja-JP" altLang="en-US" sz="2400">
                <a:latin typeface="Meiryo" panose="020B0604030504040204" pitchFamily="34" charset="-128"/>
                <a:ea typeface="Meiryo" panose="020B0604030504040204" pitchFamily="34" charset="-128"/>
              </a:rPr>
              <a:t>の設計</a:t>
            </a:r>
            <a:r>
              <a:rPr lang="en-US" altLang="ja-JP" sz="2400" dirty="0">
                <a:latin typeface="Meiryo" panose="020B0604030504040204" pitchFamily="34" charset="-128"/>
                <a:ea typeface="Meiryo" panose="020B0604030504040204" pitchFamily="34" charset="-128"/>
              </a:rPr>
              <a:t>, </a:t>
            </a:r>
            <a:r>
              <a:rPr lang="ja-JP" altLang="en-US" sz="2400">
                <a:latin typeface="Meiryo" panose="020B0604030504040204" pitchFamily="34" charset="-128"/>
                <a:ea typeface="Meiryo" panose="020B0604030504040204" pitchFamily="34" charset="-128"/>
              </a:rPr>
              <a:t>ロス関数の設計</a:t>
            </a:r>
            <a:endParaRPr lang="en-US" altLang="ja-JP" sz="2400" dirty="0">
              <a:latin typeface="Meiryo" panose="020B0604030504040204" pitchFamily="34" charset="-128"/>
              <a:ea typeface="Meiryo" panose="020B0604030504040204" pitchFamily="34" charset="-128"/>
            </a:endParaRPr>
          </a:p>
          <a:p>
            <a:endParaRPr lang="en-US" altLang="ja-JP" sz="2400" dirty="0">
              <a:latin typeface="Meiryo" panose="020B0604030504040204" pitchFamily="34" charset="-128"/>
              <a:ea typeface="Meiryo" panose="020B0604030504040204" pitchFamily="34" charset="-128"/>
            </a:endParaRPr>
          </a:p>
          <a:p>
            <a:pPr marL="0" indent="0">
              <a:buNone/>
            </a:pPr>
            <a:r>
              <a:rPr lang="ja-JP" altLang="en-US" sz="2400">
                <a:latin typeface="Meiryo" panose="020B0604030504040204" pitchFamily="34" charset="-128"/>
                <a:ea typeface="Meiryo" panose="020B0604030504040204" pitchFamily="34" charset="-128"/>
              </a:rPr>
              <a:t>対照学習・・・同じペアを近づけ、違うペアを遠ざける</a:t>
            </a:r>
            <a:endParaRPr lang="en-US" altLang="ja-JP" sz="2400" dirty="0">
              <a:latin typeface="Meiryo" panose="020B0604030504040204" pitchFamily="34" charset="-128"/>
              <a:ea typeface="Meiryo" panose="020B0604030504040204" pitchFamily="34" charset="-128"/>
            </a:endParaRPr>
          </a:p>
          <a:p>
            <a:pPr marL="0" indent="0">
              <a:buNone/>
            </a:pPr>
            <a:r>
              <a:rPr lang="ja-JP" altLang="en-US" sz="2400">
                <a:latin typeface="Meiryo" panose="020B0604030504040204" pitchFamily="34" charset="-128"/>
                <a:ea typeface="Meiryo" panose="020B0604030504040204" pitchFamily="34" charset="-128"/>
              </a:rPr>
              <a:t>時系列モデル・・・</a:t>
            </a:r>
            <a:r>
              <a:rPr lang="en-US" altLang="ja-JP" sz="2400" dirty="0">
                <a:latin typeface="Meiryo" panose="020B0604030504040204" pitchFamily="34" charset="-128"/>
                <a:ea typeface="Meiryo" panose="020B0604030504040204" pitchFamily="34" charset="-128"/>
              </a:rPr>
              <a:t>Ts2Vec</a:t>
            </a:r>
            <a:r>
              <a:rPr lang="en-US" altLang="ja-JP" sz="1400" dirty="0">
                <a:latin typeface="Meiryo" panose="020B0604030504040204" pitchFamily="34" charset="-128"/>
                <a:ea typeface="Meiryo" panose="020B0604030504040204" pitchFamily="34" charset="-128"/>
              </a:rPr>
              <a:t>(</a:t>
            </a:r>
            <a:r>
              <a:rPr lang="en-US" altLang="ja-JP" sz="1400" b="0" i="0" dirty="0">
                <a:solidFill>
                  <a:srgbClr val="222222"/>
                </a:solidFill>
                <a:effectLst/>
                <a:latin typeface="Meiryo" panose="020B0604030504040204" pitchFamily="34" charset="-128"/>
                <a:ea typeface="Meiryo" panose="020B0604030504040204" pitchFamily="34" charset="-128"/>
              </a:rPr>
              <a:t>AAAI</a:t>
            </a:r>
            <a:r>
              <a:rPr lang="en-US" altLang="ja-JP" sz="1400" dirty="0">
                <a:latin typeface="Meiryo" panose="020B0604030504040204" pitchFamily="34" charset="-128"/>
                <a:ea typeface="Meiryo" panose="020B0604030504040204" pitchFamily="34" charset="-128"/>
              </a:rPr>
              <a:t> 2022 </a:t>
            </a:r>
            <a:r>
              <a:rPr lang="en-US" altLang="ja-JP" sz="1400" dirty="0">
                <a:solidFill>
                  <a:srgbClr val="222222"/>
                </a:solidFill>
                <a:latin typeface="Meiryo" panose="020B0604030504040204" pitchFamily="34" charset="-128"/>
                <a:ea typeface="Meiryo" panose="020B0604030504040204" pitchFamily="34" charset="-128"/>
              </a:rPr>
              <a:t>Yue</a:t>
            </a:r>
            <a:r>
              <a:rPr lang="ja-JP" altLang="en-US" sz="1400">
                <a:solidFill>
                  <a:srgbClr val="222222"/>
                </a:solidFill>
                <a:latin typeface="Meiryo" panose="020B0604030504040204" pitchFamily="34" charset="-128"/>
                <a:ea typeface="Meiryo" panose="020B0604030504040204" pitchFamily="34" charset="-128"/>
              </a:rPr>
              <a:t>ら</a:t>
            </a:r>
            <a:r>
              <a:rPr lang="en-US" altLang="ja-JP" sz="1400" dirty="0">
                <a:latin typeface="Meiryo" panose="020B0604030504040204" pitchFamily="34" charset="-128"/>
                <a:ea typeface="Meiryo" panose="020B0604030504040204" pitchFamily="34" charset="-128"/>
              </a:rPr>
              <a:t>)</a:t>
            </a:r>
            <a:r>
              <a:rPr lang="ja-JP" altLang="en-US" sz="2400">
                <a:latin typeface="Meiryo" panose="020B0604030504040204" pitchFamily="34" charset="-128"/>
                <a:ea typeface="Meiryo" panose="020B0604030504040204" pitchFamily="34" charset="-128"/>
              </a:rPr>
              <a:t>が元になっている</a:t>
            </a:r>
            <a:endParaRPr lang="en-US" altLang="ja-JP" sz="2400" dirty="0">
              <a:latin typeface="Meiryo" panose="020B0604030504040204" pitchFamily="34" charset="-128"/>
              <a:ea typeface="Meiryo" panose="020B0604030504040204" pitchFamily="34" charset="-128"/>
            </a:endParaRPr>
          </a:p>
          <a:p>
            <a:pPr>
              <a:buFont typeface="Wingdings" pitchFamily="2" charset="2"/>
              <a:buChar char="Ø"/>
            </a:pPr>
            <a:r>
              <a:rPr lang="ja-JP" altLang="en-US" sz="2400">
                <a:latin typeface="Meiryo" panose="020B0604030504040204" pitchFamily="34" charset="-128"/>
                <a:ea typeface="Meiryo" panose="020B0604030504040204" pitchFamily="34" charset="-128"/>
              </a:rPr>
              <a:t>同一時間点を同じペア、遠い時間点を違うペアにしている</a:t>
            </a:r>
            <a:endParaRPr lang="en-US" altLang="ja-JP" sz="2400" dirty="0">
              <a:latin typeface="Meiryo" panose="020B0604030504040204" pitchFamily="34" charset="-128"/>
              <a:ea typeface="Meiryo" panose="020B0604030504040204" pitchFamily="34" charset="-128"/>
            </a:endParaRPr>
          </a:p>
          <a:p>
            <a:pPr marL="0" indent="0">
              <a:buNone/>
            </a:pPr>
            <a:endParaRPr lang="en-US" altLang="ja-JP" sz="2400" dirty="0">
              <a:latin typeface="Meiryo" panose="020B0604030504040204" pitchFamily="34" charset="-128"/>
              <a:ea typeface="Meiryo" panose="020B0604030504040204" pitchFamily="34" charset="-128"/>
            </a:endParaRPr>
          </a:p>
          <a:p>
            <a:pPr>
              <a:buFont typeface="Wingdings" pitchFamily="2" charset="2"/>
              <a:buChar char="ü"/>
            </a:pPr>
            <a:r>
              <a:rPr lang="ja-JP" altLang="en-US" sz="2400">
                <a:latin typeface="Meiryo" panose="020B0604030504040204" pitchFamily="34" charset="-128"/>
                <a:ea typeface="Meiryo" panose="020B0604030504040204" pitchFamily="34" charset="-128"/>
              </a:rPr>
              <a:t>課題は遠い時間点で同じ状態パターンを検知できない</a:t>
            </a:r>
            <a:endParaRPr lang="en-US" altLang="ja-JP" sz="2400" dirty="0">
              <a:latin typeface="Meiryo" panose="020B0604030504040204" pitchFamily="34" charset="-128"/>
              <a:ea typeface="Meiryo" panose="020B0604030504040204" pitchFamily="34" charset="-128"/>
            </a:endParaRPr>
          </a:p>
        </p:txBody>
      </p:sp>
      <p:cxnSp>
        <p:nvCxnSpPr>
          <p:cNvPr id="7" name="Straight Connector 6">
            <a:extLst>
              <a:ext uri="{FF2B5EF4-FFF2-40B4-BE49-F238E27FC236}">
                <a16:creationId xmlns:a16="http://schemas.microsoft.com/office/drawing/2014/main" id="{8C9D0088-6B60-CB3C-6DF0-69662B9B7048}"/>
              </a:ext>
            </a:extLst>
          </p:cNvPr>
          <p:cNvCxnSpPr>
            <a:cxnSpLocks/>
          </p:cNvCxnSpPr>
          <p:nvPr/>
        </p:nvCxnSpPr>
        <p:spPr>
          <a:xfrm>
            <a:off x="646043" y="874643"/>
            <a:ext cx="10694505"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6061E852-A6B6-7005-B72F-FC2E39AAAA6E}"/>
              </a:ext>
            </a:extLst>
          </p:cNvPr>
          <p:cNvSpPr>
            <a:spLocks noGrp="1"/>
          </p:cNvSpPr>
          <p:nvPr>
            <p:ph type="sldNum" sz="quarter" idx="12"/>
          </p:nvPr>
        </p:nvSpPr>
        <p:spPr/>
        <p:txBody>
          <a:bodyPr/>
          <a:lstStyle/>
          <a:p>
            <a:fld id="{6675BFCB-789E-5945-84C6-0973649846BB}" type="slidenum">
              <a:rPr lang="en-US" smtClean="0"/>
              <a:pPr/>
              <a:t>6</a:t>
            </a:fld>
            <a:endParaRPr lang="en-US" dirty="0"/>
          </a:p>
        </p:txBody>
      </p:sp>
      <p:sp>
        <p:nvSpPr>
          <p:cNvPr id="5" name="Date Placeholder 10">
            <a:extLst>
              <a:ext uri="{FF2B5EF4-FFF2-40B4-BE49-F238E27FC236}">
                <a16:creationId xmlns:a16="http://schemas.microsoft.com/office/drawing/2014/main" id="{C0B68A0A-24BC-C9E0-28BB-2C76445918E2}"/>
              </a:ext>
            </a:extLst>
          </p:cNvPr>
          <p:cNvSpPr>
            <a:spLocks noGrp="1"/>
          </p:cNvSpPr>
          <p:nvPr>
            <p:ph type="dt" sz="half" idx="10"/>
          </p:nvPr>
        </p:nvSpPr>
        <p:spPr>
          <a:xfrm>
            <a:off x="838200" y="6553200"/>
            <a:ext cx="2743200" cy="365125"/>
          </a:xfrm>
        </p:spPr>
        <p:txBody>
          <a:bodyPr/>
          <a:lstStyle/>
          <a:p>
            <a:r>
              <a:rPr lang="en-US" altLang="ja-JP" dirty="0"/>
              <a:t>2025/2/27</a:t>
            </a:r>
            <a:endParaRPr lang="en-US" dirty="0"/>
          </a:p>
        </p:txBody>
      </p:sp>
      <p:sp>
        <p:nvSpPr>
          <p:cNvPr id="8" name="フッター プレースホルダー 4">
            <a:extLst>
              <a:ext uri="{FF2B5EF4-FFF2-40B4-BE49-F238E27FC236}">
                <a16:creationId xmlns:a16="http://schemas.microsoft.com/office/drawing/2014/main" id="{8BC0ECCF-9B88-55E9-3DCE-C6557DFF15AE}"/>
              </a:ext>
            </a:extLst>
          </p:cNvPr>
          <p:cNvSpPr>
            <a:spLocks noGrp="1"/>
          </p:cNvSpPr>
          <p:nvPr>
            <p:ph type="ftr" sz="quarter" idx="11"/>
          </p:nvPr>
        </p:nvSpPr>
        <p:spPr>
          <a:xfrm>
            <a:off x="4038600" y="6553200"/>
            <a:ext cx="4114800" cy="365125"/>
          </a:xfrm>
        </p:spPr>
        <p:txBody>
          <a:bodyPr/>
          <a:lstStyle/>
          <a:p>
            <a:r>
              <a:rPr lang="fi-FI"/>
              <a:t>Tsubasa Kato @ Sakurai Lab.</a:t>
            </a:r>
            <a:endParaRPr lang="en-US" dirty="0"/>
          </a:p>
        </p:txBody>
      </p:sp>
      <p:pic>
        <p:nvPicPr>
          <p:cNvPr id="9" name="図 8">
            <a:extLst>
              <a:ext uri="{FF2B5EF4-FFF2-40B4-BE49-F238E27FC236}">
                <a16:creationId xmlns:a16="http://schemas.microsoft.com/office/drawing/2014/main" id="{B9A39E3E-E070-4608-1204-EA50549597CA}"/>
              </a:ext>
            </a:extLst>
          </p:cNvPr>
          <p:cNvPicPr>
            <a:picLocks noChangeAspect="1"/>
          </p:cNvPicPr>
          <p:nvPr/>
        </p:nvPicPr>
        <p:blipFill>
          <a:blip r:embed="rId3"/>
          <a:stretch>
            <a:fillRect/>
          </a:stretch>
        </p:blipFill>
        <p:spPr>
          <a:xfrm>
            <a:off x="3276600" y="1524000"/>
            <a:ext cx="7501194" cy="1109871"/>
          </a:xfrm>
          <a:prstGeom prst="rect">
            <a:avLst/>
          </a:prstGeom>
        </p:spPr>
      </p:pic>
    </p:spTree>
    <p:extLst>
      <p:ext uri="{BB962C8B-B14F-4D97-AF65-F5344CB8AC3E}">
        <p14:creationId xmlns:p14="http://schemas.microsoft.com/office/powerpoint/2010/main" val="39011076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73F43FC-D398-AC44-8566-8C5A8625A3F8}"/>
              </a:ext>
            </a:extLst>
          </p:cNvPr>
          <p:cNvSpPr>
            <a:spLocks noGrp="1"/>
          </p:cNvSpPr>
          <p:nvPr>
            <p:ph type="title"/>
          </p:nvPr>
        </p:nvSpPr>
        <p:spPr>
          <a:xfrm>
            <a:off x="548268" y="284244"/>
            <a:ext cx="10515600" cy="727695"/>
          </a:xfrm>
        </p:spPr>
        <p:txBody>
          <a:bodyPr>
            <a:normAutofit/>
          </a:bodyPr>
          <a:lstStyle/>
          <a:p>
            <a:pPr algn="l"/>
            <a:r>
              <a:rPr kumimoji="1" lang="ja-JP" altLang="en-US" sz="3200">
                <a:latin typeface="Meiryo" panose="020B0604030504040204" pitchFamily="34" charset="-128"/>
                <a:ea typeface="Meiryo" panose="020B0604030504040204" pitchFamily="34" charset="-128"/>
              </a:rPr>
              <a:t>本研究の貢献</a:t>
            </a:r>
            <a:endParaRPr kumimoji="1" lang="ja-JP" altLang="en-US" sz="3200" b="0">
              <a:solidFill>
                <a:schemeClr val="tx1"/>
              </a:solidFill>
              <a:latin typeface="Meiryo" panose="020B0604030504040204" pitchFamily="34" charset="-128"/>
              <a:ea typeface="Meiryo" panose="020B0604030504040204" pitchFamily="34" charset="-128"/>
            </a:endParaRPr>
          </a:p>
        </p:txBody>
      </p:sp>
      <p:sp>
        <p:nvSpPr>
          <p:cNvPr id="3" name="コンテンツ プレースホルダー 2">
            <a:extLst>
              <a:ext uri="{FF2B5EF4-FFF2-40B4-BE49-F238E27FC236}">
                <a16:creationId xmlns:a16="http://schemas.microsoft.com/office/drawing/2014/main" id="{C9EF43C5-3BF4-1245-8E9B-EF744E11B7DF}"/>
              </a:ext>
            </a:extLst>
          </p:cNvPr>
          <p:cNvSpPr>
            <a:spLocks noGrp="1"/>
          </p:cNvSpPr>
          <p:nvPr>
            <p:ph idx="1"/>
          </p:nvPr>
        </p:nvSpPr>
        <p:spPr>
          <a:xfrm>
            <a:off x="548267" y="1156551"/>
            <a:ext cx="10939539" cy="5015648"/>
          </a:xfrm>
        </p:spPr>
        <p:txBody>
          <a:bodyPr>
            <a:normAutofit/>
          </a:bodyPr>
          <a:lstStyle/>
          <a:p>
            <a:pPr marL="0" indent="0">
              <a:buNone/>
            </a:pPr>
            <a:r>
              <a:rPr lang="ja-JP" altLang="en-US">
                <a:latin typeface="Meiryo" panose="020B0604030504040204" pitchFamily="34" charset="-128"/>
                <a:ea typeface="Meiryo" panose="020B0604030504040204" pitchFamily="34" charset="-128"/>
              </a:rPr>
              <a:t>状態パターン検出の手法が広く研究されている</a:t>
            </a:r>
            <a:endParaRPr lang="en-US" altLang="ja-JP" baseline="30000" dirty="0">
              <a:latin typeface="Meiryo" panose="020B0604030504040204" pitchFamily="34" charset="-128"/>
              <a:ea typeface="Meiryo" panose="020B0604030504040204" pitchFamily="34" charset="-128"/>
            </a:endParaRPr>
          </a:p>
          <a:p>
            <a:pPr marL="0" indent="0">
              <a:buNone/>
            </a:pPr>
            <a:r>
              <a:rPr lang="ja-JP" altLang="en-US">
                <a:latin typeface="Meiryo" panose="020B0604030504040204" pitchFamily="34" charset="-128"/>
                <a:ea typeface="Meiryo" panose="020B0604030504040204" pitchFamily="34" charset="-128"/>
              </a:rPr>
              <a:t>ただし，先行研究手法の多くが．．．</a:t>
            </a:r>
            <a:endParaRPr lang="en-US" altLang="ja-JP" dirty="0">
              <a:latin typeface="Meiryo" panose="020B0604030504040204" pitchFamily="34" charset="-128"/>
              <a:ea typeface="Meiryo" panose="020B0604030504040204" pitchFamily="34" charset="-128"/>
            </a:endParaRPr>
          </a:p>
          <a:p>
            <a:pPr marL="0" indent="0">
              <a:buNone/>
            </a:pPr>
            <a:endParaRPr lang="en-US" altLang="ja-JP" dirty="0">
              <a:latin typeface="Meiryo" panose="020B0604030504040204" pitchFamily="34" charset="-128"/>
              <a:ea typeface="Meiryo" panose="020B0604030504040204" pitchFamily="34" charset="-128"/>
            </a:endParaRPr>
          </a:p>
          <a:p>
            <a:pPr marL="0" indent="0">
              <a:buNone/>
            </a:pPr>
            <a:endParaRPr lang="en-US" altLang="ja-JP" dirty="0">
              <a:latin typeface="Meiryo" panose="020B0604030504040204" pitchFamily="34" charset="-128"/>
              <a:ea typeface="Meiryo" panose="020B0604030504040204" pitchFamily="34" charset="-128"/>
            </a:endParaRPr>
          </a:p>
          <a:p>
            <a:pPr marL="0" indent="0">
              <a:buNone/>
            </a:pPr>
            <a:endParaRPr lang="en-US" altLang="ja-JP" dirty="0">
              <a:latin typeface="Meiryo" panose="020B0604030504040204" pitchFamily="34" charset="-128"/>
              <a:ea typeface="Meiryo" panose="020B0604030504040204" pitchFamily="34" charset="-128"/>
            </a:endParaRPr>
          </a:p>
          <a:p>
            <a:pPr marL="0" indent="0">
              <a:buNone/>
            </a:pPr>
            <a:r>
              <a:rPr lang="ja-JP" altLang="en-US">
                <a:latin typeface="Meiryo" panose="020B0604030504040204" pitchFamily="34" charset="-128"/>
                <a:ea typeface="Meiryo" panose="020B0604030504040204" pitchFamily="34" charset="-128"/>
              </a:rPr>
              <a:t>これに対し，提案手法では．．．</a:t>
            </a:r>
            <a:endParaRPr lang="en-US" altLang="ja-JP" dirty="0">
              <a:latin typeface="Meiryo" panose="020B0604030504040204" pitchFamily="34" charset="-128"/>
              <a:ea typeface="Meiryo" panose="020B0604030504040204" pitchFamily="34" charset="-128"/>
            </a:endParaRPr>
          </a:p>
        </p:txBody>
      </p:sp>
      <p:cxnSp>
        <p:nvCxnSpPr>
          <p:cNvPr id="7" name="Straight Connector 6">
            <a:extLst>
              <a:ext uri="{FF2B5EF4-FFF2-40B4-BE49-F238E27FC236}">
                <a16:creationId xmlns:a16="http://schemas.microsoft.com/office/drawing/2014/main" id="{BB3800FB-FE81-61B1-706C-CDEC701D78C2}"/>
              </a:ext>
            </a:extLst>
          </p:cNvPr>
          <p:cNvCxnSpPr>
            <a:cxnSpLocks/>
          </p:cNvCxnSpPr>
          <p:nvPr/>
        </p:nvCxnSpPr>
        <p:spPr>
          <a:xfrm>
            <a:off x="646043" y="874643"/>
            <a:ext cx="10694505"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BCDE7108-CA9B-29EE-BA80-B6754A787897}"/>
              </a:ext>
            </a:extLst>
          </p:cNvPr>
          <p:cNvSpPr txBox="1"/>
          <p:nvPr/>
        </p:nvSpPr>
        <p:spPr>
          <a:xfrm>
            <a:off x="1219200" y="2069719"/>
            <a:ext cx="10104048" cy="1194558"/>
          </a:xfrm>
          <a:prstGeom prst="rect">
            <a:avLst/>
          </a:prstGeom>
          <a:noFill/>
        </p:spPr>
        <p:txBody>
          <a:bodyPr wrap="none" rtlCol="0">
            <a:spAutoFit/>
          </a:bodyPr>
          <a:lstStyle/>
          <a:p>
            <a:pPr marL="285750" indent="-285750">
              <a:lnSpc>
                <a:spcPts val="4500"/>
              </a:lnSpc>
              <a:buFont typeface="Arial" panose="020B0604020202020204" pitchFamily="34" charset="0"/>
              <a:buChar char="•"/>
            </a:pPr>
            <a:r>
              <a:rPr lang="ja-JP" altLang="en-US" sz="2400">
                <a:latin typeface="Meiryo" panose="020B0604030504040204" pitchFamily="34" charset="-128"/>
                <a:ea typeface="Meiryo" panose="020B0604030504040204" pitchFamily="34" charset="-128"/>
              </a:rPr>
              <a:t>時間的に近いものを同一パターン、遠いものを別パターンとして</a:t>
            </a:r>
            <a:r>
              <a:rPr lang="en-JP" sz="2400">
                <a:latin typeface="Meiryo" panose="020B0604030504040204" pitchFamily="34" charset="-128"/>
                <a:ea typeface="Meiryo" panose="020B0604030504040204" pitchFamily="34" charset="-128"/>
              </a:rPr>
              <a:t>いる</a:t>
            </a:r>
            <a:endParaRPr lang="en-JP" sz="2400" baseline="30000" dirty="0">
              <a:latin typeface="Meiryo" panose="020B0604030504040204" pitchFamily="34" charset="-128"/>
              <a:ea typeface="Meiryo" panose="020B0604030504040204" pitchFamily="34" charset="-128"/>
            </a:endParaRPr>
          </a:p>
          <a:p>
            <a:pPr marL="285750" indent="-285750">
              <a:lnSpc>
                <a:spcPts val="4500"/>
              </a:lnSpc>
              <a:buFont typeface="Arial" panose="020B0604020202020204" pitchFamily="34" charset="0"/>
              <a:buChar char="•"/>
            </a:pPr>
            <a:r>
              <a:rPr lang="ja-JP" altLang="en-US" sz="2400">
                <a:latin typeface="Meiryo" panose="020B0604030504040204" pitchFamily="34" charset="-128"/>
                <a:ea typeface="Meiryo" panose="020B0604030504040204" pitchFamily="34" charset="-128"/>
              </a:rPr>
              <a:t>状態数をあらかじめ知っている状態で検知している</a:t>
            </a:r>
            <a:r>
              <a:rPr lang="en-JP" sz="2400">
                <a:latin typeface="Meiryo" panose="020B0604030504040204" pitchFamily="34" charset="-128"/>
                <a:ea typeface="Meiryo" panose="020B0604030504040204" pitchFamily="34" charset="-128"/>
              </a:rPr>
              <a:t> </a:t>
            </a:r>
            <a:endParaRPr lang="en-JP" sz="2400" baseline="30000" dirty="0">
              <a:latin typeface="Meiryo" panose="020B0604030504040204" pitchFamily="34" charset="-128"/>
              <a:ea typeface="Meiryo" panose="020B0604030504040204" pitchFamily="34" charset="-128"/>
            </a:endParaRPr>
          </a:p>
        </p:txBody>
      </p:sp>
      <p:sp>
        <p:nvSpPr>
          <p:cNvPr id="10" name="Footer Placeholder 9">
            <a:extLst>
              <a:ext uri="{FF2B5EF4-FFF2-40B4-BE49-F238E27FC236}">
                <a16:creationId xmlns:a16="http://schemas.microsoft.com/office/drawing/2014/main" id="{4F2D422A-818C-1988-0958-82386A751E49}"/>
              </a:ext>
            </a:extLst>
          </p:cNvPr>
          <p:cNvSpPr>
            <a:spLocks noGrp="1"/>
          </p:cNvSpPr>
          <p:nvPr>
            <p:ph type="ftr" sz="quarter" idx="11"/>
          </p:nvPr>
        </p:nvSpPr>
        <p:spPr/>
        <p:txBody>
          <a:bodyPr/>
          <a:lstStyle/>
          <a:p>
            <a:r>
              <a:rPr lang="fi-FI"/>
              <a:t>Shuhei Tsuriya @ Sakurai Lab.</a:t>
            </a:r>
            <a:endParaRPr lang="en-US" dirty="0"/>
          </a:p>
        </p:txBody>
      </p:sp>
      <p:sp>
        <p:nvSpPr>
          <p:cNvPr id="12" name="TextBox 11">
            <a:extLst>
              <a:ext uri="{FF2B5EF4-FFF2-40B4-BE49-F238E27FC236}">
                <a16:creationId xmlns:a16="http://schemas.microsoft.com/office/drawing/2014/main" id="{978022BD-B2B2-D31D-81A6-9C0A0A02EF74}"/>
              </a:ext>
            </a:extLst>
          </p:cNvPr>
          <p:cNvSpPr txBox="1"/>
          <p:nvPr/>
        </p:nvSpPr>
        <p:spPr>
          <a:xfrm>
            <a:off x="1219200" y="4100153"/>
            <a:ext cx="8645315" cy="1771639"/>
          </a:xfrm>
          <a:prstGeom prst="rect">
            <a:avLst/>
          </a:prstGeom>
          <a:noFill/>
        </p:spPr>
        <p:txBody>
          <a:bodyPr wrap="none" rtlCol="0">
            <a:spAutoFit/>
          </a:bodyPr>
          <a:lstStyle/>
          <a:p>
            <a:pPr marL="285750" indent="-285750">
              <a:lnSpc>
                <a:spcPts val="4500"/>
              </a:lnSpc>
              <a:buFont typeface="Arial" panose="020B0604020202020204" pitchFamily="34" charset="0"/>
              <a:buChar char="•"/>
            </a:pPr>
            <a:r>
              <a:rPr lang="ja-JP" altLang="en-US" sz="2400">
                <a:latin typeface="Meiryo" panose="020B0604030504040204" pitchFamily="34" charset="-128"/>
                <a:ea typeface="Meiryo" panose="020B0604030504040204" pitchFamily="34" charset="-128"/>
              </a:rPr>
              <a:t>状態の類似性に基づく時系列データの状態パターンの検出</a:t>
            </a:r>
            <a:endParaRPr lang="en-JP" sz="2400" dirty="0">
              <a:latin typeface="Meiryo" panose="020B0604030504040204" pitchFamily="34" charset="-128"/>
              <a:ea typeface="Meiryo" panose="020B0604030504040204" pitchFamily="34" charset="-128"/>
            </a:endParaRPr>
          </a:p>
          <a:p>
            <a:pPr marL="285750" indent="-285750">
              <a:lnSpc>
                <a:spcPts val="4500"/>
              </a:lnSpc>
              <a:buFont typeface="Arial" panose="020B0604020202020204" pitchFamily="34" charset="0"/>
              <a:buChar char="•"/>
            </a:pPr>
            <a:r>
              <a:rPr lang="en-US" sz="2400" dirty="0" err="1">
                <a:latin typeface="Meiryo" panose="020B0604030504040204" pitchFamily="34" charset="-128"/>
                <a:ea typeface="Meiryo" panose="020B0604030504040204" pitchFamily="34" charset="-128"/>
              </a:rPr>
              <a:t>状態数未知の場合の高精度な検知</a:t>
            </a:r>
            <a:endParaRPr lang="en-US" sz="2400" dirty="0">
              <a:latin typeface="Meiryo" panose="020B0604030504040204" pitchFamily="34" charset="-128"/>
              <a:ea typeface="Meiryo" panose="020B0604030504040204" pitchFamily="34" charset="-128"/>
            </a:endParaRPr>
          </a:p>
          <a:p>
            <a:pPr marL="285750" indent="-285750">
              <a:lnSpc>
                <a:spcPts val="4500"/>
              </a:lnSpc>
              <a:buFont typeface="Arial" panose="020B0604020202020204" pitchFamily="34" charset="0"/>
              <a:buChar char="•"/>
            </a:pPr>
            <a:r>
              <a:rPr lang="en-JP" sz="2400">
                <a:latin typeface="Meiryo" panose="020B0604030504040204" pitchFamily="34" charset="-128"/>
                <a:ea typeface="Meiryo" panose="020B0604030504040204" pitchFamily="34" charset="-128"/>
              </a:rPr>
              <a:t>解釈性の高い</a:t>
            </a:r>
            <a:r>
              <a:rPr lang="ja-JP" altLang="en-US" sz="2400">
                <a:latin typeface="Meiryo" panose="020B0604030504040204" pitchFamily="34" charset="-128"/>
                <a:ea typeface="Meiryo" panose="020B0604030504040204" pitchFamily="34" charset="-128"/>
              </a:rPr>
              <a:t>状態パターン検出</a:t>
            </a:r>
            <a:endParaRPr lang="en-JP" sz="2400" dirty="0">
              <a:latin typeface="Meiryo" panose="020B0604030504040204" pitchFamily="34" charset="-128"/>
              <a:ea typeface="Meiryo" panose="020B0604030504040204" pitchFamily="34" charset="-128"/>
            </a:endParaRPr>
          </a:p>
        </p:txBody>
      </p:sp>
      <p:sp>
        <p:nvSpPr>
          <p:cNvPr id="13" name="Smiley Face 12">
            <a:extLst>
              <a:ext uri="{FF2B5EF4-FFF2-40B4-BE49-F238E27FC236}">
                <a16:creationId xmlns:a16="http://schemas.microsoft.com/office/drawing/2014/main" id="{7A5D1AA6-C3D2-EB74-3F23-E7418D3A775E}"/>
              </a:ext>
            </a:extLst>
          </p:cNvPr>
          <p:cNvSpPr/>
          <p:nvPr/>
        </p:nvSpPr>
        <p:spPr>
          <a:xfrm>
            <a:off x="11348273" y="2209799"/>
            <a:ext cx="386527" cy="381001"/>
          </a:xfrm>
          <a:prstGeom prst="smileyFace">
            <a:avLst>
              <a:gd name="adj" fmla="val -4653"/>
            </a:avLst>
          </a:prstGeom>
          <a:solidFill>
            <a:schemeClr val="bg1"/>
          </a:solidFill>
          <a:ln w="19050" cmpd="sng">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kumimoji="1" lang="en-US"/>
          </a:p>
        </p:txBody>
      </p:sp>
      <p:sp>
        <p:nvSpPr>
          <p:cNvPr id="14" name="Smiley Face 13">
            <a:extLst>
              <a:ext uri="{FF2B5EF4-FFF2-40B4-BE49-F238E27FC236}">
                <a16:creationId xmlns:a16="http://schemas.microsoft.com/office/drawing/2014/main" id="{BB5BE000-60DA-FFCD-1CED-49F92866E2F5}"/>
              </a:ext>
            </a:extLst>
          </p:cNvPr>
          <p:cNvSpPr/>
          <p:nvPr/>
        </p:nvSpPr>
        <p:spPr>
          <a:xfrm>
            <a:off x="11340548" y="2802895"/>
            <a:ext cx="386527" cy="381001"/>
          </a:xfrm>
          <a:prstGeom prst="smileyFace">
            <a:avLst>
              <a:gd name="adj" fmla="val -4653"/>
            </a:avLst>
          </a:prstGeom>
          <a:solidFill>
            <a:schemeClr val="bg1"/>
          </a:solidFill>
          <a:ln w="19050" cmpd="sng">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kumimoji="1" lang="en-US"/>
          </a:p>
        </p:txBody>
      </p:sp>
      <p:sp>
        <p:nvSpPr>
          <p:cNvPr id="17" name="Smiley Face 16">
            <a:extLst>
              <a:ext uri="{FF2B5EF4-FFF2-40B4-BE49-F238E27FC236}">
                <a16:creationId xmlns:a16="http://schemas.microsoft.com/office/drawing/2014/main" id="{FC8B00D9-8C8B-147F-386F-5BDE5924D111}"/>
              </a:ext>
            </a:extLst>
          </p:cNvPr>
          <p:cNvSpPr/>
          <p:nvPr/>
        </p:nvSpPr>
        <p:spPr>
          <a:xfrm>
            <a:off x="10092763" y="4266884"/>
            <a:ext cx="386527" cy="381001"/>
          </a:xfrm>
          <a:prstGeom prst="smileyFace">
            <a:avLst>
              <a:gd name="adj" fmla="val 4653"/>
            </a:avLst>
          </a:prstGeom>
          <a:solidFill>
            <a:schemeClr val="bg1"/>
          </a:solidFill>
          <a:ln w="19050" cmpd="sng">
            <a:solidFill>
              <a:srgbClr val="00BE0A"/>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kumimoji="1" lang="en-US"/>
          </a:p>
        </p:txBody>
      </p:sp>
      <p:sp>
        <p:nvSpPr>
          <p:cNvPr id="18" name="Smiley Face 17">
            <a:extLst>
              <a:ext uri="{FF2B5EF4-FFF2-40B4-BE49-F238E27FC236}">
                <a16:creationId xmlns:a16="http://schemas.microsoft.com/office/drawing/2014/main" id="{BB356351-92D8-076A-1ECD-17FD77D9B398}"/>
              </a:ext>
            </a:extLst>
          </p:cNvPr>
          <p:cNvSpPr/>
          <p:nvPr/>
        </p:nvSpPr>
        <p:spPr>
          <a:xfrm>
            <a:off x="10092762" y="4795471"/>
            <a:ext cx="386527" cy="381001"/>
          </a:xfrm>
          <a:prstGeom prst="smileyFace">
            <a:avLst>
              <a:gd name="adj" fmla="val 4653"/>
            </a:avLst>
          </a:prstGeom>
          <a:solidFill>
            <a:schemeClr val="bg1"/>
          </a:solidFill>
          <a:ln w="19050" cmpd="sng">
            <a:solidFill>
              <a:srgbClr val="00BE0A"/>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kumimoji="1" lang="en-US"/>
          </a:p>
        </p:txBody>
      </p:sp>
      <p:sp>
        <p:nvSpPr>
          <p:cNvPr id="6" name="Slide Number Placeholder 5">
            <a:extLst>
              <a:ext uri="{FF2B5EF4-FFF2-40B4-BE49-F238E27FC236}">
                <a16:creationId xmlns:a16="http://schemas.microsoft.com/office/drawing/2014/main" id="{B8EF5435-AFB2-3E41-9A5C-88D61584A284}"/>
              </a:ext>
            </a:extLst>
          </p:cNvPr>
          <p:cNvSpPr>
            <a:spLocks noGrp="1"/>
          </p:cNvSpPr>
          <p:nvPr>
            <p:ph type="sldNum" sz="quarter" idx="12"/>
          </p:nvPr>
        </p:nvSpPr>
        <p:spPr/>
        <p:txBody>
          <a:bodyPr/>
          <a:lstStyle/>
          <a:p>
            <a:fld id="{6675BFCB-789E-5945-84C6-0973649846BB}" type="slidenum">
              <a:rPr lang="en-US" smtClean="0"/>
              <a:pPr/>
              <a:t>7</a:t>
            </a:fld>
            <a:endParaRPr lang="en-US" dirty="0"/>
          </a:p>
        </p:txBody>
      </p:sp>
      <p:sp>
        <p:nvSpPr>
          <p:cNvPr id="15" name="Date Placeholder 14">
            <a:extLst>
              <a:ext uri="{FF2B5EF4-FFF2-40B4-BE49-F238E27FC236}">
                <a16:creationId xmlns:a16="http://schemas.microsoft.com/office/drawing/2014/main" id="{233C4364-943D-2E9B-8CA3-A60D52369B02}"/>
              </a:ext>
            </a:extLst>
          </p:cNvPr>
          <p:cNvSpPr>
            <a:spLocks noGrp="1"/>
          </p:cNvSpPr>
          <p:nvPr>
            <p:ph type="dt" sz="half" idx="10"/>
          </p:nvPr>
        </p:nvSpPr>
        <p:spPr/>
        <p:txBody>
          <a:bodyPr/>
          <a:lstStyle/>
          <a:p>
            <a:r>
              <a:rPr lang="en-US" altLang="ja-JP" dirty="0"/>
              <a:t>2025/2/27</a:t>
            </a:r>
            <a:endParaRPr lang="en-US" dirty="0"/>
          </a:p>
        </p:txBody>
      </p:sp>
      <p:sp>
        <p:nvSpPr>
          <p:cNvPr id="5" name="Smiley Face 17">
            <a:extLst>
              <a:ext uri="{FF2B5EF4-FFF2-40B4-BE49-F238E27FC236}">
                <a16:creationId xmlns:a16="http://schemas.microsoft.com/office/drawing/2014/main" id="{774BC8D4-FD32-560B-FB06-ECF17995D45A}"/>
              </a:ext>
            </a:extLst>
          </p:cNvPr>
          <p:cNvSpPr/>
          <p:nvPr/>
        </p:nvSpPr>
        <p:spPr>
          <a:xfrm>
            <a:off x="10092763" y="5321084"/>
            <a:ext cx="386527" cy="381001"/>
          </a:xfrm>
          <a:prstGeom prst="smileyFace">
            <a:avLst>
              <a:gd name="adj" fmla="val 4653"/>
            </a:avLst>
          </a:prstGeom>
          <a:solidFill>
            <a:schemeClr val="bg1"/>
          </a:solidFill>
          <a:ln w="19050" cmpd="sng">
            <a:solidFill>
              <a:srgbClr val="00BE0A"/>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kumimoji="1" lang="en-US"/>
          </a:p>
        </p:txBody>
      </p:sp>
    </p:spTree>
    <p:extLst>
      <p:ext uri="{BB962C8B-B14F-4D97-AF65-F5344CB8AC3E}">
        <p14:creationId xmlns:p14="http://schemas.microsoft.com/office/powerpoint/2010/main" val="407192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73F43FC-D398-AC44-8566-8C5A8625A3F8}"/>
              </a:ext>
            </a:extLst>
          </p:cNvPr>
          <p:cNvSpPr>
            <a:spLocks noGrp="1"/>
          </p:cNvSpPr>
          <p:nvPr>
            <p:ph type="title"/>
          </p:nvPr>
        </p:nvSpPr>
        <p:spPr>
          <a:xfrm>
            <a:off x="548268" y="284244"/>
            <a:ext cx="10515600" cy="727695"/>
          </a:xfrm>
        </p:spPr>
        <p:txBody>
          <a:bodyPr>
            <a:normAutofit/>
          </a:bodyPr>
          <a:lstStyle/>
          <a:p>
            <a:pPr algn="l"/>
            <a:r>
              <a:rPr lang="ja-JP" altLang="en-US" sz="3200" b="0">
                <a:solidFill>
                  <a:schemeClr val="tx1"/>
                </a:solidFill>
                <a:latin typeface="Meiryo" panose="020B0604030504040204" pitchFamily="34" charset="-128"/>
                <a:ea typeface="Meiryo" panose="020B0604030504040204" pitchFamily="34" charset="-128"/>
              </a:rPr>
              <a:t>目次</a:t>
            </a:r>
            <a:endParaRPr kumimoji="1" lang="ja-JP" altLang="en-US" sz="3200" b="0">
              <a:solidFill>
                <a:schemeClr val="tx1"/>
              </a:solidFill>
              <a:latin typeface="Meiryo" panose="020B0604030504040204" pitchFamily="34" charset="-128"/>
              <a:ea typeface="Meiryo" panose="020B0604030504040204" pitchFamily="34" charset="-128"/>
            </a:endParaRPr>
          </a:p>
        </p:txBody>
      </p:sp>
      <p:sp>
        <p:nvSpPr>
          <p:cNvPr id="3" name="コンテンツ プレースホルダー 2">
            <a:extLst>
              <a:ext uri="{FF2B5EF4-FFF2-40B4-BE49-F238E27FC236}">
                <a16:creationId xmlns:a16="http://schemas.microsoft.com/office/drawing/2014/main" id="{C9EF43C5-3BF4-1245-8E9B-EF744E11B7DF}"/>
              </a:ext>
            </a:extLst>
          </p:cNvPr>
          <p:cNvSpPr>
            <a:spLocks noGrp="1"/>
          </p:cNvSpPr>
          <p:nvPr>
            <p:ph idx="1"/>
          </p:nvPr>
        </p:nvSpPr>
        <p:spPr>
          <a:xfrm>
            <a:off x="548267" y="1156551"/>
            <a:ext cx="10939539" cy="5015648"/>
          </a:xfrm>
        </p:spPr>
        <p:txBody>
          <a:bodyPr>
            <a:normAutofit/>
          </a:bodyPr>
          <a:lstStyle/>
          <a:p>
            <a:pPr marL="514350" indent="-514350">
              <a:buFont typeface="+mj-lt"/>
              <a:buAutoNum type="arabicPeriod"/>
            </a:pPr>
            <a:r>
              <a:rPr lang="ja-JP" altLang="en-US" sz="2800">
                <a:solidFill>
                  <a:schemeClr val="bg1">
                    <a:lumMod val="65000"/>
                  </a:schemeClr>
                </a:solidFill>
                <a:latin typeface="Meiryo" panose="020B0604030504040204" pitchFamily="34" charset="-128"/>
                <a:ea typeface="Meiryo" panose="020B0604030504040204" pitchFamily="34" charset="-128"/>
              </a:rPr>
              <a:t>研究背景</a:t>
            </a:r>
            <a:endParaRPr lang="en-US" altLang="ja-JP" dirty="0">
              <a:solidFill>
                <a:schemeClr val="bg1">
                  <a:lumMod val="65000"/>
                </a:schemeClr>
              </a:solidFill>
              <a:latin typeface="Meiryo" panose="020B0604030504040204" pitchFamily="34" charset="-128"/>
              <a:ea typeface="Meiryo" panose="020B0604030504040204" pitchFamily="34" charset="-128"/>
            </a:endParaRPr>
          </a:p>
          <a:p>
            <a:pPr marL="514350" indent="-514350">
              <a:buFont typeface="+mj-lt"/>
              <a:buAutoNum type="arabicPeriod"/>
            </a:pPr>
            <a:endParaRPr lang="en-US" altLang="ja-JP" b="1" dirty="0">
              <a:solidFill>
                <a:schemeClr val="accent1"/>
              </a:solidFill>
              <a:latin typeface="Meiryo" panose="020B0604030504040204" pitchFamily="34" charset="-128"/>
              <a:ea typeface="Meiryo" panose="020B0604030504040204" pitchFamily="34" charset="-128"/>
            </a:endParaRPr>
          </a:p>
          <a:p>
            <a:pPr marL="514350" indent="-514350">
              <a:buFont typeface="+mj-lt"/>
              <a:buAutoNum type="arabicPeriod"/>
            </a:pPr>
            <a:r>
              <a:rPr lang="ja-JP" altLang="en-US" sz="2800" b="1">
                <a:solidFill>
                  <a:schemeClr val="accent1"/>
                </a:solidFill>
                <a:latin typeface="Meiryo" panose="020B0604030504040204" pitchFamily="34" charset="-128"/>
                <a:ea typeface="Meiryo" panose="020B0604030504040204" pitchFamily="34" charset="-128"/>
              </a:rPr>
              <a:t>提案手法</a:t>
            </a:r>
            <a:endParaRPr lang="en-US" altLang="ja-JP" sz="2800" b="1" dirty="0">
              <a:solidFill>
                <a:schemeClr val="accent1"/>
              </a:solidFill>
              <a:latin typeface="Meiryo" panose="020B0604030504040204" pitchFamily="34" charset="-128"/>
              <a:ea typeface="Meiryo" panose="020B0604030504040204" pitchFamily="34" charset="-128"/>
            </a:endParaRPr>
          </a:p>
          <a:p>
            <a:pPr marL="514350" indent="-514350">
              <a:buFont typeface="+mj-lt"/>
              <a:buAutoNum type="arabicPeriod"/>
            </a:pPr>
            <a:endParaRPr lang="en-US" altLang="ja-JP" sz="2800" dirty="0">
              <a:latin typeface="Meiryo" panose="020B0604030504040204" pitchFamily="34" charset="-128"/>
              <a:ea typeface="Meiryo" panose="020B0604030504040204" pitchFamily="34" charset="-128"/>
            </a:endParaRPr>
          </a:p>
          <a:p>
            <a:pPr marL="514350" indent="-514350">
              <a:buFont typeface="+mj-lt"/>
              <a:buAutoNum type="arabicPeriod"/>
            </a:pPr>
            <a:r>
              <a:rPr lang="ja-JP" altLang="en-US" sz="2800">
                <a:latin typeface="Meiryo" panose="020B0604030504040204" pitchFamily="34" charset="-128"/>
                <a:ea typeface="Meiryo" panose="020B0604030504040204" pitchFamily="34" charset="-128"/>
              </a:rPr>
              <a:t>実験</a:t>
            </a:r>
            <a:endParaRPr lang="en-US" altLang="ja-JP" sz="2800" dirty="0">
              <a:latin typeface="Meiryo" panose="020B0604030504040204" pitchFamily="34" charset="-128"/>
              <a:ea typeface="Meiryo" panose="020B0604030504040204" pitchFamily="34" charset="-128"/>
            </a:endParaRPr>
          </a:p>
          <a:p>
            <a:pPr marL="514350" indent="-514350">
              <a:buFont typeface="+mj-lt"/>
              <a:buAutoNum type="arabicPeriod"/>
            </a:pPr>
            <a:endParaRPr lang="en-US" altLang="ja-JP" sz="2800" dirty="0">
              <a:latin typeface="Meiryo" panose="020B0604030504040204" pitchFamily="34" charset="-128"/>
              <a:ea typeface="Meiryo" panose="020B0604030504040204" pitchFamily="34" charset="-128"/>
            </a:endParaRPr>
          </a:p>
          <a:p>
            <a:pPr marL="514350" indent="-514350">
              <a:buFont typeface="+mj-lt"/>
              <a:buAutoNum type="arabicPeriod"/>
            </a:pPr>
            <a:r>
              <a:rPr lang="ja-JP" altLang="en-US" sz="2800">
                <a:latin typeface="Meiryo" panose="020B0604030504040204" pitchFamily="34" charset="-128"/>
                <a:ea typeface="Meiryo" panose="020B0604030504040204" pitchFamily="34" charset="-128"/>
              </a:rPr>
              <a:t>まとめ</a:t>
            </a:r>
            <a:endParaRPr lang="en-US" altLang="ja-JP" dirty="0">
              <a:latin typeface="Meiryo" panose="020B0604030504040204" pitchFamily="34" charset="-128"/>
              <a:ea typeface="Meiryo" panose="020B0604030504040204" pitchFamily="34" charset="-128"/>
            </a:endParaRPr>
          </a:p>
        </p:txBody>
      </p:sp>
      <p:cxnSp>
        <p:nvCxnSpPr>
          <p:cNvPr id="7" name="Straight Connector 6">
            <a:extLst>
              <a:ext uri="{FF2B5EF4-FFF2-40B4-BE49-F238E27FC236}">
                <a16:creationId xmlns:a16="http://schemas.microsoft.com/office/drawing/2014/main" id="{BB3800FB-FE81-61B1-706C-CDEC701D78C2}"/>
              </a:ext>
            </a:extLst>
          </p:cNvPr>
          <p:cNvCxnSpPr>
            <a:cxnSpLocks/>
          </p:cNvCxnSpPr>
          <p:nvPr/>
        </p:nvCxnSpPr>
        <p:spPr>
          <a:xfrm>
            <a:off x="646043" y="874643"/>
            <a:ext cx="10694505"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237C5955-1FBA-C016-B2B6-003669475FA6}"/>
              </a:ext>
            </a:extLst>
          </p:cNvPr>
          <p:cNvSpPr>
            <a:spLocks noGrp="1"/>
          </p:cNvSpPr>
          <p:nvPr>
            <p:ph type="sldNum" sz="quarter" idx="12"/>
          </p:nvPr>
        </p:nvSpPr>
        <p:spPr/>
        <p:txBody>
          <a:bodyPr/>
          <a:lstStyle/>
          <a:p>
            <a:fld id="{6675BFCB-789E-5945-84C6-0973649846BB}" type="slidenum">
              <a:rPr lang="en-US" smtClean="0"/>
              <a:pPr/>
              <a:t>8</a:t>
            </a:fld>
            <a:endParaRPr lang="en-US" dirty="0"/>
          </a:p>
        </p:txBody>
      </p:sp>
      <p:sp>
        <p:nvSpPr>
          <p:cNvPr id="4" name="Date Placeholder 10">
            <a:extLst>
              <a:ext uri="{FF2B5EF4-FFF2-40B4-BE49-F238E27FC236}">
                <a16:creationId xmlns:a16="http://schemas.microsoft.com/office/drawing/2014/main" id="{801E41AE-E793-13F1-3B4F-A6A51FBF2A2F}"/>
              </a:ext>
            </a:extLst>
          </p:cNvPr>
          <p:cNvSpPr>
            <a:spLocks noGrp="1"/>
          </p:cNvSpPr>
          <p:nvPr>
            <p:ph type="dt" sz="half" idx="10"/>
          </p:nvPr>
        </p:nvSpPr>
        <p:spPr>
          <a:xfrm>
            <a:off x="838200" y="6553200"/>
            <a:ext cx="2743200" cy="365125"/>
          </a:xfrm>
        </p:spPr>
        <p:txBody>
          <a:bodyPr/>
          <a:lstStyle/>
          <a:p>
            <a:r>
              <a:rPr lang="en-US" altLang="ja-JP" dirty="0"/>
              <a:t>2025/2/27</a:t>
            </a:r>
            <a:endParaRPr lang="en-US" dirty="0"/>
          </a:p>
        </p:txBody>
      </p:sp>
      <p:sp>
        <p:nvSpPr>
          <p:cNvPr id="5" name="フッター プレースホルダー 4">
            <a:extLst>
              <a:ext uri="{FF2B5EF4-FFF2-40B4-BE49-F238E27FC236}">
                <a16:creationId xmlns:a16="http://schemas.microsoft.com/office/drawing/2014/main" id="{0484E8E7-544C-6A6A-8C2A-8380471FB5C6}"/>
              </a:ext>
            </a:extLst>
          </p:cNvPr>
          <p:cNvSpPr>
            <a:spLocks noGrp="1"/>
          </p:cNvSpPr>
          <p:nvPr>
            <p:ph type="ftr" sz="quarter" idx="11"/>
          </p:nvPr>
        </p:nvSpPr>
        <p:spPr>
          <a:xfrm>
            <a:off x="4038600" y="6553200"/>
            <a:ext cx="4114800" cy="365125"/>
          </a:xfrm>
        </p:spPr>
        <p:txBody>
          <a:bodyPr/>
          <a:lstStyle/>
          <a:p>
            <a:r>
              <a:rPr lang="fi-FI"/>
              <a:t>Tsubasa Kato @ Sakurai Lab.</a:t>
            </a:r>
            <a:endParaRPr lang="en-US" dirty="0"/>
          </a:p>
        </p:txBody>
      </p:sp>
    </p:spTree>
    <p:extLst>
      <p:ext uri="{BB962C8B-B14F-4D97-AF65-F5344CB8AC3E}">
        <p14:creationId xmlns:p14="http://schemas.microsoft.com/office/powerpoint/2010/main" val="25231679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73F43FC-D398-AC44-8566-8C5A8625A3F8}"/>
              </a:ext>
            </a:extLst>
          </p:cNvPr>
          <p:cNvSpPr>
            <a:spLocks noGrp="1"/>
          </p:cNvSpPr>
          <p:nvPr>
            <p:ph type="title"/>
          </p:nvPr>
        </p:nvSpPr>
        <p:spPr>
          <a:xfrm>
            <a:off x="548268" y="284244"/>
            <a:ext cx="10515600" cy="727695"/>
          </a:xfrm>
        </p:spPr>
        <p:txBody>
          <a:bodyPr>
            <a:normAutofit/>
          </a:bodyPr>
          <a:lstStyle/>
          <a:p>
            <a:pPr algn="l"/>
            <a:r>
              <a:rPr kumimoji="1" lang="ja-JP" altLang="en-US" sz="3200">
                <a:latin typeface="Meiryo" panose="020B0604030504040204" pitchFamily="34" charset="-128"/>
                <a:ea typeface="Meiryo" panose="020B0604030504040204" pitchFamily="34" charset="-128"/>
              </a:rPr>
              <a:t>問題定義</a:t>
            </a:r>
            <a:endParaRPr kumimoji="1" lang="ja-JP" altLang="en-US" sz="3200" b="0">
              <a:solidFill>
                <a:schemeClr val="tx1"/>
              </a:solidFill>
              <a:latin typeface="Meiryo" panose="020B0604030504040204" pitchFamily="34" charset="-128"/>
              <a:ea typeface="Meiryo" panose="020B0604030504040204" pitchFamily="34" charset="-128"/>
            </a:endParaRPr>
          </a:p>
        </p:txBody>
      </p:sp>
      <mc:AlternateContent xmlns:mc="http://schemas.openxmlformats.org/markup-compatibility/2006">
        <mc:Choice xmlns:a14="http://schemas.microsoft.com/office/drawing/2010/main" Requires="a14">
          <p:sp>
            <p:nvSpPr>
              <p:cNvPr id="3" name="コンテンツ プレースホルダー 2">
                <a:extLst>
                  <a:ext uri="{FF2B5EF4-FFF2-40B4-BE49-F238E27FC236}">
                    <a16:creationId xmlns:a16="http://schemas.microsoft.com/office/drawing/2014/main" id="{C9EF43C5-3BF4-1245-8E9B-EF744E11B7DF}"/>
                  </a:ext>
                </a:extLst>
              </p:cNvPr>
              <p:cNvSpPr>
                <a:spLocks noGrp="1"/>
              </p:cNvSpPr>
              <p:nvPr>
                <p:ph idx="1"/>
              </p:nvPr>
            </p:nvSpPr>
            <p:spPr>
              <a:xfrm>
                <a:off x="548267" y="1011940"/>
                <a:ext cx="10939539" cy="5541256"/>
              </a:xfrm>
            </p:spPr>
            <p:txBody>
              <a:bodyPr>
                <a:normAutofit/>
              </a:bodyPr>
              <a:lstStyle/>
              <a:p>
                <a:pPr marL="0" indent="0">
                  <a:buNone/>
                </a:pPr>
                <a:r>
                  <a:rPr lang="en-US" altLang="ja-JP" b="1" dirty="0">
                    <a:latin typeface="Meiryo" panose="020B0604030504040204" pitchFamily="34" charset="-128"/>
                    <a:ea typeface="Meiryo" panose="020B0604030504040204" pitchFamily="34" charset="-128"/>
                  </a:rPr>
                  <a:t>Given</a:t>
                </a:r>
              </a:p>
              <a:p>
                <a:pPr marL="0" indent="0">
                  <a:buNone/>
                </a:pPr>
                <a:r>
                  <a:rPr lang="ja-JP" altLang="en-US" sz="2400">
                    <a:latin typeface="Meiryo" panose="020B0604030504040204" pitchFamily="34" charset="-128"/>
                    <a:ea typeface="Meiryo" panose="020B0604030504040204" pitchFamily="34" charset="-128"/>
                  </a:rPr>
                  <a:t>　</a:t>
                </a:r>
                <a:r>
                  <a:rPr lang="ja-JP" altLang="en-US" sz="2000">
                    <a:latin typeface="Meiryo" panose="020B0604030504040204" pitchFamily="34" charset="-128"/>
                    <a:ea typeface="Meiryo" panose="020B0604030504040204" pitchFamily="34" charset="-128"/>
                  </a:rPr>
                  <a:t>センサデータ：人間の行動動作や睡眠</a:t>
                </a:r>
                <a:r>
                  <a:rPr lang="en-US" altLang="ja-JP" sz="2000" dirty="0">
                    <a:latin typeface="Meiryo" panose="020B0604030504040204" pitchFamily="34" charset="-128"/>
                    <a:ea typeface="Meiryo" panose="020B0604030504040204" pitchFamily="34" charset="-128"/>
                  </a:rPr>
                  <a:t>, </a:t>
                </a:r>
                <a:r>
                  <a:rPr lang="ja-JP" altLang="en-US" sz="2000">
                    <a:latin typeface="Meiryo" panose="020B0604030504040204" pitchFamily="34" charset="-128"/>
                    <a:ea typeface="Meiryo" panose="020B0604030504040204" pitchFamily="34" charset="-128"/>
                  </a:rPr>
                  <a:t>機械の多変量時系列データ</a:t>
                </a:r>
                <a14:m>
                  <m:oMath xmlns:m="http://schemas.openxmlformats.org/officeDocument/2006/math">
                    <m:r>
                      <a:rPr lang="en-US" altLang="ja-JP" sz="2000" b="0" i="1" smtClean="0">
                        <a:latin typeface="Cambria Math" panose="02040503050406030204" pitchFamily="18" charset="0"/>
                        <a:ea typeface="Cambria Math" panose="02040503050406030204" pitchFamily="18" charset="0"/>
                      </a:rPr>
                      <m:t>𝒳</m:t>
                    </m:r>
                  </m:oMath>
                </a14:m>
                <a:endParaRPr lang="en-US" altLang="ja-JP" sz="2000" dirty="0">
                  <a:latin typeface="Meiryo" panose="020B0604030504040204" pitchFamily="34" charset="-128"/>
                  <a:ea typeface="Meiryo" panose="020B0604030504040204" pitchFamily="34" charset="-128"/>
                </a:endParaRPr>
              </a:p>
              <a:p>
                <a:pPr marL="0" indent="0">
                  <a:buNone/>
                </a:pPr>
                <a:endParaRPr lang="en-US" altLang="ja-JP" sz="2000" dirty="0">
                  <a:latin typeface="Meiryo" panose="020B0604030504040204" pitchFamily="34" charset="-128"/>
                  <a:ea typeface="Meiryo" panose="020B0604030504040204" pitchFamily="34" charset="-128"/>
                </a:endParaRPr>
              </a:p>
              <a:p>
                <a:pPr marL="0" indent="0">
                  <a:buNone/>
                </a:pPr>
                <a:endParaRPr lang="en-US" altLang="ja-JP" dirty="0">
                  <a:latin typeface="Meiryo" panose="020B0604030504040204" pitchFamily="34" charset="-128"/>
                  <a:ea typeface="Meiryo" panose="020B0604030504040204" pitchFamily="34" charset="-128"/>
                </a:endParaRPr>
              </a:p>
              <a:p>
                <a:pPr marL="0" indent="0">
                  <a:buNone/>
                </a:pPr>
                <a:endParaRPr lang="en-US" altLang="ja-JP" dirty="0">
                  <a:latin typeface="Meiryo" panose="020B0604030504040204" pitchFamily="34" charset="-128"/>
                  <a:ea typeface="Meiryo" panose="020B0604030504040204" pitchFamily="34" charset="-128"/>
                </a:endParaRPr>
              </a:p>
              <a:p>
                <a:pPr marL="0" indent="0">
                  <a:buNone/>
                </a:pPr>
                <a:endParaRPr lang="en-US" altLang="ja-JP" b="1" dirty="0">
                  <a:latin typeface="Meiryo" panose="020B0604030504040204" pitchFamily="34" charset="-128"/>
                  <a:ea typeface="Meiryo" panose="020B0604030504040204" pitchFamily="34" charset="-128"/>
                </a:endParaRPr>
              </a:p>
              <a:p>
                <a:pPr marL="0" indent="0">
                  <a:buNone/>
                </a:pPr>
                <a:r>
                  <a:rPr lang="en-US" altLang="ja-JP" b="1" dirty="0">
                    <a:latin typeface="Meiryo" panose="020B0604030504040204" pitchFamily="34" charset="-128"/>
                    <a:ea typeface="Meiryo" panose="020B0604030504040204" pitchFamily="34" charset="-128"/>
                  </a:rPr>
                  <a:t>Output</a:t>
                </a:r>
              </a:p>
              <a:p>
                <a:pPr marL="0" indent="0">
                  <a:buNone/>
                </a:pPr>
                <a:r>
                  <a:rPr lang="ja-JP" altLang="en-US" sz="2000" b="1">
                    <a:latin typeface="Meiryo" panose="020B0604030504040204" pitchFamily="34" charset="-128"/>
                    <a:ea typeface="Meiryo" panose="020B0604030504040204" pitchFamily="34" charset="-128"/>
                  </a:rPr>
                  <a:t>　</a:t>
                </a:r>
                <a:r>
                  <a:rPr lang="ja-JP" altLang="en-US" sz="2000">
                    <a:latin typeface="Meiryo" panose="020B0604030504040204" pitchFamily="34" charset="-128"/>
                    <a:ea typeface="Meiryo" panose="020B0604030504040204" pitchFamily="34" charset="-128"/>
                  </a:rPr>
                  <a:t>各観測点に状態インデックス</a:t>
                </a:r>
                <a14:m>
                  <m:oMath xmlns:m="http://schemas.openxmlformats.org/officeDocument/2006/math">
                    <m:r>
                      <a:rPr lang="en-US" altLang="ja-JP" sz="2000" b="0" i="1" smtClean="0">
                        <a:latin typeface="Cambria Math" panose="02040503050406030204" pitchFamily="18" charset="0"/>
                        <a:ea typeface="Meiryo" panose="020B0604030504040204" pitchFamily="34" charset="-128"/>
                      </a:rPr>
                      <m:t>𝑆</m:t>
                    </m:r>
                  </m:oMath>
                </a14:m>
                <a:endParaRPr lang="en-US" altLang="ja-JP" sz="2000" dirty="0">
                  <a:latin typeface="Meiryo" panose="020B0604030504040204" pitchFamily="34" charset="-128"/>
                  <a:ea typeface="Meiryo" panose="020B0604030504040204" pitchFamily="34" charset="-128"/>
                </a:endParaRPr>
              </a:p>
              <a:p>
                <a:pPr marL="0" indent="0">
                  <a:buNone/>
                </a:pPr>
                <a:endParaRPr lang="en-US" altLang="ja-JP" sz="2000" b="1" dirty="0">
                  <a:latin typeface="Meiryo" panose="020B0604030504040204" pitchFamily="34" charset="-128"/>
                  <a:ea typeface="Meiryo" panose="020B0604030504040204" pitchFamily="34" charset="-128"/>
                </a:endParaRPr>
              </a:p>
              <a:p>
                <a:pPr marL="0" indent="0">
                  <a:buNone/>
                </a:pPr>
                <a:endParaRPr lang="en-US" altLang="ja-JP" sz="2000" b="1" dirty="0">
                  <a:latin typeface="Meiryo" panose="020B0604030504040204" pitchFamily="34" charset="-128"/>
                  <a:ea typeface="Meiryo" panose="020B0604030504040204" pitchFamily="34" charset="-128"/>
                </a:endParaRPr>
              </a:p>
              <a:p>
                <a:pPr marL="0" indent="0">
                  <a:buNone/>
                </a:pPr>
                <a:r>
                  <a:rPr lang="ja-JP" altLang="en-US" b="1">
                    <a:latin typeface="Meiryo" panose="020B0604030504040204" pitchFamily="34" charset="-128"/>
                    <a:ea typeface="Meiryo" panose="020B0604030504040204" pitchFamily="34" charset="-128"/>
                  </a:rPr>
                  <a:t>　</a:t>
                </a:r>
                <a:r>
                  <a:rPr lang="ja-JP" altLang="en-US" sz="2400">
                    <a:latin typeface="Meiryo" panose="020B0604030504040204" pitchFamily="34" charset="-128"/>
                    <a:ea typeface="Meiryo" panose="020B0604030504040204" pitchFamily="34" charset="-128"/>
                  </a:rPr>
                  <a:t>　</a:t>
                </a:r>
                <a:endParaRPr lang="en-US" altLang="ja-JP" sz="2400" dirty="0">
                  <a:latin typeface="Meiryo" panose="020B0604030504040204" pitchFamily="34" charset="-128"/>
                  <a:ea typeface="Meiryo" panose="020B0604030504040204" pitchFamily="34" charset="-128"/>
                </a:endParaRPr>
              </a:p>
            </p:txBody>
          </p:sp>
        </mc:Choice>
        <mc:Fallback>
          <p:sp>
            <p:nvSpPr>
              <p:cNvPr id="3" name="コンテンツ プレースホルダー 2">
                <a:extLst>
                  <a:ext uri="{FF2B5EF4-FFF2-40B4-BE49-F238E27FC236}">
                    <a16:creationId xmlns:a16="http://schemas.microsoft.com/office/drawing/2014/main" id="{C9EF43C5-3BF4-1245-8E9B-EF744E11B7DF}"/>
                  </a:ext>
                </a:extLst>
              </p:cNvPr>
              <p:cNvSpPr>
                <a:spLocks noGrp="1" noRot="1" noChangeAspect="1" noMove="1" noResize="1" noEditPoints="1" noAdjustHandles="1" noChangeArrowheads="1" noChangeShapeType="1" noTextEdit="1"/>
              </p:cNvSpPr>
              <p:nvPr>
                <p:ph idx="1"/>
              </p:nvPr>
            </p:nvSpPr>
            <p:spPr>
              <a:xfrm>
                <a:off x="548267" y="1011940"/>
                <a:ext cx="10939539" cy="5541256"/>
              </a:xfrm>
              <a:blipFill>
                <a:blip r:embed="rId3"/>
                <a:stretch>
                  <a:fillRect l="-1160" t="-1831"/>
                </a:stretch>
              </a:blipFill>
            </p:spPr>
            <p:txBody>
              <a:bodyPr/>
              <a:lstStyle/>
              <a:p>
                <a:r>
                  <a:rPr lang="ja-JP" altLang="en-US">
                    <a:noFill/>
                  </a:rPr>
                  <a:t> </a:t>
                </a:r>
              </a:p>
            </p:txBody>
          </p:sp>
        </mc:Fallback>
      </mc:AlternateContent>
      <p:cxnSp>
        <p:nvCxnSpPr>
          <p:cNvPr id="7" name="Straight Connector 6">
            <a:extLst>
              <a:ext uri="{FF2B5EF4-FFF2-40B4-BE49-F238E27FC236}">
                <a16:creationId xmlns:a16="http://schemas.microsoft.com/office/drawing/2014/main" id="{BB3800FB-FE81-61B1-706C-CDEC701D78C2}"/>
              </a:ext>
            </a:extLst>
          </p:cNvPr>
          <p:cNvCxnSpPr>
            <a:cxnSpLocks/>
          </p:cNvCxnSpPr>
          <p:nvPr/>
        </p:nvCxnSpPr>
        <p:spPr>
          <a:xfrm>
            <a:off x="646043" y="874643"/>
            <a:ext cx="10694505"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4CE5DE7F-B37F-5E44-B9A3-4C2AEED7CED8}"/>
              </a:ext>
            </a:extLst>
          </p:cNvPr>
          <p:cNvSpPr>
            <a:spLocks noGrp="1"/>
          </p:cNvSpPr>
          <p:nvPr>
            <p:ph type="sldNum" sz="quarter" idx="12"/>
          </p:nvPr>
        </p:nvSpPr>
        <p:spPr/>
        <p:txBody>
          <a:bodyPr/>
          <a:lstStyle/>
          <a:p>
            <a:fld id="{6675BFCB-789E-5945-84C6-0973649846BB}" type="slidenum">
              <a:rPr lang="en-US" smtClean="0"/>
              <a:pPr/>
              <a:t>9</a:t>
            </a:fld>
            <a:endParaRPr lang="en-US" dirty="0"/>
          </a:p>
        </p:txBody>
      </p:sp>
      <p:pic>
        <p:nvPicPr>
          <p:cNvPr id="5" name="コンテンツ プレースホルダー 3">
            <a:extLst>
              <a:ext uri="{FF2B5EF4-FFF2-40B4-BE49-F238E27FC236}">
                <a16:creationId xmlns:a16="http://schemas.microsoft.com/office/drawing/2014/main" id="{F84F93FF-4EBF-FA88-32A9-00143B492CC7}"/>
              </a:ext>
            </a:extLst>
          </p:cNvPr>
          <p:cNvPicPr>
            <a:picLocks noChangeAspect="1"/>
          </p:cNvPicPr>
          <p:nvPr/>
        </p:nvPicPr>
        <p:blipFill>
          <a:blip r:embed="rId4"/>
          <a:srcRect l="12523" t="12752" r="2570" b="21813"/>
          <a:stretch/>
        </p:blipFill>
        <p:spPr>
          <a:xfrm>
            <a:off x="5131243" y="2124442"/>
            <a:ext cx="5715000" cy="1714500"/>
          </a:xfrm>
          <a:prstGeom prst="rect">
            <a:avLst/>
          </a:prstGeom>
          <a:ln w="25400">
            <a:solidFill>
              <a:schemeClr val="tx1"/>
            </a:solidFill>
          </a:ln>
        </p:spPr>
      </p:pic>
      <p:pic>
        <p:nvPicPr>
          <p:cNvPr id="11" name="図 10">
            <a:extLst>
              <a:ext uri="{FF2B5EF4-FFF2-40B4-BE49-F238E27FC236}">
                <a16:creationId xmlns:a16="http://schemas.microsoft.com/office/drawing/2014/main" id="{9F45099F-2B6A-F855-00B3-4AFE90EBC88C}"/>
              </a:ext>
            </a:extLst>
          </p:cNvPr>
          <p:cNvPicPr>
            <a:picLocks noChangeAspect="1"/>
          </p:cNvPicPr>
          <p:nvPr/>
        </p:nvPicPr>
        <p:blipFill>
          <a:blip r:embed="rId5"/>
          <a:stretch>
            <a:fillRect/>
          </a:stretch>
        </p:blipFill>
        <p:spPr>
          <a:xfrm>
            <a:off x="5305403" y="4152086"/>
            <a:ext cx="5509632" cy="2394238"/>
          </a:xfrm>
          <a:prstGeom prst="rect">
            <a:avLst/>
          </a:prstGeom>
        </p:spPr>
      </p:pic>
      <p:pic>
        <p:nvPicPr>
          <p:cNvPr id="13" name="図 12">
            <a:extLst>
              <a:ext uri="{FF2B5EF4-FFF2-40B4-BE49-F238E27FC236}">
                <a16:creationId xmlns:a16="http://schemas.microsoft.com/office/drawing/2014/main" id="{377106B8-B465-3125-8AEC-CFCDB6C81FD0}"/>
              </a:ext>
            </a:extLst>
          </p:cNvPr>
          <p:cNvPicPr>
            <a:picLocks noChangeAspect="1"/>
          </p:cNvPicPr>
          <p:nvPr/>
        </p:nvPicPr>
        <p:blipFill>
          <a:blip r:embed="rId6"/>
          <a:stretch>
            <a:fillRect/>
          </a:stretch>
        </p:blipFill>
        <p:spPr>
          <a:xfrm>
            <a:off x="1233205" y="2555748"/>
            <a:ext cx="3213100" cy="800100"/>
          </a:xfrm>
          <a:prstGeom prst="rect">
            <a:avLst/>
          </a:prstGeom>
        </p:spPr>
      </p:pic>
      <p:pic>
        <p:nvPicPr>
          <p:cNvPr id="15" name="図 14">
            <a:extLst>
              <a:ext uri="{FF2B5EF4-FFF2-40B4-BE49-F238E27FC236}">
                <a16:creationId xmlns:a16="http://schemas.microsoft.com/office/drawing/2014/main" id="{DE4B7E84-EB91-ECEE-7F28-E73063929BDC}"/>
              </a:ext>
            </a:extLst>
          </p:cNvPr>
          <p:cNvPicPr>
            <a:picLocks noChangeAspect="1"/>
          </p:cNvPicPr>
          <p:nvPr/>
        </p:nvPicPr>
        <p:blipFill>
          <a:blip r:embed="rId7"/>
          <a:stretch>
            <a:fillRect/>
          </a:stretch>
        </p:blipFill>
        <p:spPr>
          <a:xfrm>
            <a:off x="1233205" y="4988163"/>
            <a:ext cx="2809455" cy="1025674"/>
          </a:xfrm>
          <a:prstGeom prst="rect">
            <a:avLst/>
          </a:prstGeom>
        </p:spPr>
      </p:pic>
      <p:sp>
        <p:nvSpPr>
          <p:cNvPr id="16" name="Date Placeholder 10">
            <a:extLst>
              <a:ext uri="{FF2B5EF4-FFF2-40B4-BE49-F238E27FC236}">
                <a16:creationId xmlns:a16="http://schemas.microsoft.com/office/drawing/2014/main" id="{FD72DABF-1F81-E4E2-1D9F-11B9E7F9E955}"/>
              </a:ext>
            </a:extLst>
          </p:cNvPr>
          <p:cNvSpPr>
            <a:spLocks noGrp="1"/>
          </p:cNvSpPr>
          <p:nvPr>
            <p:ph type="dt" sz="half" idx="10"/>
          </p:nvPr>
        </p:nvSpPr>
        <p:spPr>
          <a:xfrm>
            <a:off x="838200" y="6553200"/>
            <a:ext cx="2743200" cy="365125"/>
          </a:xfrm>
        </p:spPr>
        <p:txBody>
          <a:bodyPr/>
          <a:lstStyle/>
          <a:p>
            <a:r>
              <a:rPr lang="en-US" altLang="ja-JP" dirty="0"/>
              <a:t>2025/2/27</a:t>
            </a:r>
            <a:endParaRPr lang="en-US" dirty="0"/>
          </a:p>
        </p:txBody>
      </p:sp>
      <p:sp>
        <p:nvSpPr>
          <p:cNvPr id="17" name="フッター プレースホルダー 4">
            <a:extLst>
              <a:ext uri="{FF2B5EF4-FFF2-40B4-BE49-F238E27FC236}">
                <a16:creationId xmlns:a16="http://schemas.microsoft.com/office/drawing/2014/main" id="{1FAEBA45-A546-31C6-0486-74E0BF51BD8B}"/>
              </a:ext>
            </a:extLst>
          </p:cNvPr>
          <p:cNvSpPr>
            <a:spLocks noGrp="1"/>
          </p:cNvSpPr>
          <p:nvPr>
            <p:ph type="ftr" sz="quarter" idx="11"/>
          </p:nvPr>
        </p:nvSpPr>
        <p:spPr>
          <a:xfrm>
            <a:off x="4038600" y="6553200"/>
            <a:ext cx="4114800" cy="365125"/>
          </a:xfrm>
        </p:spPr>
        <p:txBody>
          <a:bodyPr/>
          <a:lstStyle/>
          <a:p>
            <a:r>
              <a:rPr lang="fi-FI"/>
              <a:t>Tsubasa Kato @ Sakurai Lab.</a:t>
            </a:r>
            <a:endParaRPr lang="en-US" dirty="0"/>
          </a:p>
        </p:txBody>
      </p:sp>
    </p:spTree>
    <p:extLst>
      <p:ext uri="{BB962C8B-B14F-4D97-AF65-F5344CB8AC3E}">
        <p14:creationId xmlns:p14="http://schemas.microsoft.com/office/powerpoint/2010/main" val="27811089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C1BAB8-1EFE-5420-EE1D-3D2BB797EF9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827EFB9-14C0-79BF-A8C2-EFDDF0DEA9A0}"/>
              </a:ext>
            </a:extLst>
          </p:cNvPr>
          <p:cNvSpPr>
            <a:spLocks noGrp="1"/>
          </p:cNvSpPr>
          <p:nvPr>
            <p:ph type="title"/>
          </p:nvPr>
        </p:nvSpPr>
        <p:spPr>
          <a:xfrm>
            <a:off x="548268" y="284244"/>
            <a:ext cx="10515600" cy="727695"/>
          </a:xfrm>
        </p:spPr>
        <p:txBody>
          <a:bodyPr>
            <a:normAutofit/>
          </a:bodyPr>
          <a:lstStyle/>
          <a:p>
            <a:pPr algn="l"/>
            <a:r>
              <a:rPr kumimoji="1" lang="ja-JP" altLang="en-US" sz="3200" b="0">
                <a:solidFill>
                  <a:schemeClr val="tx1"/>
                </a:solidFill>
                <a:latin typeface="Meiryo" panose="020B0604030504040204" pitchFamily="34" charset="-128"/>
                <a:ea typeface="Meiryo" panose="020B0604030504040204" pitchFamily="34" charset="-128"/>
              </a:rPr>
              <a:t>提案手法</a:t>
            </a:r>
          </a:p>
        </p:txBody>
      </p:sp>
      <p:cxnSp>
        <p:nvCxnSpPr>
          <p:cNvPr id="7" name="Straight Connector 6">
            <a:extLst>
              <a:ext uri="{FF2B5EF4-FFF2-40B4-BE49-F238E27FC236}">
                <a16:creationId xmlns:a16="http://schemas.microsoft.com/office/drawing/2014/main" id="{5F19B0A9-67D3-F095-1570-1EA2EBC3A743}"/>
              </a:ext>
            </a:extLst>
          </p:cNvPr>
          <p:cNvCxnSpPr>
            <a:cxnSpLocks/>
          </p:cNvCxnSpPr>
          <p:nvPr/>
        </p:nvCxnSpPr>
        <p:spPr>
          <a:xfrm>
            <a:off x="646043" y="874643"/>
            <a:ext cx="10694505"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8B0A7CBA-04E1-60CC-6D57-AEE57D0B4897}"/>
              </a:ext>
            </a:extLst>
          </p:cNvPr>
          <p:cNvSpPr>
            <a:spLocks noGrp="1"/>
          </p:cNvSpPr>
          <p:nvPr>
            <p:ph type="sldNum" sz="quarter" idx="12"/>
          </p:nvPr>
        </p:nvSpPr>
        <p:spPr/>
        <p:txBody>
          <a:bodyPr/>
          <a:lstStyle/>
          <a:p>
            <a:fld id="{6675BFCB-789E-5945-84C6-0973649846BB}" type="slidenum">
              <a:rPr lang="en-US" smtClean="0"/>
              <a:pPr/>
              <a:t>10</a:t>
            </a:fld>
            <a:endParaRPr lang="en-US" dirty="0"/>
          </a:p>
        </p:txBody>
      </p:sp>
      <p:pic>
        <p:nvPicPr>
          <p:cNvPr id="9" name="図 8">
            <a:extLst>
              <a:ext uri="{FF2B5EF4-FFF2-40B4-BE49-F238E27FC236}">
                <a16:creationId xmlns:a16="http://schemas.microsoft.com/office/drawing/2014/main" id="{73F5E48F-D878-3984-E0DC-143A13233657}"/>
              </a:ext>
            </a:extLst>
          </p:cNvPr>
          <p:cNvPicPr>
            <a:picLocks noChangeAspect="1"/>
          </p:cNvPicPr>
          <p:nvPr/>
        </p:nvPicPr>
        <p:blipFill>
          <a:blip r:embed="rId3"/>
          <a:stretch>
            <a:fillRect/>
          </a:stretch>
        </p:blipFill>
        <p:spPr>
          <a:xfrm>
            <a:off x="1447800" y="1011939"/>
            <a:ext cx="9368056" cy="4169414"/>
          </a:xfrm>
          <a:prstGeom prst="rect">
            <a:avLst/>
          </a:prstGeom>
        </p:spPr>
      </p:pic>
      <p:sp>
        <p:nvSpPr>
          <p:cNvPr id="12" name="テキスト ボックス 11">
            <a:extLst>
              <a:ext uri="{FF2B5EF4-FFF2-40B4-BE49-F238E27FC236}">
                <a16:creationId xmlns:a16="http://schemas.microsoft.com/office/drawing/2014/main" id="{FE53382F-F563-B97C-4B27-AEC0C4E29D2C}"/>
              </a:ext>
            </a:extLst>
          </p:cNvPr>
          <p:cNvSpPr txBox="1"/>
          <p:nvPr/>
        </p:nvSpPr>
        <p:spPr>
          <a:xfrm>
            <a:off x="2133600" y="5402759"/>
            <a:ext cx="8458200" cy="769441"/>
          </a:xfrm>
          <a:prstGeom prst="rect">
            <a:avLst/>
          </a:prstGeom>
          <a:noFill/>
        </p:spPr>
        <p:txBody>
          <a:bodyPr wrap="square" rtlCol="0">
            <a:spAutoFit/>
          </a:bodyPr>
          <a:lstStyle/>
          <a:p>
            <a:pPr marL="285750" indent="-285750">
              <a:buFont typeface="Arial" panose="020B0604020202020204" pitchFamily="34" charset="0"/>
              <a:buChar char="•"/>
            </a:pPr>
            <a:r>
              <a:rPr kumimoji="1" lang="ja-JP" altLang="en-US" sz="2200">
                <a:latin typeface="Meiryo" panose="020B0604030504040204" pitchFamily="34" charset="-128"/>
                <a:ea typeface="Meiryo" panose="020B0604030504040204" pitchFamily="34" charset="-128"/>
              </a:rPr>
              <a:t>入力時系列に対して</a:t>
            </a:r>
            <a:r>
              <a:rPr kumimoji="1" lang="en-US" altLang="ja-JP" sz="2200" dirty="0">
                <a:latin typeface="Meiryo" panose="020B0604030504040204" pitchFamily="34" charset="-128"/>
                <a:ea typeface="Meiryo" panose="020B0604030504040204" pitchFamily="34" charset="-128"/>
              </a:rPr>
              <a:t>, </a:t>
            </a:r>
            <a:r>
              <a:rPr kumimoji="1" lang="ja-JP" altLang="en-US" sz="2200">
                <a:latin typeface="Meiryo" panose="020B0604030504040204" pitchFamily="34" charset="-128"/>
                <a:ea typeface="Meiryo" panose="020B0604030504040204" pitchFamily="34" charset="-128"/>
              </a:rPr>
              <a:t>データ拡張</a:t>
            </a:r>
            <a:r>
              <a:rPr kumimoji="1" lang="en-US" altLang="ja-JP" sz="2200" dirty="0">
                <a:latin typeface="Meiryo" panose="020B0604030504040204" pitchFamily="34" charset="-128"/>
                <a:ea typeface="Meiryo" panose="020B0604030504040204" pitchFamily="34" charset="-128"/>
              </a:rPr>
              <a:t>, </a:t>
            </a:r>
            <a:r>
              <a:rPr kumimoji="1" lang="ja-JP" altLang="en-US" sz="2200">
                <a:latin typeface="Meiryo" panose="020B0604030504040204" pitchFamily="34" charset="-128"/>
                <a:ea typeface="Meiryo" panose="020B0604030504040204" pitchFamily="34" charset="-128"/>
              </a:rPr>
              <a:t>特徴表現への変換</a:t>
            </a:r>
            <a:r>
              <a:rPr kumimoji="1" lang="en-US" altLang="ja-JP" sz="2200" dirty="0">
                <a:latin typeface="Meiryo" panose="020B0604030504040204" pitchFamily="34" charset="-128"/>
                <a:ea typeface="Meiryo" panose="020B0604030504040204" pitchFamily="34" charset="-128"/>
              </a:rPr>
              <a:t>, </a:t>
            </a:r>
            <a:r>
              <a:rPr kumimoji="1" lang="ja-JP" altLang="en-US" sz="2200">
                <a:latin typeface="Meiryo" panose="020B0604030504040204" pitchFamily="34" charset="-128"/>
                <a:ea typeface="Meiryo" panose="020B0604030504040204" pitchFamily="34" charset="-128"/>
              </a:rPr>
              <a:t>対照学習</a:t>
            </a:r>
            <a:endParaRPr kumimoji="1" lang="en-US" altLang="ja-JP" sz="2200"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kumimoji="1" lang="ja-JP" altLang="en-US" sz="2200">
                <a:latin typeface="Meiryo" panose="020B0604030504040204" pitchFamily="34" charset="-128"/>
                <a:ea typeface="Meiryo" panose="020B0604030504040204" pitchFamily="34" charset="-128"/>
              </a:rPr>
              <a:t>エンコーダの設計と対照学習のロス関数の設計</a:t>
            </a:r>
          </a:p>
        </p:txBody>
      </p:sp>
      <p:sp>
        <p:nvSpPr>
          <p:cNvPr id="16" name="Date Placeholder 10">
            <a:extLst>
              <a:ext uri="{FF2B5EF4-FFF2-40B4-BE49-F238E27FC236}">
                <a16:creationId xmlns:a16="http://schemas.microsoft.com/office/drawing/2014/main" id="{C3AA905F-8D3D-1DEF-6DE8-5862FAE0F48F}"/>
              </a:ext>
            </a:extLst>
          </p:cNvPr>
          <p:cNvSpPr>
            <a:spLocks noGrp="1"/>
          </p:cNvSpPr>
          <p:nvPr>
            <p:ph type="dt" sz="half" idx="10"/>
          </p:nvPr>
        </p:nvSpPr>
        <p:spPr>
          <a:xfrm>
            <a:off x="838200" y="6553200"/>
            <a:ext cx="2743200" cy="365125"/>
          </a:xfrm>
        </p:spPr>
        <p:txBody>
          <a:bodyPr/>
          <a:lstStyle/>
          <a:p>
            <a:r>
              <a:rPr lang="en-US" altLang="ja-JP" dirty="0"/>
              <a:t>2025/2/27</a:t>
            </a:r>
            <a:endParaRPr lang="en-US" dirty="0"/>
          </a:p>
        </p:txBody>
      </p:sp>
      <p:sp>
        <p:nvSpPr>
          <p:cNvPr id="17" name="フッター プレースホルダー 4">
            <a:extLst>
              <a:ext uri="{FF2B5EF4-FFF2-40B4-BE49-F238E27FC236}">
                <a16:creationId xmlns:a16="http://schemas.microsoft.com/office/drawing/2014/main" id="{64185986-B4CD-F826-9D04-8AE069372B12}"/>
              </a:ext>
            </a:extLst>
          </p:cNvPr>
          <p:cNvSpPr>
            <a:spLocks noGrp="1"/>
          </p:cNvSpPr>
          <p:nvPr>
            <p:ph type="ftr" sz="quarter" idx="11"/>
          </p:nvPr>
        </p:nvSpPr>
        <p:spPr>
          <a:xfrm>
            <a:off x="4038600" y="6553200"/>
            <a:ext cx="4114800" cy="365125"/>
          </a:xfrm>
        </p:spPr>
        <p:txBody>
          <a:bodyPr/>
          <a:lstStyle/>
          <a:p>
            <a:r>
              <a:rPr lang="fi-FI"/>
              <a:t>Tsubasa Kato @ Sakurai Lab.</a:t>
            </a:r>
            <a:endParaRPr lang="en-US" dirty="0"/>
          </a:p>
        </p:txBody>
      </p:sp>
    </p:spTree>
    <p:extLst>
      <p:ext uri="{BB962C8B-B14F-4D97-AF65-F5344CB8AC3E}">
        <p14:creationId xmlns:p14="http://schemas.microsoft.com/office/powerpoint/2010/main" val="19965092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2AA210-4A94-654C-2948-FC59A889B6A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F16BFED-C3C6-35C4-22DE-0125F0781512}"/>
              </a:ext>
            </a:extLst>
          </p:cNvPr>
          <p:cNvSpPr>
            <a:spLocks noGrp="1"/>
          </p:cNvSpPr>
          <p:nvPr>
            <p:ph type="title"/>
          </p:nvPr>
        </p:nvSpPr>
        <p:spPr>
          <a:xfrm>
            <a:off x="548268" y="284244"/>
            <a:ext cx="10515600" cy="727695"/>
          </a:xfrm>
        </p:spPr>
        <p:txBody>
          <a:bodyPr>
            <a:normAutofit/>
          </a:bodyPr>
          <a:lstStyle/>
          <a:p>
            <a:pPr algn="l"/>
            <a:r>
              <a:rPr kumimoji="1" lang="ja-JP" altLang="en-US" sz="3200" b="0">
                <a:solidFill>
                  <a:schemeClr val="tx1"/>
                </a:solidFill>
                <a:latin typeface="Meiryo" panose="020B0604030504040204" pitchFamily="34" charset="-128"/>
                <a:ea typeface="Meiryo" panose="020B0604030504040204" pitchFamily="34" charset="-128"/>
              </a:rPr>
              <a:t>提案手法</a:t>
            </a:r>
          </a:p>
        </p:txBody>
      </p:sp>
      <p:cxnSp>
        <p:nvCxnSpPr>
          <p:cNvPr id="7" name="Straight Connector 6">
            <a:extLst>
              <a:ext uri="{FF2B5EF4-FFF2-40B4-BE49-F238E27FC236}">
                <a16:creationId xmlns:a16="http://schemas.microsoft.com/office/drawing/2014/main" id="{65383453-29ED-6CB8-0057-9F8737475ED3}"/>
              </a:ext>
            </a:extLst>
          </p:cNvPr>
          <p:cNvCxnSpPr>
            <a:cxnSpLocks/>
          </p:cNvCxnSpPr>
          <p:nvPr/>
        </p:nvCxnSpPr>
        <p:spPr>
          <a:xfrm>
            <a:off x="646043" y="874643"/>
            <a:ext cx="10694505"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3848474E-3438-2101-C3D6-F588A3C96B44}"/>
              </a:ext>
            </a:extLst>
          </p:cNvPr>
          <p:cNvSpPr>
            <a:spLocks noGrp="1"/>
          </p:cNvSpPr>
          <p:nvPr>
            <p:ph type="sldNum" sz="quarter" idx="12"/>
          </p:nvPr>
        </p:nvSpPr>
        <p:spPr/>
        <p:txBody>
          <a:bodyPr/>
          <a:lstStyle/>
          <a:p>
            <a:fld id="{6675BFCB-789E-5945-84C6-0973649846BB}" type="slidenum">
              <a:rPr lang="en-US" smtClean="0"/>
              <a:pPr/>
              <a:t>11</a:t>
            </a:fld>
            <a:endParaRPr lang="en-US" dirty="0"/>
          </a:p>
        </p:txBody>
      </p:sp>
      <p:pic>
        <p:nvPicPr>
          <p:cNvPr id="9" name="図 8">
            <a:extLst>
              <a:ext uri="{FF2B5EF4-FFF2-40B4-BE49-F238E27FC236}">
                <a16:creationId xmlns:a16="http://schemas.microsoft.com/office/drawing/2014/main" id="{B4F24812-FDED-61E8-1B88-8142F2067D17}"/>
              </a:ext>
            </a:extLst>
          </p:cNvPr>
          <p:cNvPicPr>
            <a:picLocks noChangeAspect="1"/>
          </p:cNvPicPr>
          <p:nvPr/>
        </p:nvPicPr>
        <p:blipFill>
          <a:blip r:embed="rId3"/>
          <a:stretch>
            <a:fillRect/>
          </a:stretch>
        </p:blipFill>
        <p:spPr>
          <a:xfrm>
            <a:off x="1447800" y="1011939"/>
            <a:ext cx="9368056" cy="4169414"/>
          </a:xfrm>
          <a:prstGeom prst="rect">
            <a:avLst/>
          </a:prstGeom>
        </p:spPr>
      </p:pic>
      <p:sp>
        <p:nvSpPr>
          <p:cNvPr id="12" name="テキスト ボックス 11">
            <a:extLst>
              <a:ext uri="{FF2B5EF4-FFF2-40B4-BE49-F238E27FC236}">
                <a16:creationId xmlns:a16="http://schemas.microsoft.com/office/drawing/2014/main" id="{ABDD6C21-CB41-044B-7E97-CBD31207D40E}"/>
              </a:ext>
            </a:extLst>
          </p:cNvPr>
          <p:cNvSpPr txBox="1"/>
          <p:nvPr/>
        </p:nvSpPr>
        <p:spPr>
          <a:xfrm>
            <a:off x="2133600" y="5402759"/>
            <a:ext cx="8458200" cy="769441"/>
          </a:xfrm>
          <a:prstGeom prst="rect">
            <a:avLst/>
          </a:prstGeom>
          <a:noFill/>
        </p:spPr>
        <p:txBody>
          <a:bodyPr wrap="square" rtlCol="0">
            <a:spAutoFit/>
          </a:bodyPr>
          <a:lstStyle/>
          <a:p>
            <a:pPr marL="285750" indent="-285750">
              <a:buFont typeface="Arial" panose="020B0604020202020204" pitchFamily="34" charset="0"/>
              <a:buChar char="•"/>
            </a:pPr>
            <a:r>
              <a:rPr kumimoji="1" lang="ja-JP" altLang="en-US" sz="2200">
                <a:latin typeface="Meiryo" panose="020B0604030504040204" pitchFamily="34" charset="-128"/>
                <a:ea typeface="Meiryo" panose="020B0604030504040204" pitchFamily="34" charset="-128"/>
              </a:rPr>
              <a:t>入力時系列に対して</a:t>
            </a:r>
            <a:r>
              <a:rPr kumimoji="1" lang="en-US" altLang="ja-JP" sz="2200" dirty="0">
                <a:latin typeface="Meiryo" panose="020B0604030504040204" pitchFamily="34" charset="-128"/>
                <a:ea typeface="Meiryo" panose="020B0604030504040204" pitchFamily="34" charset="-128"/>
              </a:rPr>
              <a:t>, </a:t>
            </a:r>
            <a:r>
              <a:rPr kumimoji="1" lang="ja-JP" altLang="en-US" sz="2200">
                <a:latin typeface="Meiryo" panose="020B0604030504040204" pitchFamily="34" charset="-128"/>
                <a:ea typeface="Meiryo" panose="020B0604030504040204" pitchFamily="34" charset="-128"/>
              </a:rPr>
              <a:t>データ拡張</a:t>
            </a:r>
            <a:r>
              <a:rPr kumimoji="1" lang="en-US" altLang="ja-JP" sz="2200" dirty="0">
                <a:latin typeface="Meiryo" panose="020B0604030504040204" pitchFamily="34" charset="-128"/>
                <a:ea typeface="Meiryo" panose="020B0604030504040204" pitchFamily="34" charset="-128"/>
              </a:rPr>
              <a:t>, </a:t>
            </a:r>
            <a:r>
              <a:rPr kumimoji="1" lang="ja-JP" altLang="en-US" sz="2200">
                <a:latin typeface="Meiryo" panose="020B0604030504040204" pitchFamily="34" charset="-128"/>
                <a:ea typeface="Meiryo" panose="020B0604030504040204" pitchFamily="34" charset="-128"/>
              </a:rPr>
              <a:t>特徴表現への変換</a:t>
            </a:r>
            <a:r>
              <a:rPr kumimoji="1" lang="en-US" altLang="ja-JP" sz="2200" dirty="0">
                <a:latin typeface="Meiryo" panose="020B0604030504040204" pitchFamily="34" charset="-128"/>
                <a:ea typeface="Meiryo" panose="020B0604030504040204" pitchFamily="34" charset="-128"/>
              </a:rPr>
              <a:t>, </a:t>
            </a:r>
            <a:r>
              <a:rPr kumimoji="1" lang="ja-JP" altLang="en-US" sz="2200">
                <a:latin typeface="Meiryo" panose="020B0604030504040204" pitchFamily="34" charset="-128"/>
                <a:ea typeface="Meiryo" panose="020B0604030504040204" pitchFamily="34" charset="-128"/>
              </a:rPr>
              <a:t>対照学習</a:t>
            </a:r>
            <a:endParaRPr kumimoji="1" lang="en-US" altLang="ja-JP" sz="2200"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kumimoji="1" lang="ja-JP" altLang="en-US" sz="2200">
                <a:latin typeface="Meiryo" panose="020B0604030504040204" pitchFamily="34" charset="-128"/>
                <a:ea typeface="Meiryo" panose="020B0604030504040204" pitchFamily="34" charset="-128"/>
              </a:rPr>
              <a:t>エンコーダの設計と対照学習のロス関数の設計</a:t>
            </a:r>
          </a:p>
        </p:txBody>
      </p:sp>
      <p:sp>
        <p:nvSpPr>
          <p:cNvPr id="16" name="Date Placeholder 10">
            <a:extLst>
              <a:ext uri="{FF2B5EF4-FFF2-40B4-BE49-F238E27FC236}">
                <a16:creationId xmlns:a16="http://schemas.microsoft.com/office/drawing/2014/main" id="{6AC016E9-38F4-6A8F-73D3-0E75C85A4C74}"/>
              </a:ext>
            </a:extLst>
          </p:cNvPr>
          <p:cNvSpPr>
            <a:spLocks noGrp="1"/>
          </p:cNvSpPr>
          <p:nvPr>
            <p:ph type="dt" sz="half" idx="10"/>
          </p:nvPr>
        </p:nvSpPr>
        <p:spPr>
          <a:xfrm>
            <a:off x="838200" y="6553200"/>
            <a:ext cx="2743200" cy="365125"/>
          </a:xfrm>
        </p:spPr>
        <p:txBody>
          <a:bodyPr/>
          <a:lstStyle/>
          <a:p>
            <a:r>
              <a:rPr lang="en-US" altLang="ja-JP" dirty="0"/>
              <a:t>2025/2/27</a:t>
            </a:r>
            <a:endParaRPr lang="en-US" dirty="0"/>
          </a:p>
        </p:txBody>
      </p:sp>
      <p:sp>
        <p:nvSpPr>
          <p:cNvPr id="17" name="フッター プレースホルダー 4">
            <a:extLst>
              <a:ext uri="{FF2B5EF4-FFF2-40B4-BE49-F238E27FC236}">
                <a16:creationId xmlns:a16="http://schemas.microsoft.com/office/drawing/2014/main" id="{BA045A4F-DDD9-BE7A-C3EB-24426A79E210}"/>
              </a:ext>
            </a:extLst>
          </p:cNvPr>
          <p:cNvSpPr>
            <a:spLocks noGrp="1"/>
          </p:cNvSpPr>
          <p:nvPr>
            <p:ph type="ftr" sz="quarter" idx="11"/>
          </p:nvPr>
        </p:nvSpPr>
        <p:spPr>
          <a:xfrm>
            <a:off x="4038600" y="6553200"/>
            <a:ext cx="4114800" cy="365125"/>
          </a:xfrm>
        </p:spPr>
        <p:txBody>
          <a:bodyPr/>
          <a:lstStyle/>
          <a:p>
            <a:r>
              <a:rPr lang="fi-FI"/>
              <a:t>Tsubasa Kato @ Sakurai Lab.</a:t>
            </a:r>
            <a:endParaRPr lang="en-US" dirty="0"/>
          </a:p>
        </p:txBody>
      </p:sp>
      <p:sp>
        <p:nvSpPr>
          <p:cNvPr id="3" name="角丸四角形 2">
            <a:extLst>
              <a:ext uri="{FF2B5EF4-FFF2-40B4-BE49-F238E27FC236}">
                <a16:creationId xmlns:a16="http://schemas.microsoft.com/office/drawing/2014/main" id="{F42A54B9-F7E6-B79A-3FD6-17D087019760}"/>
              </a:ext>
            </a:extLst>
          </p:cNvPr>
          <p:cNvSpPr/>
          <p:nvPr/>
        </p:nvSpPr>
        <p:spPr>
          <a:xfrm>
            <a:off x="6477000" y="1676647"/>
            <a:ext cx="2057400" cy="3200154"/>
          </a:xfrm>
          <a:prstGeom prst="roundRect">
            <a:avLst/>
          </a:prstGeom>
          <a:solidFill>
            <a:schemeClr val="accent3">
              <a:lumMod val="60000"/>
              <a:lumOff val="40000"/>
              <a:alpha val="79013"/>
            </a:schemeClr>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角丸四角形 3">
            <a:extLst>
              <a:ext uri="{FF2B5EF4-FFF2-40B4-BE49-F238E27FC236}">
                <a16:creationId xmlns:a16="http://schemas.microsoft.com/office/drawing/2014/main" id="{17CB5ABF-D47B-1367-052A-B5F1D9D3726E}"/>
              </a:ext>
            </a:extLst>
          </p:cNvPr>
          <p:cNvSpPr/>
          <p:nvPr/>
        </p:nvSpPr>
        <p:spPr>
          <a:xfrm>
            <a:off x="8534400" y="1676646"/>
            <a:ext cx="2133600" cy="3345113"/>
          </a:xfrm>
          <a:prstGeom prst="roundRect">
            <a:avLst/>
          </a:prstGeom>
          <a:solidFill>
            <a:schemeClr val="accent3">
              <a:lumMod val="60000"/>
              <a:lumOff val="40000"/>
              <a:alpha val="79013"/>
            </a:schemeClr>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5233446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81564-02DC-2DFE-7FD1-EFF7D1B9A46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A1AC3CA-7154-51AE-EA40-5F3949D32DF4}"/>
              </a:ext>
            </a:extLst>
          </p:cNvPr>
          <p:cNvSpPr>
            <a:spLocks noGrp="1"/>
          </p:cNvSpPr>
          <p:nvPr>
            <p:ph type="title"/>
          </p:nvPr>
        </p:nvSpPr>
        <p:spPr>
          <a:xfrm>
            <a:off x="548268" y="284244"/>
            <a:ext cx="10515600" cy="727695"/>
          </a:xfrm>
        </p:spPr>
        <p:txBody>
          <a:bodyPr>
            <a:normAutofit/>
          </a:bodyPr>
          <a:lstStyle/>
          <a:p>
            <a:r>
              <a:rPr kumimoji="1" lang="ja-JP" altLang="en-US" sz="3200" b="0">
                <a:solidFill>
                  <a:schemeClr val="tx1"/>
                </a:solidFill>
                <a:latin typeface="Meiryo" panose="020B0604030504040204" pitchFamily="34" charset="-128"/>
                <a:ea typeface="Meiryo" panose="020B0604030504040204" pitchFamily="34" charset="-128"/>
              </a:rPr>
              <a:t>データ拡張</a:t>
            </a:r>
          </a:p>
        </p:txBody>
      </p:sp>
      <p:cxnSp>
        <p:nvCxnSpPr>
          <p:cNvPr id="7" name="Straight Connector 6">
            <a:extLst>
              <a:ext uri="{FF2B5EF4-FFF2-40B4-BE49-F238E27FC236}">
                <a16:creationId xmlns:a16="http://schemas.microsoft.com/office/drawing/2014/main" id="{15F31B79-E6F4-9A62-FA2B-D58070253980}"/>
              </a:ext>
            </a:extLst>
          </p:cNvPr>
          <p:cNvCxnSpPr>
            <a:cxnSpLocks/>
          </p:cNvCxnSpPr>
          <p:nvPr/>
        </p:nvCxnSpPr>
        <p:spPr>
          <a:xfrm>
            <a:off x="646043" y="874643"/>
            <a:ext cx="10694505"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CF5E07A5-1A42-C95A-4B30-6D57E1708AD7}"/>
              </a:ext>
            </a:extLst>
          </p:cNvPr>
          <p:cNvSpPr>
            <a:spLocks noGrp="1"/>
          </p:cNvSpPr>
          <p:nvPr>
            <p:ph type="sldNum" sz="quarter" idx="12"/>
          </p:nvPr>
        </p:nvSpPr>
        <p:spPr/>
        <p:txBody>
          <a:bodyPr/>
          <a:lstStyle/>
          <a:p>
            <a:fld id="{6675BFCB-789E-5945-84C6-0973649846BB}" type="slidenum">
              <a:rPr lang="en-US" smtClean="0"/>
              <a:pPr/>
              <a:t>12</a:t>
            </a:fld>
            <a:endParaRPr lang="en-US" dirty="0"/>
          </a:p>
        </p:txBody>
      </p:sp>
      <p:sp>
        <p:nvSpPr>
          <p:cNvPr id="3" name="テキスト ボックス 2">
            <a:extLst>
              <a:ext uri="{FF2B5EF4-FFF2-40B4-BE49-F238E27FC236}">
                <a16:creationId xmlns:a16="http://schemas.microsoft.com/office/drawing/2014/main" id="{CFC24D1A-C0FE-7E8B-E7C5-D233055B1DD5}"/>
              </a:ext>
            </a:extLst>
          </p:cNvPr>
          <p:cNvSpPr txBox="1"/>
          <p:nvPr/>
        </p:nvSpPr>
        <p:spPr>
          <a:xfrm>
            <a:off x="838199" y="990600"/>
            <a:ext cx="10515600" cy="1508105"/>
          </a:xfrm>
          <a:prstGeom prst="rect">
            <a:avLst/>
          </a:prstGeom>
          <a:noFill/>
        </p:spPr>
        <p:txBody>
          <a:bodyPr wrap="square" rtlCol="0">
            <a:spAutoFit/>
          </a:bodyPr>
          <a:lstStyle/>
          <a:p>
            <a:pPr marL="342900" indent="-342900">
              <a:buFont typeface="Arial" panose="020B0604020202020204" pitchFamily="34" charset="0"/>
              <a:buChar char="•"/>
            </a:pPr>
            <a:r>
              <a:rPr kumimoji="1" lang="ja-JP" altLang="en-US" sz="2400">
                <a:latin typeface="Meiryo" panose="020B0604030504040204" pitchFamily="34" charset="-128"/>
                <a:ea typeface="Meiryo" panose="020B0604030504040204" pitchFamily="34" charset="-128"/>
              </a:rPr>
              <a:t>フーリエ変換で周波数領域に変換</a:t>
            </a:r>
            <a:endParaRPr kumimoji="1" lang="en-US" altLang="ja-JP" sz="2400" dirty="0">
              <a:latin typeface="Meiryo" panose="020B0604030504040204" pitchFamily="34" charset="-128"/>
              <a:ea typeface="Meiryo" panose="020B0604030504040204" pitchFamily="34" charset="-128"/>
            </a:endParaRPr>
          </a:p>
          <a:p>
            <a:pPr marL="342900" indent="-342900">
              <a:buFont typeface="Arial" panose="020B0604020202020204" pitchFamily="34" charset="0"/>
              <a:buChar char="•"/>
            </a:pPr>
            <a:r>
              <a:rPr kumimoji="1" lang="ja-JP" altLang="en-US" sz="2400">
                <a:latin typeface="Meiryo" panose="020B0604030504040204" pitchFamily="34" charset="-128"/>
                <a:ea typeface="Meiryo" panose="020B0604030504040204" pitchFamily="34" charset="-128"/>
              </a:rPr>
              <a:t>高周波成分にノイズが集まりやすいため</a:t>
            </a:r>
            <a:r>
              <a:rPr kumimoji="1" lang="en-US" altLang="ja-JP" sz="2400" dirty="0">
                <a:latin typeface="Meiryo" panose="020B0604030504040204" pitchFamily="34" charset="-128"/>
                <a:ea typeface="Meiryo" panose="020B0604030504040204" pitchFamily="34" charset="-128"/>
              </a:rPr>
              <a:t>, </a:t>
            </a:r>
            <a:r>
              <a:rPr kumimoji="1" lang="ja-JP" altLang="en-US" sz="2400">
                <a:latin typeface="Meiryo" panose="020B0604030504040204" pitchFamily="34" charset="-128"/>
                <a:ea typeface="Meiryo" panose="020B0604030504040204" pitchFamily="34" charset="-128"/>
              </a:rPr>
              <a:t>低周波成分のみを抽出</a:t>
            </a:r>
            <a:endParaRPr kumimoji="1" lang="en-US" altLang="ja-JP" sz="2400" dirty="0">
              <a:latin typeface="Meiryo" panose="020B0604030504040204" pitchFamily="34" charset="-128"/>
              <a:ea typeface="Meiryo" panose="020B0604030504040204" pitchFamily="34" charset="-128"/>
            </a:endParaRPr>
          </a:p>
          <a:p>
            <a:pPr marL="342900" indent="-342900">
              <a:buFont typeface="Arial" panose="020B0604020202020204" pitchFamily="34" charset="0"/>
              <a:buChar char="•"/>
            </a:pPr>
            <a:r>
              <a:rPr kumimoji="1" lang="ja-JP" altLang="en-US" sz="2400">
                <a:latin typeface="Meiryo" panose="020B0604030504040204" pitchFamily="34" charset="-128"/>
                <a:ea typeface="Meiryo" panose="020B0604030504040204" pitchFamily="34" charset="-128"/>
              </a:rPr>
              <a:t>時間領域に変換し</a:t>
            </a:r>
            <a:r>
              <a:rPr kumimoji="1" lang="en-US" altLang="ja-JP" sz="2400" dirty="0">
                <a:latin typeface="Meiryo" panose="020B0604030504040204" pitchFamily="34" charset="-128"/>
                <a:ea typeface="Meiryo" panose="020B0604030504040204" pitchFamily="34" charset="-128"/>
              </a:rPr>
              <a:t>, </a:t>
            </a:r>
            <a:r>
              <a:rPr kumimoji="1" lang="ja-JP" altLang="en-US" sz="2400">
                <a:latin typeface="Meiryo" panose="020B0604030504040204" pitchFamily="34" charset="-128"/>
                <a:ea typeface="Meiryo" panose="020B0604030504040204" pitchFamily="34" charset="-128"/>
              </a:rPr>
              <a:t>ノイズ除去</a:t>
            </a:r>
            <a:endParaRPr kumimoji="1" lang="en-US" altLang="ja-JP" sz="2400" dirty="0">
              <a:latin typeface="Meiryo" panose="020B0604030504040204" pitchFamily="34" charset="-128"/>
              <a:ea typeface="Meiryo" panose="020B0604030504040204" pitchFamily="34" charset="-128"/>
            </a:endParaRPr>
          </a:p>
          <a:p>
            <a:pPr marL="342900" indent="-342900">
              <a:buFont typeface="Arial" panose="020B0604020202020204" pitchFamily="34" charset="0"/>
              <a:buChar char="•"/>
            </a:pPr>
            <a:endParaRPr kumimoji="1" lang="ja-JP" altLang="en-US" sz="2000"/>
          </a:p>
        </p:txBody>
      </p:sp>
      <p:pic>
        <p:nvPicPr>
          <p:cNvPr id="4" name="図 3">
            <a:extLst>
              <a:ext uri="{FF2B5EF4-FFF2-40B4-BE49-F238E27FC236}">
                <a16:creationId xmlns:a16="http://schemas.microsoft.com/office/drawing/2014/main" id="{BC98E764-ED97-BD03-C3AA-68EF3B72313E}"/>
              </a:ext>
            </a:extLst>
          </p:cNvPr>
          <p:cNvPicPr>
            <a:picLocks noChangeAspect="1"/>
          </p:cNvPicPr>
          <p:nvPr/>
        </p:nvPicPr>
        <p:blipFill>
          <a:blip r:embed="rId3"/>
          <a:stretch>
            <a:fillRect/>
          </a:stretch>
        </p:blipFill>
        <p:spPr>
          <a:xfrm>
            <a:off x="556805" y="2209800"/>
            <a:ext cx="11406595" cy="4084648"/>
          </a:xfrm>
          <a:prstGeom prst="rect">
            <a:avLst/>
          </a:prstGeom>
        </p:spPr>
      </p:pic>
      <p:sp>
        <p:nvSpPr>
          <p:cNvPr id="5" name="Date Placeholder 10">
            <a:extLst>
              <a:ext uri="{FF2B5EF4-FFF2-40B4-BE49-F238E27FC236}">
                <a16:creationId xmlns:a16="http://schemas.microsoft.com/office/drawing/2014/main" id="{2E9C217D-A733-3CAF-116D-5BEA4E229F89}"/>
              </a:ext>
            </a:extLst>
          </p:cNvPr>
          <p:cNvSpPr>
            <a:spLocks noGrp="1"/>
          </p:cNvSpPr>
          <p:nvPr>
            <p:ph type="dt" sz="half" idx="10"/>
          </p:nvPr>
        </p:nvSpPr>
        <p:spPr>
          <a:xfrm>
            <a:off x="838200" y="6553200"/>
            <a:ext cx="2743200" cy="365125"/>
          </a:xfrm>
        </p:spPr>
        <p:txBody>
          <a:bodyPr/>
          <a:lstStyle/>
          <a:p>
            <a:r>
              <a:rPr lang="en-US" altLang="ja-JP" dirty="0"/>
              <a:t>2025/2/27</a:t>
            </a:r>
            <a:endParaRPr lang="en-US" dirty="0"/>
          </a:p>
        </p:txBody>
      </p:sp>
      <p:sp>
        <p:nvSpPr>
          <p:cNvPr id="8" name="フッター プレースホルダー 4">
            <a:extLst>
              <a:ext uri="{FF2B5EF4-FFF2-40B4-BE49-F238E27FC236}">
                <a16:creationId xmlns:a16="http://schemas.microsoft.com/office/drawing/2014/main" id="{F3E53EF0-1D43-C0A8-32F5-9B9BD1DD2830}"/>
              </a:ext>
            </a:extLst>
          </p:cNvPr>
          <p:cNvSpPr>
            <a:spLocks noGrp="1"/>
          </p:cNvSpPr>
          <p:nvPr>
            <p:ph type="ftr" sz="quarter" idx="11"/>
          </p:nvPr>
        </p:nvSpPr>
        <p:spPr>
          <a:xfrm>
            <a:off x="4038600" y="6553200"/>
            <a:ext cx="4114800" cy="365125"/>
          </a:xfrm>
        </p:spPr>
        <p:txBody>
          <a:bodyPr/>
          <a:lstStyle/>
          <a:p>
            <a:r>
              <a:rPr lang="fi-FI"/>
              <a:t>Tsubasa Kato @ Sakurai Lab.</a:t>
            </a:r>
            <a:endParaRPr lang="en-US" dirty="0"/>
          </a:p>
        </p:txBody>
      </p:sp>
    </p:spTree>
    <p:extLst>
      <p:ext uri="{BB962C8B-B14F-4D97-AF65-F5344CB8AC3E}">
        <p14:creationId xmlns:p14="http://schemas.microsoft.com/office/powerpoint/2010/main" val="27901281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55E432-CF36-B6C5-8088-01B4C9AADC0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A13FBEE-873F-4EE2-8A0D-29F99F0B9175}"/>
              </a:ext>
            </a:extLst>
          </p:cNvPr>
          <p:cNvSpPr>
            <a:spLocks noGrp="1"/>
          </p:cNvSpPr>
          <p:nvPr>
            <p:ph type="title"/>
          </p:nvPr>
        </p:nvSpPr>
        <p:spPr>
          <a:xfrm>
            <a:off x="548268" y="284244"/>
            <a:ext cx="10515600" cy="727695"/>
          </a:xfrm>
        </p:spPr>
        <p:txBody>
          <a:bodyPr>
            <a:normAutofit/>
          </a:bodyPr>
          <a:lstStyle/>
          <a:p>
            <a:r>
              <a:rPr kumimoji="1" lang="ja-JP" altLang="en-US" sz="3200">
                <a:latin typeface="Meiryo" panose="020B0604030504040204" pitchFamily="34" charset="-128"/>
                <a:ea typeface="Meiryo" panose="020B0604030504040204" pitchFamily="34" charset="-128"/>
              </a:rPr>
              <a:t>データ拡張</a:t>
            </a:r>
            <a:endParaRPr kumimoji="1" lang="ja-JP" altLang="en-US" sz="3200" b="0">
              <a:solidFill>
                <a:schemeClr val="tx1"/>
              </a:solidFill>
              <a:latin typeface="Meiryo" panose="020B0604030504040204" pitchFamily="34" charset="-128"/>
              <a:ea typeface="Meiryo" panose="020B0604030504040204" pitchFamily="34" charset="-128"/>
            </a:endParaRPr>
          </a:p>
        </p:txBody>
      </p:sp>
      <p:cxnSp>
        <p:nvCxnSpPr>
          <p:cNvPr id="7" name="Straight Connector 6">
            <a:extLst>
              <a:ext uri="{FF2B5EF4-FFF2-40B4-BE49-F238E27FC236}">
                <a16:creationId xmlns:a16="http://schemas.microsoft.com/office/drawing/2014/main" id="{5BBCD784-6CC0-3E75-94E6-E02D2CF35B4E}"/>
              </a:ext>
            </a:extLst>
          </p:cNvPr>
          <p:cNvCxnSpPr>
            <a:cxnSpLocks/>
          </p:cNvCxnSpPr>
          <p:nvPr/>
        </p:nvCxnSpPr>
        <p:spPr>
          <a:xfrm>
            <a:off x="646043" y="874643"/>
            <a:ext cx="10694505"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88744AFD-9751-97D0-7872-19F78BAF29D8}"/>
              </a:ext>
            </a:extLst>
          </p:cNvPr>
          <p:cNvSpPr>
            <a:spLocks noGrp="1"/>
          </p:cNvSpPr>
          <p:nvPr>
            <p:ph type="sldNum" sz="quarter" idx="12"/>
          </p:nvPr>
        </p:nvSpPr>
        <p:spPr/>
        <p:txBody>
          <a:bodyPr/>
          <a:lstStyle/>
          <a:p>
            <a:fld id="{6675BFCB-789E-5945-84C6-0973649846BB}" type="slidenum">
              <a:rPr lang="en-US" smtClean="0"/>
              <a:pPr/>
              <a:t>13</a:t>
            </a:fld>
            <a:endParaRPr lang="en-US" dirty="0"/>
          </a:p>
        </p:txBody>
      </p:sp>
      <p:sp>
        <p:nvSpPr>
          <p:cNvPr id="3" name="テキスト ボックス 2">
            <a:extLst>
              <a:ext uri="{FF2B5EF4-FFF2-40B4-BE49-F238E27FC236}">
                <a16:creationId xmlns:a16="http://schemas.microsoft.com/office/drawing/2014/main" id="{8B445E5A-4A48-D442-622D-4EFC9EBA0D9B}"/>
              </a:ext>
            </a:extLst>
          </p:cNvPr>
          <p:cNvSpPr txBox="1"/>
          <p:nvPr/>
        </p:nvSpPr>
        <p:spPr>
          <a:xfrm>
            <a:off x="838199" y="990600"/>
            <a:ext cx="10515600" cy="1508105"/>
          </a:xfrm>
          <a:prstGeom prst="rect">
            <a:avLst/>
          </a:prstGeom>
          <a:noFill/>
        </p:spPr>
        <p:txBody>
          <a:bodyPr wrap="square" rtlCol="0">
            <a:spAutoFit/>
          </a:bodyPr>
          <a:lstStyle/>
          <a:p>
            <a:pPr marL="342900" indent="-342900">
              <a:buFont typeface="Arial" panose="020B0604020202020204" pitchFamily="34" charset="0"/>
              <a:buChar char="•"/>
            </a:pPr>
            <a:r>
              <a:rPr lang="en" altLang="ja-JP" sz="2400" dirty="0">
                <a:effectLst/>
                <a:latin typeface="Meiryo" panose="020B0604030504040204" pitchFamily="34" charset="-128"/>
                <a:ea typeface="Meiryo" panose="020B0604030504040204" pitchFamily="34" charset="-128"/>
              </a:rPr>
              <a:t>STL(Seasonal Decomposition Of Time Series By Loess)</a:t>
            </a:r>
            <a:r>
              <a:rPr lang="ja-JP" altLang="en-US" sz="2400">
                <a:effectLst/>
                <a:latin typeface="Meiryo" panose="020B0604030504040204" pitchFamily="34" charset="-128"/>
                <a:ea typeface="Meiryo" panose="020B0604030504040204" pitchFamily="34" charset="-128"/>
              </a:rPr>
              <a:t>分解</a:t>
            </a:r>
            <a:endParaRPr lang="en-US" altLang="ja-JP" sz="2400" dirty="0">
              <a:effectLst/>
              <a:latin typeface="Meiryo" panose="020B0604030504040204" pitchFamily="34" charset="-128"/>
              <a:ea typeface="Meiryo" panose="020B0604030504040204" pitchFamily="34" charset="-128"/>
            </a:endParaRPr>
          </a:p>
          <a:p>
            <a:pPr marL="800100" lvl="1" indent="-342900">
              <a:buFont typeface="Wingdings" pitchFamily="2" charset="2"/>
              <a:buChar char="Ø"/>
            </a:pPr>
            <a:r>
              <a:rPr lang="ja-JP" altLang="en-US" sz="2400">
                <a:effectLst/>
                <a:latin typeface="Meiryo" panose="020B0604030504040204" pitchFamily="34" charset="-128"/>
                <a:ea typeface="Meiryo" panose="020B0604030504040204" pitchFamily="34" charset="-128"/>
              </a:rPr>
              <a:t>長期的な変動要素のトレンド成分</a:t>
            </a:r>
            <a:endParaRPr lang="en-US" altLang="ja-JP" sz="2400" dirty="0">
              <a:effectLst/>
              <a:latin typeface="Meiryo" panose="020B0604030504040204" pitchFamily="34" charset="-128"/>
              <a:ea typeface="Meiryo" panose="020B0604030504040204" pitchFamily="34" charset="-128"/>
            </a:endParaRPr>
          </a:p>
          <a:p>
            <a:pPr marL="800100" lvl="1" indent="-342900">
              <a:buFont typeface="Wingdings" pitchFamily="2" charset="2"/>
              <a:buChar char="Ø"/>
            </a:pPr>
            <a:r>
              <a:rPr lang="ja-JP" altLang="en-US" sz="2400">
                <a:latin typeface="Meiryo" panose="020B0604030504040204" pitchFamily="34" charset="-128"/>
                <a:ea typeface="Meiryo" panose="020B0604030504040204" pitchFamily="34" charset="-128"/>
              </a:rPr>
              <a:t>一定時間の周期的な変動要素の</a:t>
            </a:r>
            <a:r>
              <a:rPr lang="ja-JP" altLang="en-US" sz="2400">
                <a:effectLst/>
                <a:latin typeface="Meiryo" panose="020B0604030504040204" pitchFamily="34" charset="-128"/>
                <a:ea typeface="Meiryo" panose="020B0604030504040204" pitchFamily="34" charset="-128"/>
              </a:rPr>
              <a:t>季節成分 </a:t>
            </a:r>
            <a:endParaRPr lang="ja-JP" altLang="en-US" sz="2400">
              <a:latin typeface="Meiryo" panose="020B0604030504040204" pitchFamily="34" charset="-128"/>
              <a:ea typeface="Meiryo" panose="020B0604030504040204" pitchFamily="34" charset="-128"/>
            </a:endParaRPr>
          </a:p>
          <a:p>
            <a:pPr marL="342900" indent="-342900">
              <a:buFont typeface="Arial" panose="020B0604020202020204" pitchFamily="34" charset="0"/>
              <a:buChar char="•"/>
            </a:pPr>
            <a:endParaRPr kumimoji="1" lang="ja-JP" altLang="en-US" sz="2000"/>
          </a:p>
        </p:txBody>
      </p:sp>
      <p:sp>
        <p:nvSpPr>
          <p:cNvPr id="5" name="Date Placeholder 10">
            <a:extLst>
              <a:ext uri="{FF2B5EF4-FFF2-40B4-BE49-F238E27FC236}">
                <a16:creationId xmlns:a16="http://schemas.microsoft.com/office/drawing/2014/main" id="{8B34EF45-CF06-7A83-6FA1-74229EE49939}"/>
              </a:ext>
            </a:extLst>
          </p:cNvPr>
          <p:cNvSpPr>
            <a:spLocks noGrp="1"/>
          </p:cNvSpPr>
          <p:nvPr>
            <p:ph type="dt" sz="half" idx="10"/>
          </p:nvPr>
        </p:nvSpPr>
        <p:spPr>
          <a:xfrm>
            <a:off x="838200" y="6553200"/>
            <a:ext cx="2743200" cy="365125"/>
          </a:xfrm>
        </p:spPr>
        <p:txBody>
          <a:bodyPr/>
          <a:lstStyle/>
          <a:p>
            <a:r>
              <a:rPr lang="en-US" altLang="ja-JP" dirty="0"/>
              <a:t>2025/2/27</a:t>
            </a:r>
            <a:endParaRPr lang="en-US" dirty="0"/>
          </a:p>
        </p:txBody>
      </p:sp>
      <p:sp>
        <p:nvSpPr>
          <p:cNvPr id="8" name="フッター プレースホルダー 4">
            <a:extLst>
              <a:ext uri="{FF2B5EF4-FFF2-40B4-BE49-F238E27FC236}">
                <a16:creationId xmlns:a16="http://schemas.microsoft.com/office/drawing/2014/main" id="{2BB1E8BC-1A02-9198-09EE-49E035CCAC84}"/>
              </a:ext>
            </a:extLst>
          </p:cNvPr>
          <p:cNvSpPr>
            <a:spLocks noGrp="1"/>
          </p:cNvSpPr>
          <p:nvPr>
            <p:ph type="ftr" sz="quarter" idx="11"/>
          </p:nvPr>
        </p:nvSpPr>
        <p:spPr>
          <a:xfrm>
            <a:off x="4038600" y="6553200"/>
            <a:ext cx="4114800" cy="365125"/>
          </a:xfrm>
        </p:spPr>
        <p:txBody>
          <a:bodyPr/>
          <a:lstStyle/>
          <a:p>
            <a:r>
              <a:rPr lang="fi-FI"/>
              <a:t>Tsubasa Kato @ Sakurai Lab.</a:t>
            </a:r>
            <a:endParaRPr lang="en-US" dirty="0"/>
          </a:p>
        </p:txBody>
      </p:sp>
      <p:pic>
        <p:nvPicPr>
          <p:cNvPr id="11" name="図 10">
            <a:extLst>
              <a:ext uri="{FF2B5EF4-FFF2-40B4-BE49-F238E27FC236}">
                <a16:creationId xmlns:a16="http://schemas.microsoft.com/office/drawing/2014/main" id="{B29D4173-64EA-FE07-F3AF-142B2C97E6D0}"/>
              </a:ext>
            </a:extLst>
          </p:cNvPr>
          <p:cNvPicPr>
            <a:picLocks noChangeAspect="1"/>
          </p:cNvPicPr>
          <p:nvPr/>
        </p:nvPicPr>
        <p:blipFill>
          <a:blip r:embed="rId3"/>
          <a:srcRect l="12569" t="10277" r="27743" b="19932"/>
          <a:stretch/>
        </p:blipFill>
        <p:spPr>
          <a:xfrm>
            <a:off x="838199" y="3357348"/>
            <a:ext cx="3627068" cy="1590362"/>
          </a:xfrm>
          <a:prstGeom prst="rect">
            <a:avLst/>
          </a:prstGeom>
          <a:ln w="28575">
            <a:solidFill>
              <a:schemeClr val="tx1"/>
            </a:solidFill>
          </a:ln>
        </p:spPr>
      </p:pic>
      <p:pic>
        <p:nvPicPr>
          <p:cNvPr id="13" name="図 12">
            <a:extLst>
              <a:ext uri="{FF2B5EF4-FFF2-40B4-BE49-F238E27FC236}">
                <a16:creationId xmlns:a16="http://schemas.microsoft.com/office/drawing/2014/main" id="{BA437C54-57C0-6E05-5974-24D31A38D4BD}"/>
              </a:ext>
            </a:extLst>
          </p:cNvPr>
          <p:cNvPicPr>
            <a:picLocks noChangeAspect="1"/>
          </p:cNvPicPr>
          <p:nvPr/>
        </p:nvPicPr>
        <p:blipFill>
          <a:blip r:embed="rId4"/>
          <a:srcRect l="3831" t="8265" r="14322" b="23392"/>
          <a:stretch/>
        </p:blipFill>
        <p:spPr>
          <a:xfrm>
            <a:off x="6763411" y="2480134"/>
            <a:ext cx="3276600" cy="1443273"/>
          </a:xfrm>
          <a:prstGeom prst="rect">
            <a:avLst/>
          </a:prstGeom>
          <a:ln w="28575">
            <a:solidFill>
              <a:schemeClr val="tx1"/>
            </a:solidFill>
          </a:ln>
        </p:spPr>
      </p:pic>
      <p:pic>
        <p:nvPicPr>
          <p:cNvPr id="16" name="図 15">
            <a:extLst>
              <a:ext uri="{FF2B5EF4-FFF2-40B4-BE49-F238E27FC236}">
                <a16:creationId xmlns:a16="http://schemas.microsoft.com/office/drawing/2014/main" id="{24BA4AD8-3D85-0AB9-6671-4848A8E2D344}"/>
              </a:ext>
            </a:extLst>
          </p:cNvPr>
          <p:cNvPicPr>
            <a:picLocks noChangeAspect="1"/>
          </p:cNvPicPr>
          <p:nvPr/>
        </p:nvPicPr>
        <p:blipFill>
          <a:blip r:embed="rId5"/>
          <a:srcRect l="2775" t="14071" r="14907" b="17158"/>
          <a:stretch/>
        </p:blipFill>
        <p:spPr>
          <a:xfrm>
            <a:off x="6781800" y="4489436"/>
            <a:ext cx="3199547" cy="1443273"/>
          </a:xfrm>
          <a:prstGeom prst="rect">
            <a:avLst/>
          </a:prstGeom>
          <a:ln w="28575">
            <a:solidFill>
              <a:schemeClr val="tx1"/>
            </a:solidFill>
          </a:ln>
        </p:spPr>
      </p:pic>
      <p:cxnSp>
        <p:nvCxnSpPr>
          <p:cNvPr id="17" name="直線矢印コネクタ 16">
            <a:extLst>
              <a:ext uri="{FF2B5EF4-FFF2-40B4-BE49-F238E27FC236}">
                <a16:creationId xmlns:a16="http://schemas.microsoft.com/office/drawing/2014/main" id="{71542803-3465-2D34-4A03-7706F4C8DFE1}"/>
              </a:ext>
            </a:extLst>
          </p:cNvPr>
          <p:cNvCxnSpPr>
            <a:cxnSpLocks/>
            <a:stCxn id="11" idx="3"/>
            <a:endCxn id="13" idx="1"/>
          </p:cNvCxnSpPr>
          <p:nvPr/>
        </p:nvCxnSpPr>
        <p:spPr>
          <a:xfrm flipV="1">
            <a:off x="4465267" y="3201771"/>
            <a:ext cx="2298144" cy="950758"/>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9" name="直線矢印コネクタ 18">
            <a:extLst>
              <a:ext uri="{FF2B5EF4-FFF2-40B4-BE49-F238E27FC236}">
                <a16:creationId xmlns:a16="http://schemas.microsoft.com/office/drawing/2014/main" id="{48BDEAE5-D937-5EE6-1540-F61F90C41950}"/>
              </a:ext>
            </a:extLst>
          </p:cNvPr>
          <p:cNvCxnSpPr>
            <a:cxnSpLocks/>
          </p:cNvCxnSpPr>
          <p:nvPr/>
        </p:nvCxnSpPr>
        <p:spPr>
          <a:xfrm>
            <a:off x="4504691" y="4152529"/>
            <a:ext cx="2277109" cy="1145942"/>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1" name="テキスト ボックス 20">
            <a:extLst>
              <a:ext uri="{FF2B5EF4-FFF2-40B4-BE49-F238E27FC236}">
                <a16:creationId xmlns:a16="http://schemas.microsoft.com/office/drawing/2014/main" id="{963AB136-2EAC-C037-B7F6-E7050AB06BF7}"/>
              </a:ext>
            </a:extLst>
          </p:cNvPr>
          <p:cNvSpPr txBox="1"/>
          <p:nvPr/>
        </p:nvSpPr>
        <p:spPr>
          <a:xfrm>
            <a:off x="7543800" y="2111626"/>
            <a:ext cx="2024743" cy="400110"/>
          </a:xfrm>
          <a:prstGeom prst="rect">
            <a:avLst/>
          </a:prstGeom>
          <a:noFill/>
        </p:spPr>
        <p:txBody>
          <a:bodyPr wrap="square" rtlCol="0">
            <a:spAutoFit/>
          </a:bodyPr>
          <a:lstStyle/>
          <a:p>
            <a:r>
              <a:rPr kumimoji="1" lang="ja-JP" altLang="en-US" sz="2000">
                <a:latin typeface="Meiryo" panose="020B0604030504040204" pitchFamily="34" charset="-128"/>
                <a:ea typeface="Meiryo" panose="020B0604030504040204" pitchFamily="34" charset="-128"/>
              </a:rPr>
              <a:t>季節成分</a:t>
            </a:r>
          </a:p>
        </p:txBody>
      </p:sp>
      <p:sp>
        <p:nvSpPr>
          <p:cNvPr id="22" name="テキスト ボックス 21">
            <a:extLst>
              <a:ext uri="{FF2B5EF4-FFF2-40B4-BE49-F238E27FC236}">
                <a16:creationId xmlns:a16="http://schemas.microsoft.com/office/drawing/2014/main" id="{A489FA64-CCA7-A5B5-3D83-2FDD8AE7FD80}"/>
              </a:ext>
            </a:extLst>
          </p:cNvPr>
          <p:cNvSpPr txBox="1"/>
          <p:nvPr/>
        </p:nvSpPr>
        <p:spPr>
          <a:xfrm>
            <a:off x="7391400" y="4095690"/>
            <a:ext cx="2024743" cy="400110"/>
          </a:xfrm>
          <a:prstGeom prst="rect">
            <a:avLst/>
          </a:prstGeom>
          <a:noFill/>
        </p:spPr>
        <p:txBody>
          <a:bodyPr wrap="square" rtlCol="0">
            <a:spAutoFit/>
          </a:bodyPr>
          <a:lstStyle/>
          <a:p>
            <a:r>
              <a:rPr kumimoji="1" lang="ja-JP" altLang="en-US" sz="2000">
                <a:latin typeface="Meiryo" panose="020B0604030504040204" pitchFamily="34" charset="-128"/>
                <a:ea typeface="Meiryo" panose="020B0604030504040204" pitchFamily="34" charset="-128"/>
              </a:rPr>
              <a:t>トレンド成分</a:t>
            </a:r>
          </a:p>
        </p:txBody>
      </p:sp>
      <p:sp>
        <p:nvSpPr>
          <p:cNvPr id="23" name="テキスト ボックス 22">
            <a:extLst>
              <a:ext uri="{FF2B5EF4-FFF2-40B4-BE49-F238E27FC236}">
                <a16:creationId xmlns:a16="http://schemas.microsoft.com/office/drawing/2014/main" id="{186F9AB1-8BD9-5D4D-63B5-0455FD018B69}"/>
              </a:ext>
            </a:extLst>
          </p:cNvPr>
          <p:cNvSpPr txBox="1"/>
          <p:nvPr/>
        </p:nvSpPr>
        <p:spPr>
          <a:xfrm>
            <a:off x="4630873" y="3161440"/>
            <a:ext cx="2024743" cy="400110"/>
          </a:xfrm>
          <a:prstGeom prst="rect">
            <a:avLst/>
          </a:prstGeom>
          <a:noFill/>
        </p:spPr>
        <p:txBody>
          <a:bodyPr wrap="square" rtlCol="0">
            <a:spAutoFit/>
          </a:bodyPr>
          <a:lstStyle/>
          <a:p>
            <a:r>
              <a:rPr kumimoji="1" lang="en-US" altLang="ja-JP" sz="2000" dirty="0">
                <a:latin typeface="Meiryo" panose="020B0604030504040204" pitchFamily="34" charset="-128"/>
                <a:ea typeface="Meiryo" panose="020B0604030504040204" pitchFamily="34" charset="-128"/>
              </a:rPr>
              <a:t>STL</a:t>
            </a:r>
            <a:r>
              <a:rPr kumimoji="1" lang="ja-JP" altLang="en-US" sz="2000">
                <a:latin typeface="Meiryo" panose="020B0604030504040204" pitchFamily="34" charset="-128"/>
                <a:ea typeface="Meiryo" panose="020B0604030504040204" pitchFamily="34" charset="-128"/>
              </a:rPr>
              <a:t>分解</a:t>
            </a:r>
          </a:p>
        </p:txBody>
      </p:sp>
    </p:spTree>
    <p:extLst>
      <p:ext uri="{BB962C8B-B14F-4D97-AF65-F5344CB8AC3E}">
        <p14:creationId xmlns:p14="http://schemas.microsoft.com/office/powerpoint/2010/main" val="20365969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FEEC97-81FD-575F-13D8-5C930949EA1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FDBA20A-C5AA-CB10-1EB3-C434FFFC5706}"/>
              </a:ext>
            </a:extLst>
          </p:cNvPr>
          <p:cNvSpPr>
            <a:spLocks noGrp="1"/>
          </p:cNvSpPr>
          <p:nvPr>
            <p:ph type="title"/>
          </p:nvPr>
        </p:nvSpPr>
        <p:spPr>
          <a:xfrm>
            <a:off x="548268" y="284244"/>
            <a:ext cx="10515600" cy="727695"/>
          </a:xfrm>
        </p:spPr>
        <p:txBody>
          <a:bodyPr>
            <a:normAutofit/>
          </a:bodyPr>
          <a:lstStyle/>
          <a:p>
            <a:pPr algn="l"/>
            <a:r>
              <a:rPr kumimoji="1" lang="ja-JP" altLang="en-US" sz="3200" b="0">
                <a:solidFill>
                  <a:schemeClr val="tx1"/>
                </a:solidFill>
                <a:latin typeface="Meiryo" panose="020B0604030504040204" pitchFamily="34" charset="-128"/>
                <a:ea typeface="Meiryo" panose="020B0604030504040204" pitchFamily="34" charset="-128"/>
              </a:rPr>
              <a:t>特徴変換</a:t>
            </a:r>
          </a:p>
        </p:txBody>
      </p:sp>
      <p:cxnSp>
        <p:nvCxnSpPr>
          <p:cNvPr id="7" name="Straight Connector 6">
            <a:extLst>
              <a:ext uri="{FF2B5EF4-FFF2-40B4-BE49-F238E27FC236}">
                <a16:creationId xmlns:a16="http://schemas.microsoft.com/office/drawing/2014/main" id="{1FB0BE56-29C5-1CDB-931C-75DDE70A348F}"/>
              </a:ext>
            </a:extLst>
          </p:cNvPr>
          <p:cNvCxnSpPr>
            <a:cxnSpLocks/>
          </p:cNvCxnSpPr>
          <p:nvPr/>
        </p:nvCxnSpPr>
        <p:spPr>
          <a:xfrm>
            <a:off x="646043" y="874643"/>
            <a:ext cx="10694505"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751CC315-B033-8BAB-763F-3C614E6F79A1}"/>
              </a:ext>
            </a:extLst>
          </p:cNvPr>
          <p:cNvSpPr>
            <a:spLocks noGrp="1"/>
          </p:cNvSpPr>
          <p:nvPr>
            <p:ph type="sldNum" sz="quarter" idx="12"/>
          </p:nvPr>
        </p:nvSpPr>
        <p:spPr/>
        <p:txBody>
          <a:bodyPr/>
          <a:lstStyle/>
          <a:p>
            <a:fld id="{6675BFCB-789E-5945-84C6-0973649846BB}" type="slidenum">
              <a:rPr lang="en-US" smtClean="0"/>
              <a:pPr/>
              <a:t>14</a:t>
            </a:fld>
            <a:endParaRPr lang="en-US" dirty="0"/>
          </a:p>
        </p:txBody>
      </p:sp>
      <p:pic>
        <p:nvPicPr>
          <p:cNvPr id="9" name="図 8">
            <a:extLst>
              <a:ext uri="{FF2B5EF4-FFF2-40B4-BE49-F238E27FC236}">
                <a16:creationId xmlns:a16="http://schemas.microsoft.com/office/drawing/2014/main" id="{C5A5CD13-8154-1220-32B0-4A8CDD0093B5}"/>
              </a:ext>
            </a:extLst>
          </p:cNvPr>
          <p:cNvPicPr>
            <a:picLocks noChangeAspect="1"/>
          </p:cNvPicPr>
          <p:nvPr/>
        </p:nvPicPr>
        <p:blipFill>
          <a:blip r:embed="rId3"/>
          <a:stretch>
            <a:fillRect/>
          </a:stretch>
        </p:blipFill>
        <p:spPr>
          <a:xfrm>
            <a:off x="1447800" y="1011939"/>
            <a:ext cx="9368056" cy="4169414"/>
          </a:xfrm>
          <a:prstGeom prst="rect">
            <a:avLst/>
          </a:prstGeom>
        </p:spPr>
      </p:pic>
      <p:sp>
        <p:nvSpPr>
          <p:cNvPr id="16" name="Date Placeholder 10">
            <a:extLst>
              <a:ext uri="{FF2B5EF4-FFF2-40B4-BE49-F238E27FC236}">
                <a16:creationId xmlns:a16="http://schemas.microsoft.com/office/drawing/2014/main" id="{5D8924C0-1E8A-98A8-BDB9-AA56A4DCCDCE}"/>
              </a:ext>
            </a:extLst>
          </p:cNvPr>
          <p:cNvSpPr>
            <a:spLocks noGrp="1"/>
          </p:cNvSpPr>
          <p:nvPr>
            <p:ph type="dt" sz="half" idx="10"/>
          </p:nvPr>
        </p:nvSpPr>
        <p:spPr>
          <a:xfrm>
            <a:off x="838200" y="6553200"/>
            <a:ext cx="2743200" cy="365125"/>
          </a:xfrm>
        </p:spPr>
        <p:txBody>
          <a:bodyPr/>
          <a:lstStyle/>
          <a:p>
            <a:r>
              <a:rPr lang="en-US" altLang="ja-JP" dirty="0"/>
              <a:t>2025/2/27</a:t>
            </a:r>
            <a:endParaRPr lang="en-US" dirty="0"/>
          </a:p>
        </p:txBody>
      </p:sp>
      <p:sp>
        <p:nvSpPr>
          <p:cNvPr id="17" name="フッター プレースホルダー 4">
            <a:extLst>
              <a:ext uri="{FF2B5EF4-FFF2-40B4-BE49-F238E27FC236}">
                <a16:creationId xmlns:a16="http://schemas.microsoft.com/office/drawing/2014/main" id="{848F1F0E-C656-A1CB-55F4-364E6EA0816F}"/>
              </a:ext>
            </a:extLst>
          </p:cNvPr>
          <p:cNvSpPr>
            <a:spLocks noGrp="1"/>
          </p:cNvSpPr>
          <p:nvPr>
            <p:ph type="ftr" sz="quarter" idx="11"/>
          </p:nvPr>
        </p:nvSpPr>
        <p:spPr>
          <a:xfrm>
            <a:off x="4038600" y="6553200"/>
            <a:ext cx="4114800" cy="365125"/>
          </a:xfrm>
        </p:spPr>
        <p:txBody>
          <a:bodyPr/>
          <a:lstStyle/>
          <a:p>
            <a:r>
              <a:rPr lang="fi-FI"/>
              <a:t>Tsubasa Kato @ Sakurai Lab.</a:t>
            </a:r>
            <a:endParaRPr lang="en-US" dirty="0"/>
          </a:p>
        </p:txBody>
      </p:sp>
      <p:sp>
        <p:nvSpPr>
          <p:cNvPr id="3" name="角丸四角形 2">
            <a:extLst>
              <a:ext uri="{FF2B5EF4-FFF2-40B4-BE49-F238E27FC236}">
                <a16:creationId xmlns:a16="http://schemas.microsoft.com/office/drawing/2014/main" id="{069DD210-E19F-6289-C8D0-2324B86519C3}"/>
              </a:ext>
            </a:extLst>
          </p:cNvPr>
          <p:cNvSpPr/>
          <p:nvPr/>
        </p:nvSpPr>
        <p:spPr>
          <a:xfrm>
            <a:off x="8458200" y="1676646"/>
            <a:ext cx="2209800" cy="3428753"/>
          </a:xfrm>
          <a:prstGeom prst="roundRect">
            <a:avLst/>
          </a:prstGeom>
          <a:solidFill>
            <a:schemeClr val="accent3">
              <a:lumMod val="60000"/>
              <a:lumOff val="40000"/>
              <a:alpha val="79013"/>
            </a:schemeClr>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角丸四角形 3">
            <a:extLst>
              <a:ext uri="{FF2B5EF4-FFF2-40B4-BE49-F238E27FC236}">
                <a16:creationId xmlns:a16="http://schemas.microsoft.com/office/drawing/2014/main" id="{710649FC-81EF-403F-E843-25520A3D5E5B}"/>
              </a:ext>
            </a:extLst>
          </p:cNvPr>
          <p:cNvSpPr/>
          <p:nvPr/>
        </p:nvSpPr>
        <p:spPr>
          <a:xfrm>
            <a:off x="2971800" y="1602338"/>
            <a:ext cx="3505200" cy="3274462"/>
          </a:xfrm>
          <a:prstGeom prst="roundRect">
            <a:avLst/>
          </a:prstGeom>
          <a:solidFill>
            <a:schemeClr val="accent3">
              <a:lumMod val="60000"/>
              <a:lumOff val="40000"/>
              <a:alpha val="79013"/>
            </a:schemeClr>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4259426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2563D6-57F9-CEB9-9675-3015390785F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7201C45-B99B-DD2D-B1FB-FABCB8C29E5C}"/>
              </a:ext>
            </a:extLst>
          </p:cNvPr>
          <p:cNvSpPr>
            <a:spLocks noGrp="1"/>
          </p:cNvSpPr>
          <p:nvPr>
            <p:ph type="title"/>
          </p:nvPr>
        </p:nvSpPr>
        <p:spPr>
          <a:xfrm>
            <a:off x="548268" y="284244"/>
            <a:ext cx="10515600" cy="727695"/>
          </a:xfrm>
        </p:spPr>
        <p:txBody>
          <a:bodyPr>
            <a:normAutofit/>
          </a:bodyPr>
          <a:lstStyle/>
          <a:p>
            <a:pPr algn="l"/>
            <a:r>
              <a:rPr kumimoji="1" lang="ja-JP" altLang="en-US" sz="3200" b="0">
                <a:solidFill>
                  <a:schemeClr val="tx1"/>
                </a:solidFill>
                <a:latin typeface="Meiryo" panose="020B0604030504040204" pitchFamily="34" charset="-128"/>
                <a:ea typeface="Meiryo" panose="020B0604030504040204" pitchFamily="34" charset="-128"/>
              </a:rPr>
              <a:t>特徴変換</a:t>
            </a:r>
          </a:p>
        </p:txBody>
      </p:sp>
      <p:cxnSp>
        <p:nvCxnSpPr>
          <p:cNvPr id="7" name="Straight Connector 6">
            <a:extLst>
              <a:ext uri="{FF2B5EF4-FFF2-40B4-BE49-F238E27FC236}">
                <a16:creationId xmlns:a16="http://schemas.microsoft.com/office/drawing/2014/main" id="{508E0F8B-AA4C-9AB7-BCB9-40ED5470D02A}"/>
              </a:ext>
            </a:extLst>
          </p:cNvPr>
          <p:cNvCxnSpPr>
            <a:cxnSpLocks/>
          </p:cNvCxnSpPr>
          <p:nvPr/>
        </p:nvCxnSpPr>
        <p:spPr>
          <a:xfrm>
            <a:off x="646043" y="874643"/>
            <a:ext cx="10694505"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2D2F59E6-32B0-B16D-3242-55CD2DAEE779}"/>
              </a:ext>
            </a:extLst>
          </p:cNvPr>
          <p:cNvSpPr>
            <a:spLocks noGrp="1"/>
          </p:cNvSpPr>
          <p:nvPr>
            <p:ph type="sldNum" sz="quarter" idx="12"/>
          </p:nvPr>
        </p:nvSpPr>
        <p:spPr/>
        <p:txBody>
          <a:bodyPr/>
          <a:lstStyle/>
          <a:p>
            <a:fld id="{6675BFCB-789E-5945-84C6-0973649846BB}" type="slidenum">
              <a:rPr lang="en-US" smtClean="0"/>
              <a:pPr/>
              <a:t>15</a:t>
            </a:fld>
            <a:endParaRPr lang="en-US" dirty="0"/>
          </a:p>
        </p:txBody>
      </p:sp>
      <p:sp>
        <p:nvSpPr>
          <p:cNvPr id="12" name="テキスト ボックス 11">
            <a:extLst>
              <a:ext uri="{FF2B5EF4-FFF2-40B4-BE49-F238E27FC236}">
                <a16:creationId xmlns:a16="http://schemas.microsoft.com/office/drawing/2014/main" id="{563C9DC4-3174-2830-A5D9-653FD6869941}"/>
              </a:ext>
            </a:extLst>
          </p:cNvPr>
          <p:cNvSpPr txBox="1"/>
          <p:nvPr/>
        </p:nvSpPr>
        <p:spPr>
          <a:xfrm>
            <a:off x="838200" y="1108840"/>
            <a:ext cx="7391400" cy="461665"/>
          </a:xfrm>
          <a:prstGeom prst="rect">
            <a:avLst/>
          </a:prstGeom>
          <a:noFill/>
        </p:spPr>
        <p:txBody>
          <a:bodyPr wrap="square" rtlCol="0">
            <a:spAutoFit/>
          </a:bodyPr>
          <a:lstStyle/>
          <a:p>
            <a:pPr marL="285750" indent="-285750">
              <a:buFont typeface="Arial" panose="020B0604020202020204" pitchFamily="34" charset="0"/>
              <a:buChar char="•"/>
            </a:pPr>
            <a:r>
              <a:rPr kumimoji="1" lang="ja-JP" altLang="en-US" sz="2400">
                <a:latin typeface="Meiryo" panose="020B0604030504040204" pitchFamily="34" charset="-128"/>
                <a:ea typeface="Meiryo" panose="020B0604030504040204" pitchFamily="34" charset="-128"/>
              </a:rPr>
              <a:t>エンコーダの設計</a:t>
            </a:r>
          </a:p>
        </p:txBody>
      </p:sp>
      <p:pic>
        <p:nvPicPr>
          <p:cNvPr id="3" name="図 2">
            <a:extLst>
              <a:ext uri="{FF2B5EF4-FFF2-40B4-BE49-F238E27FC236}">
                <a16:creationId xmlns:a16="http://schemas.microsoft.com/office/drawing/2014/main" id="{8CD6C49F-196E-BEB9-7DCF-B0E496AE0061}"/>
              </a:ext>
            </a:extLst>
          </p:cNvPr>
          <p:cNvPicPr>
            <a:picLocks noChangeAspect="1"/>
          </p:cNvPicPr>
          <p:nvPr/>
        </p:nvPicPr>
        <p:blipFill>
          <a:blip r:embed="rId3"/>
          <a:stretch>
            <a:fillRect/>
          </a:stretch>
        </p:blipFill>
        <p:spPr>
          <a:xfrm>
            <a:off x="560460" y="1602338"/>
            <a:ext cx="4877451" cy="4571797"/>
          </a:xfrm>
          <a:prstGeom prst="rect">
            <a:avLst/>
          </a:prstGeom>
        </p:spPr>
      </p:pic>
      <p:pic>
        <p:nvPicPr>
          <p:cNvPr id="4" name="図 3">
            <a:extLst>
              <a:ext uri="{FF2B5EF4-FFF2-40B4-BE49-F238E27FC236}">
                <a16:creationId xmlns:a16="http://schemas.microsoft.com/office/drawing/2014/main" id="{9A84DD41-A3DC-4C5B-ED64-8F625B7B3B2A}"/>
              </a:ext>
            </a:extLst>
          </p:cNvPr>
          <p:cNvPicPr>
            <a:picLocks noChangeAspect="1"/>
          </p:cNvPicPr>
          <p:nvPr/>
        </p:nvPicPr>
        <p:blipFill>
          <a:blip r:embed="rId4"/>
          <a:stretch>
            <a:fillRect/>
          </a:stretch>
        </p:blipFill>
        <p:spPr>
          <a:xfrm>
            <a:off x="5437911" y="2392569"/>
            <a:ext cx="6477000" cy="2313767"/>
          </a:xfrm>
          <a:prstGeom prst="rect">
            <a:avLst/>
          </a:prstGeom>
        </p:spPr>
      </p:pic>
      <p:sp>
        <p:nvSpPr>
          <p:cNvPr id="5" name="テキスト ボックス 4">
            <a:extLst>
              <a:ext uri="{FF2B5EF4-FFF2-40B4-BE49-F238E27FC236}">
                <a16:creationId xmlns:a16="http://schemas.microsoft.com/office/drawing/2014/main" id="{239BA6BC-60AC-67B9-6C40-698F259A6AC5}"/>
              </a:ext>
            </a:extLst>
          </p:cNvPr>
          <p:cNvSpPr txBox="1"/>
          <p:nvPr/>
        </p:nvSpPr>
        <p:spPr>
          <a:xfrm>
            <a:off x="6023774" y="1066800"/>
            <a:ext cx="2739225" cy="461665"/>
          </a:xfrm>
          <a:prstGeom prst="rect">
            <a:avLst/>
          </a:prstGeom>
          <a:noFill/>
        </p:spPr>
        <p:txBody>
          <a:bodyPr wrap="square" rtlCol="0">
            <a:spAutoFit/>
          </a:bodyPr>
          <a:lstStyle/>
          <a:p>
            <a:pPr marL="285750" indent="-285750">
              <a:buFont typeface="Arial" panose="020B0604020202020204" pitchFamily="34" charset="0"/>
              <a:buChar char="•"/>
            </a:pPr>
            <a:r>
              <a:rPr kumimoji="1" lang="en-US" altLang="ja-JP" sz="2400" dirty="0">
                <a:latin typeface="Meiryo" panose="020B0604030504040204" pitchFamily="34" charset="-128"/>
                <a:ea typeface="Meiryo" panose="020B0604030504040204" pitchFamily="34" charset="-128"/>
              </a:rPr>
              <a:t>Dilation</a:t>
            </a:r>
            <a:r>
              <a:rPr kumimoji="1" lang="ja-JP" altLang="en-US" sz="2400">
                <a:latin typeface="Meiryo" panose="020B0604030504040204" pitchFamily="34" charset="-128"/>
                <a:ea typeface="Meiryo" panose="020B0604030504040204" pitchFamily="34" charset="-128"/>
              </a:rPr>
              <a:t>の設計</a:t>
            </a:r>
          </a:p>
        </p:txBody>
      </p:sp>
      <p:sp>
        <p:nvSpPr>
          <p:cNvPr id="8" name="Date Placeholder 10">
            <a:extLst>
              <a:ext uri="{FF2B5EF4-FFF2-40B4-BE49-F238E27FC236}">
                <a16:creationId xmlns:a16="http://schemas.microsoft.com/office/drawing/2014/main" id="{38FBF5A5-5CB7-FC0F-079A-290F026D5E81}"/>
              </a:ext>
            </a:extLst>
          </p:cNvPr>
          <p:cNvSpPr>
            <a:spLocks noGrp="1"/>
          </p:cNvSpPr>
          <p:nvPr>
            <p:ph type="dt" sz="half" idx="10"/>
          </p:nvPr>
        </p:nvSpPr>
        <p:spPr>
          <a:xfrm>
            <a:off x="838200" y="6553200"/>
            <a:ext cx="2743200" cy="365125"/>
          </a:xfrm>
        </p:spPr>
        <p:txBody>
          <a:bodyPr/>
          <a:lstStyle/>
          <a:p>
            <a:r>
              <a:rPr lang="en-US" altLang="ja-JP" dirty="0"/>
              <a:t>2025/2/27</a:t>
            </a:r>
            <a:endParaRPr lang="en-US" dirty="0"/>
          </a:p>
        </p:txBody>
      </p:sp>
      <p:sp>
        <p:nvSpPr>
          <p:cNvPr id="11" name="フッター プレースホルダー 4">
            <a:extLst>
              <a:ext uri="{FF2B5EF4-FFF2-40B4-BE49-F238E27FC236}">
                <a16:creationId xmlns:a16="http://schemas.microsoft.com/office/drawing/2014/main" id="{A8E85BA0-1F96-DA7E-E7AF-39D2E641B7F0}"/>
              </a:ext>
            </a:extLst>
          </p:cNvPr>
          <p:cNvSpPr>
            <a:spLocks noGrp="1"/>
          </p:cNvSpPr>
          <p:nvPr>
            <p:ph type="ftr" sz="quarter" idx="11"/>
          </p:nvPr>
        </p:nvSpPr>
        <p:spPr>
          <a:xfrm>
            <a:off x="4038600" y="6553200"/>
            <a:ext cx="4114800" cy="365125"/>
          </a:xfrm>
        </p:spPr>
        <p:txBody>
          <a:bodyPr/>
          <a:lstStyle/>
          <a:p>
            <a:r>
              <a:rPr lang="fi-FI"/>
              <a:t>Tsubasa Kato @ Sakurai Lab.</a:t>
            </a:r>
            <a:endParaRPr lang="en-US" dirty="0"/>
          </a:p>
        </p:txBody>
      </p:sp>
    </p:spTree>
    <p:extLst>
      <p:ext uri="{BB962C8B-B14F-4D97-AF65-F5344CB8AC3E}">
        <p14:creationId xmlns:p14="http://schemas.microsoft.com/office/powerpoint/2010/main" val="11951024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DBE2C6-8475-2B09-14A2-72675154BBD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C49D9B9-7E88-04A2-01C8-CB834BDBCD14}"/>
              </a:ext>
            </a:extLst>
          </p:cNvPr>
          <p:cNvSpPr>
            <a:spLocks noGrp="1"/>
          </p:cNvSpPr>
          <p:nvPr>
            <p:ph type="title"/>
          </p:nvPr>
        </p:nvSpPr>
        <p:spPr>
          <a:xfrm>
            <a:off x="548268" y="284244"/>
            <a:ext cx="10515600" cy="727695"/>
          </a:xfrm>
        </p:spPr>
        <p:txBody>
          <a:bodyPr>
            <a:normAutofit/>
          </a:bodyPr>
          <a:lstStyle/>
          <a:p>
            <a:pPr algn="l"/>
            <a:r>
              <a:rPr kumimoji="1" lang="ja-JP" altLang="en-US" sz="3200" b="0">
                <a:solidFill>
                  <a:schemeClr val="tx1"/>
                </a:solidFill>
                <a:latin typeface="Meiryo" panose="020B0604030504040204" pitchFamily="34" charset="-128"/>
                <a:ea typeface="Meiryo" panose="020B0604030504040204" pitchFamily="34" charset="-128"/>
              </a:rPr>
              <a:t>対照学習</a:t>
            </a:r>
          </a:p>
        </p:txBody>
      </p:sp>
      <p:cxnSp>
        <p:nvCxnSpPr>
          <p:cNvPr id="7" name="Straight Connector 6">
            <a:extLst>
              <a:ext uri="{FF2B5EF4-FFF2-40B4-BE49-F238E27FC236}">
                <a16:creationId xmlns:a16="http://schemas.microsoft.com/office/drawing/2014/main" id="{DED2583A-349A-2B88-7F9D-AC2DCEF3B633}"/>
              </a:ext>
            </a:extLst>
          </p:cNvPr>
          <p:cNvCxnSpPr>
            <a:cxnSpLocks/>
          </p:cNvCxnSpPr>
          <p:nvPr/>
        </p:nvCxnSpPr>
        <p:spPr>
          <a:xfrm>
            <a:off x="646043" y="874643"/>
            <a:ext cx="10694505"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363D44AF-50A7-352B-ADEB-328F2D97EDB3}"/>
              </a:ext>
            </a:extLst>
          </p:cNvPr>
          <p:cNvSpPr>
            <a:spLocks noGrp="1"/>
          </p:cNvSpPr>
          <p:nvPr>
            <p:ph type="sldNum" sz="quarter" idx="12"/>
          </p:nvPr>
        </p:nvSpPr>
        <p:spPr/>
        <p:txBody>
          <a:bodyPr/>
          <a:lstStyle/>
          <a:p>
            <a:fld id="{6675BFCB-789E-5945-84C6-0973649846BB}" type="slidenum">
              <a:rPr lang="en-US" smtClean="0"/>
              <a:pPr/>
              <a:t>16</a:t>
            </a:fld>
            <a:endParaRPr lang="en-US" dirty="0"/>
          </a:p>
        </p:txBody>
      </p:sp>
      <p:pic>
        <p:nvPicPr>
          <p:cNvPr id="9" name="図 8">
            <a:extLst>
              <a:ext uri="{FF2B5EF4-FFF2-40B4-BE49-F238E27FC236}">
                <a16:creationId xmlns:a16="http://schemas.microsoft.com/office/drawing/2014/main" id="{96278A7D-AE57-93F8-53EA-F5564F8E0BAA}"/>
              </a:ext>
            </a:extLst>
          </p:cNvPr>
          <p:cNvPicPr>
            <a:picLocks noChangeAspect="1"/>
          </p:cNvPicPr>
          <p:nvPr/>
        </p:nvPicPr>
        <p:blipFill>
          <a:blip r:embed="rId3"/>
          <a:stretch>
            <a:fillRect/>
          </a:stretch>
        </p:blipFill>
        <p:spPr>
          <a:xfrm>
            <a:off x="1447800" y="1011939"/>
            <a:ext cx="9368056" cy="4169414"/>
          </a:xfrm>
          <a:prstGeom prst="rect">
            <a:avLst/>
          </a:prstGeom>
        </p:spPr>
      </p:pic>
      <p:sp>
        <p:nvSpPr>
          <p:cNvPr id="16" name="Date Placeholder 10">
            <a:extLst>
              <a:ext uri="{FF2B5EF4-FFF2-40B4-BE49-F238E27FC236}">
                <a16:creationId xmlns:a16="http://schemas.microsoft.com/office/drawing/2014/main" id="{6201C4AF-ABB8-9E68-B7B2-BBB52A4C4A69}"/>
              </a:ext>
            </a:extLst>
          </p:cNvPr>
          <p:cNvSpPr>
            <a:spLocks noGrp="1"/>
          </p:cNvSpPr>
          <p:nvPr>
            <p:ph type="dt" sz="half" idx="10"/>
          </p:nvPr>
        </p:nvSpPr>
        <p:spPr>
          <a:xfrm>
            <a:off x="838200" y="6553200"/>
            <a:ext cx="2743200" cy="365125"/>
          </a:xfrm>
        </p:spPr>
        <p:txBody>
          <a:bodyPr/>
          <a:lstStyle/>
          <a:p>
            <a:r>
              <a:rPr lang="en-US" altLang="ja-JP" dirty="0"/>
              <a:t>2025/2/27</a:t>
            </a:r>
            <a:endParaRPr lang="en-US" dirty="0"/>
          </a:p>
        </p:txBody>
      </p:sp>
      <p:sp>
        <p:nvSpPr>
          <p:cNvPr id="17" name="フッター プレースホルダー 4">
            <a:extLst>
              <a:ext uri="{FF2B5EF4-FFF2-40B4-BE49-F238E27FC236}">
                <a16:creationId xmlns:a16="http://schemas.microsoft.com/office/drawing/2014/main" id="{88A5537E-91DC-CCBE-016C-14245C7A1388}"/>
              </a:ext>
            </a:extLst>
          </p:cNvPr>
          <p:cNvSpPr>
            <a:spLocks noGrp="1"/>
          </p:cNvSpPr>
          <p:nvPr>
            <p:ph type="ftr" sz="quarter" idx="11"/>
          </p:nvPr>
        </p:nvSpPr>
        <p:spPr>
          <a:xfrm>
            <a:off x="4038600" y="6553200"/>
            <a:ext cx="4114800" cy="365125"/>
          </a:xfrm>
        </p:spPr>
        <p:txBody>
          <a:bodyPr/>
          <a:lstStyle/>
          <a:p>
            <a:r>
              <a:rPr lang="fi-FI"/>
              <a:t>Tsubasa Kato @ Sakurai Lab.</a:t>
            </a:r>
            <a:endParaRPr lang="en-US" dirty="0"/>
          </a:p>
        </p:txBody>
      </p:sp>
      <p:sp>
        <p:nvSpPr>
          <p:cNvPr id="3" name="角丸四角形 2">
            <a:extLst>
              <a:ext uri="{FF2B5EF4-FFF2-40B4-BE49-F238E27FC236}">
                <a16:creationId xmlns:a16="http://schemas.microsoft.com/office/drawing/2014/main" id="{3FA6E509-DD96-EF05-D2B0-8B89ECCBCD7C}"/>
              </a:ext>
            </a:extLst>
          </p:cNvPr>
          <p:cNvSpPr/>
          <p:nvPr/>
        </p:nvSpPr>
        <p:spPr>
          <a:xfrm>
            <a:off x="2971800" y="1638914"/>
            <a:ext cx="3505200" cy="3237886"/>
          </a:xfrm>
          <a:prstGeom prst="roundRect">
            <a:avLst/>
          </a:prstGeom>
          <a:solidFill>
            <a:schemeClr val="accent3">
              <a:lumMod val="60000"/>
              <a:lumOff val="40000"/>
              <a:alpha val="79013"/>
            </a:schemeClr>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角丸四角形 3">
            <a:extLst>
              <a:ext uri="{FF2B5EF4-FFF2-40B4-BE49-F238E27FC236}">
                <a16:creationId xmlns:a16="http://schemas.microsoft.com/office/drawing/2014/main" id="{8CB898CB-64C8-34ED-0E2C-43F55ADD24E8}"/>
              </a:ext>
            </a:extLst>
          </p:cNvPr>
          <p:cNvSpPr/>
          <p:nvPr/>
        </p:nvSpPr>
        <p:spPr>
          <a:xfrm>
            <a:off x="6477000" y="1676647"/>
            <a:ext cx="1981200" cy="3237886"/>
          </a:xfrm>
          <a:prstGeom prst="roundRect">
            <a:avLst/>
          </a:prstGeom>
          <a:solidFill>
            <a:schemeClr val="accent3">
              <a:lumMod val="60000"/>
              <a:lumOff val="40000"/>
              <a:alpha val="79013"/>
            </a:schemeClr>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1617624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CEC5F3-3695-7928-E40D-4D752669FA4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3989929-339C-E439-9332-FDB6AB1653A4}"/>
              </a:ext>
            </a:extLst>
          </p:cNvPr>
          <p:cNvSpPr>
            <a:spLocks noGrp="1"/>
          </p:cNvSpPr>
          <p:nvPr>
            <p:ph type="title"/>
          </p:nvPr>
        </p:nvSpPr>
        <p:spPr>
          <a:xfrm>
            <a:off x="548268" y="284244"/>
            <a:ext cx="10515600" cy="727695"/>
          </a:xfrm>
        </p:spPr>
        <p:txBody>
          <a:bodyPr>
            <a:normAutofit/>
          </a:bodyPr>
          <a:lstStyle/>
          <a:p>
            <a:pPr algn="l"/>
            <a:r>
              <a:rPr kumimoji="1" lang="ja-JP" altLang="en-US" sz="3200" b="0">
                <a:solidFill>
                  <a:schemeClr val="tx1"/>
                </a:solidFill>
                <a:latin typeface="Meiryo" panose="020B0604030504040204" pitchFamily="34" charset="-128"/>
                <a:ea typeface="Meiryo" panose="020B0604030504040204" pitchFamily="34" charset="-128"/>
              </a:rPr>
              <a:t>対照学習</a:t>
            </a:r>
          </a:p>
        </p:txBody>
      </p:sp>
      <p:cxnSp>
        <p:nvCxnSpPr>
          <p:cNvPr id="7" name="Straight Connector 6">
            <a:extLst>
              <a:ext uri="{FF2B5EF4-FFF2-40B4-BE49-F238E27FC236}">
                <a16:creationId xmlns:a16="http://schemas.microsoft.com/office/drawing/2014/main" id="{EE0F4D9F-1B7D-72CF-D48A-26B58EB8B1EE}"/>
              </a:ext>
            </a:extLst>
          </p:cNvPr>
          <p:cNvCxnSpPr>
            <a:cxnSpLocks/>
          </p:cNvCxnSpPr>
          <p:nvPr/>
        </p:nvCxnSpPr>
        <p:spPr>
          <a:xfrm>
            <a:off x="646043" y="874643"/>
            <a:ext cx="10694505"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4FB239DB-AE84-DAC3-97AC-35F8AFAFB7AD}"/>
              </a:ext>
            </a:extLst>
          </p:cNvPr>
          <p:cNvSpPr>
            <a:spLocks noGrp="1"/>
          </p:cNvSpPr>
          <p:nvPr>
            <p:ph type="sldNum" sz="quarter" idx="12"/>
          </p:nvPr>
        </p:nvSpPr>
        <p:spPr/>
        <p:txBody>
          <a:bodyPr/>
          <a:lstStyle/>
          <a:p>
            <a:fld id="{6675BFCB-789E-5945-84C6-0973649846BB}" type="slidenum">
              <a:rPr lang="en-US" smtClean="0"/>
              <a:pPr/>
              <a:t>17</a:t>
            </a:fld>
            <a:endParaRPr lang="en-US" dirty="0"/>
          </a:p>
        </p:txBody>
      </p:sp>
      <p:sp>
        <p:nvSpPr>
          <p:cNvPr id="4" name="テキスト ボックス 3">
            <a:extLst>
              <a:ext uri="{FF2B5EF4-FFF2-40B4-BE49-F238E27FC236}">
                <a16:creationId xmlns:a16="http://schemas.microsoft.com/office/drawing/2014/main" id="{606477EA-654D-E5C2-3CC0-18E9CF93EBDB}"/>
              </a:ext>
            </a:extLst>
          </p:cNvPr>
          <p:cNvSpPr txBox="1"/>
          <p:nvPr/>
        </p:nvSpPr>
        <p:spPr>
          <a:xfrm>
            <a:off x="838199" y="1143000"/>
            <a:ext cx="8577943" cy="4708981"/>
          </a:xfrm>
          <a:prstGeom prst="rect">
            <a:avLst/>
          </a:prstGeom>
          <a:noFill/>
        </p:spPr>
        <p:txBody>
          <a:bodyPr wrap="square" rtlCol="0">
            <a:spAutoFit/>
          </a:bodyPr>
          <a:lstStyle/>
          <a:p>
            <a:pPr marL="285750" indent="-285750">
              <a:buFont typeface="Arial" panose="020B0604020202020204" pitchFamily="34" charset="0"/>
              <a:buChar char="•"/>
            </a:pPr>
            <a:r>
              <a:rPr kumimoji="1" lang="ja-JP" altLang="en-US" sz="2000">
                <a:latin typeface="Meiryo" panose="020B0604030504040204" pitchFamily="34" charset="-128"/>
                <a:ea typeface="Meiryo" panose="020B0604030504040204" pitchFamily="34" charset="-128"/>
              </a:rPr>
              <a:t>長期的パターン抽出</a:t>
            </a:r>
            <a:endParaRPr kumimoji="1" lang="en-US" altLang="ja-JP" sz="2000" dirty="0">
              <a:latin typeface="Meiryo" panose="020B0604030504040204" pitchFamily="34" charset="-128"/>
              <a:ea typeface="Meiryo" panose="020B0604030504040204" pitchFamily="34" charset="-128"/>
            </a:endParaRPr>
          </a:p>
          <a:p>
            <a:pPr marL="742950" lvl="1" indent="-285750">
              <a:buFont typeface="Wingdings" pitchFamily="2" charset="2"/>
              <a:buChar char="Ø"/>
            </a:pPr>
            <a:r>
              <a:rPr kumimoji="1" lang="ja-JP" altLang="en-US" sz="2000">
                <a:latin typeface="Meiryo" panose="020B0604030504040204" pitchFamily="34" charset="-128"/>
                <a:ea typeface="Meiryo" panose="020B0604030504040204" pitchFamily="34" charset="-128"/>
              </a:rPr>
              <a:t>時系列データを一括でエンコードし</a:t>
            </a:r>
            <a:r>
              <a:rPr kumimoji="1" lang="en-US" altLang="ja-JP" sz="2000" dirty="0">
                <a:latin typeface="Meiryo" panose="020B0604030504040204" pitchFamily="34" charset="-128"/>
                <a:ea typeface="Meiryo" panose="020B0604030504040204" pitchFamily="34" charset="-128"/>
              </a:rPr>
              <a:t>, </a:t>
            </a:r>
            <a:r>
              <a:rPr kumimoji="1" lang="ja-JP" altLang="en-US" sz="2000">
                <a:latin typeface="Meiryo" panose="020B0604030504040204" pitchFamily="34" charset="-128"/>
                <a:ea typeface="Meiryo" panose="020B0604030504040204" pitchFamily="34" charset="-128"/>
              </a:rPr>
              <a:t>対照学習を行う</a:t>
            </a:r>
            <a:endParaRPr kumimoji="1" lang="en-US" altLang="ja-JP" sz="2000" dirty="0">
              <a:latin typeface="Meiryo" panose="020B0604030504040204" pitchFamily="34" charset="-128"/>
              <a:ea typeface="Meiryo" panose="020B0604030504040204" pitchFamily="34" charset="-128"/>
            </a:endParaRPr>
          </a:p>
          <a:p>
            <a:endParaRPr kumimoji="1" lang="en-US" altLang="ja-JP" sz="2000" dirty="0">
              <a:latin typeface="Meiryo" panose="020B0604030504040204" pitchFamily="34" charset="-128"/>
              <a:ea typeface="Meiryo" panose="020B0604030504040204" pitchFamily="34" charset="-128"/>
            </a:endParaRPr>
          </a:p>
          <a:p>
            <a:endParaRPr kumimoji="1" lang="en-US" altLang="ja-JP" sz="2000"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kumimoji="1" lang="ja-JP" altLang="en-US" sz="2000">
                <a:latin typeface="Meiryo" panose="020B0604030504040204" pitchFamily="34" charset="-128"/>
                <a:ea typeface="Meiryo" panose="020B0604030504040204" pitchFamily="34" charset="-128"/>
              </a:rPr>
              <a:t>時間的な対照損失：</a:t>
            </a:r>
            <a:endParaRPr kumimoji="1" lang="en-US" altLang="ja-JP" sz="2000" dirty="0">
              <a:latin typeface="Meiryo" panose="020B0604030504040204" pitchFamily="34" charset="-128"/>
              <a:ea typeface="Meiryo" panose="020B0604030504040204" pitchFamily="34" charset="-128"/>
            </a:endParaRPr>
          </a:p>
          <a:p>
            <a:endParaRPr kumimoji="1" lang="en-US" altLang="ja-JP" sz="2000"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endParaRPr kumimoji="1" lang="en-US" altLang="ja-JP" sz="2000"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kumimoji="1" lang="ja-JP" altLang="en-US" sz="2000">
                <a:latin typeface="Meiryo" panose="020B0604030504040204" pitchFamily="34" charset="-128"/>
                <a:ea typeface="Meiryo" panose="020B0604030504040204" pitchFamily="34" charset="-128"/>
              </a:rPr>
              <a:t>各次元間の対照学習：</a:t>
            </a:r>
            <a:endParaRPr kumimoji="1" lang="en-US" altLang="ja-JP" sz="2000"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endParaRPr kumimoji="1" lang="en-US" altLang="ja-JP" sz="2000"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endParaRPr kumimoji="1" lang="en-US" altLang="ja-JP" sz="2000"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kumimoji="1" lang="ja-JP" altLang="en-US" sz="2000">
                <a:latin typeface="Meiryo" panose="020B0604030504040204" pitchFamily="34" charset="-128"/>
                <a:ea typeface="Meiryo" panose="020B0604030504040204" pitchFamily="34" charset="-128"/>
              </a:rPr>
              <a:t>時間的に近い観測点を</a:t>
            </a:r>
            <a:br>
              <a:rPr kumimoji="1" lang="en-US" altLang="ja-JP" sz="2000" dirty="0">
                <a:latin typeface="Meiryo" panose="020B0604030504040204" pitchFamily="34" charset="-128"/>
                <a:ea typeface="Meiryo" panose="020B0604030504040204" pitchFamily="34" charset="-128"/>
              </a:rPr>
            </a:br>
            <a:r>
              <a:rPr kumimoji="1" lang="ja-JP" altLang="en-US" sz="2000">
                <a:latin typeface="Meiryo" panose="020B0604030504040204" pitchFamily="34" charset="-128"/>
                <a:ea typeface="Meiryo" panose="020B0604030504040204" pitchFamily="34" charset="-128"/>
              </a:rPr>
              <a:t>近づく平滑さの損失：</a:t>
            </a:r>
            <a:endParaRPr kumimoji="1" lang="en-US" altLang="ja-JP" sz="2000"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endParaRPr kumimoji="1" lang="en-US" altLang="ja-JP" sz="2000"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endParaRPr kumimoji="1" lang="en-US" altLang="ja-JP" sz="2000"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kumimoji="1" lang="ja-JP" altLang="en-US" sz="2000">
                <a:latin typeface="Meiryo" panose="020B0604030504040204" pitchFamily="34" charset="-128"/>
                <a:ea typeface="Meiryo" panose="020B0604030504040204" pitchFamily="34" charset="-128"/>
              </a:rPr>
              <a:t>長期的パターン損失：</a:t>
            </a:r>
            <a:endParaRPr kumimoji="1" lang="en-US" altLang="ja-JP" sz="2000" dirty="0">
              <a:latin typeface="Meiryo" panose="020B0604030504040204" pitchFamily="34" charset="-128"/>
              <a:ea typeface="Meiryo" panose="020B0604030504040204" pitchFamily="34" charset="-128"/>
            </a:endParaRPr>
          </a:p>
        </p:txBody>
      </p:sp>
      <p:pic>
        <p:nvPicPr>
          <p:cNvPr id="3" name="図 2">
            <a:extLst>
              <a:ext uri="{FF2B5EF4-FFF2-40B4-BE49-F238E27FC236}">
                <a16:creationId xmlns:a16="http://schemas.microsoft.com/office/drawing/2014/main" id="{49A77BF3-B380-4E36-2C22-0D5314592D15}"/>
              </a:ext>
            </a:extLst>
          </p:cNvPr>
          <p:cNvPicPr>
            <a:picLocks noChangeAspect="1"/>
          </p:cNvPicPr>
          <p:nvPr/>
        </p:nvPicPr>
        <p:blipFill>
          <a:blip r:embed="rId3"/>
          <a:stretch>
            <a:fillRect/>
          </a:stretch>
        </p:blipFill>
        <p:spPr>
          <a:xfrm>
            <a:off x="4191000" y="2037646"/>
            <a:ext cx="6216650" cy="1010354"/>
          </a:xfrm>
          <a:prstGeom prst="rect">
            <a:avLst/>
          </a:prstGeom>
        </p:spPr>
      </p:pic>
      <p:pic>
        <p:nvPicPr>
          <p:cNvPr id="5" name="図 4">
            <a:extLst>
              <a:ext uri="{FF2B5EF4-FFF2-40B4-BE49-F238E27FC236}">
                <a16:creationId xmlns:a16="http://schemas.microsoft.com/office/drawing/2014/main" id="{FB8CB671-B0A2-E85A-B131-565BD6A91F44}"/>
              </a:ext>
            </a:extLst>
          </p:cNvPr>
          <p:cNvPicPr>
            <a:picLocks noChangeAspect="1"/>
          </p:cNvPicPr>
          <p:nvPr/>
        </p:nvPicPr>
        <p:blipFill>
          <a:blip r:embed="rId4"/>
          <a:stretch>
            <a:fillRect/>
          </a:stretch>
        </p:blipFill>
        <p:spPr>
          <a:xfrm>
            <a:off x="4303196" y="3048000"/>
            <a:ext cx="6089904" cy="966069"/>
          </a:xfrm>
          <a:prstGeom prst="rect">
            <a:avLst/>
          </a:prstGeom>
        </p:spPr>
      </p:pic>
      <p:pic>
        <p:nvPicPr>
          <p:cNvPr id="8" name="図 7">
            <a:extLst>
              <a:ext uri="{FF2B5EF4-FFF2-40B4-BE49-F238E27FC236}">
                <a16:creationId xmlns:a16="http://schemas.microsoft.com/office/drawing/2014/main" id="{CEBDBDA8-A3A8-7C2F-31DF-290D9BC48FAB}"/>
              </a:ext>
            </a:extLst>
          </p:cNvPr>
          <p:cNvPicPr>
            <a:picLocks noChangeAspect="1"/>
          </p:cNvPicPr>
          <p:nvPr/>
        </p:nvPicPr>
        <p:blipFill>
          <a:blip r:embed="rId5"/>
          <a:stretch>
            <a:fillRect/>
          </a:stretch>
        </p:blipFill>
        <p:spPr>
          <a:xfrm>
            <a:off x="4303196" y="4296863"/>
            <a:ext cx="3606800" cy="643251"/>
          </a:xfrm>
          <a:prstGeom prst="rect">
            <a:avLst/>
          </a:prstGeom>
        </p:spPr>
      </p:pic>
      <p:pic>
        <p:nvPicPr>
          <p:cNvPr id="9" name="図 8">
            <a:extLst>
              <a:ext uri="{FF2B5EF4-FFF2-40B4-BE49-F238E27FC236}">
                <a16:creationId xmlns:a16="http://schemas.microsoft.com/office/drawing/2014/main" id="{1E7B29E0-1F93-B7DC-B1F3-BB3D4776F5C8}"/>
              </a:ext>
            </a:extLst>
          </p:cNvPr>
          <p:cNvPicPr>
            <a:picLocks noChangeAspect="1"/>
          </p:cNvPicPr>
          <p:nvPr/>
        </p:nvPicPr>
        <p:blipFill>
          <a:blip r:embed="rId6"/>
          <a:stretch>
            <a:fillRect/>
          </a:stretch>
        </p:blipFill>
        <p:spPr>
          <a:xfrm>
            <a:off x="4296809" y="5115419"/>
            <a:ext cx="5228191" cy="1087171"/>
          </a:xfrm>
          <a:prstGeom prst="rect">
            <a:avLst/>
          </a:prstGeom>
        </p:spPr>
      </p:pic>
      <p:sp>
        <p:nvSpPr>
          <p:cNvPr id="11" name="Date Placeholder 10">
            <a:extLst>
              <a:ext uri="{FF2B5EF4-FFF2-40B4-BE49-F238E27FC236}">
                <a16:creationId xmlns:a16="http://schemas.microsoft.com/office/drawing/2014/main" id="{694BCAE4-6EBD-2BB2-4144-986846CDD66C}"/>
              </a:ext>
            </a:extLst>
          </p:cNvPr>
          <p:cNvSpPr>
            <a:spLocks noGrp="1"/>
          </p:cNvSpPr>
          <p:nvPr>
            <p:ph type="dt" sz="half" idx="10"/>
          </p:nvPr>
        </p:nvSpPr>
        <p:spPr>
          <a:xfrm>
            <a:off x="838200" y="6553200"/>
            <a:ext cx="2743200" cy="365125"/>
          </a:xfrm>
        </p:spPr>
        <p:txBody>
          <a:bodyPr/>
          <a:lstStyle/>
          <a:p>
            <a:r>
              <a:rPr lang="en-US" altLang="ja-JP" dirty="0"/>
              <a:t>2025/2/27</a:t>
            </a:r>
            <a:endParaRPr lang="en-US" dirty="0"/>
          </a:p>
        </p:txBody>
      </p:sp>
      <p:sp>
        <p:nvSpPr>
          <p:cNvPr id="12" name="フッター プレースホルダー 4">
            <a:extLst>
              <a:ext uri="{FF2B5EF4-FFF2-40B4-BE49-F238E27FC236}">
                <a16:creationId xmlns:a16="http://schemas.microsoft.com/office/drawing/2014/main" id="{7887D23C-FBC4-8D8B-0776-CF350B812C90}"/>
              </a:ext>
            </a:extLst>
          </p:cNvPr>
          <p:cNvSpPr>
            <a:spLocks noGrp="1"/>
          </p:cNvSpPr>
          <p:nvPr>
            <p:ph type="ftr" sz="quarter" idx="11"/>
          </p:nvPr>
        </p:nvSpPr>
        <p:spPr>
          <a:xfrm>
            <a:off x="4038600" y="6553200"/>
            <a:ext cx="4114800" cy="365125"/>
          </a:xfrm>
        </p:spPr>
        <p:txBody>
          <a:bodyPr/>
          <a:lstStyle/>
          <a:p>
            <a:r>
              <a:rPr lang="fi-FI"/>
              <a:t>Tsubasa Kato @ Sakurai Lab.</a:t>
            </a:r>
            <a:endParaRPr lang="en-US" dirty="0"/>
          </a:p>
        </p:txBody>
      </p:sp>
    </p:spTree>
    <p:extLst>
      <p:ext uri="{BB962C8B-B14F-4D97-AF65-F5344CB8AC3E}">
        <p14:creationId xmlns:p14="http://schemas.microsoft.com/office/powerpoint/2010/main" val="40597707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E8096E-D40A-4C04-2E66-8FD97C2D5C6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41F1E73-A1D1-9AD5-7F51-9D467496F039}"/>
              </a:ext>
            </a:extLst>
          </p:cNvPr>
          <p:cNvSpPr>
            <a:spLocks noGrp="1"/>
          </p:cNvSpPr>
          <p:nvPr>
            <p:ph type="title"/>
          </p:nvPr>
        </p:nvSpPr>
        <p:spPr>
          <a:xfrm>
            <a:off x="548268" y="284244"/>
            <a:ext cx="10515600" cy="727695"/>
          </a:xfrm>
        </p:spPr>
        <p:txBody>
          <a:bodyPr>
            <a:normAutofit/>
          </a:bodyPr>
          <a:lstStyle/>
          <a:p>
            <a:pPr algn="l"/>
            <a:r>
              <a:rPr kumimoji="1" lang="ja-JP" altLang="en-US" sz="3200" b="0">
                <a:solidFill>
                  <a:schemeClr val="tx1"/>
                </a:solidFill>
                <a:latin typeface="Meiryo" panose="020B0604030504040204" pitchFamily="34" charset="-128"/>
                <a:ea typeface="Meiryo" panose="020B0604030504040204" pitchFamily="34" charset="-128"/>
              </a:rPr>
              <a:t>対照学習</a:t>
            </a:r>
          </a:p>
        </p:txBody>
      </p:sp>
      <p:cxnSp>
        <p:nvCxnSpPr>
          <p:cNvPr id="7" name="Straight Connector 6">
            <a:extLst>
              <a:ext uri="{FF2B5EF4-FFF2-40B4-BE49-F238E27FC236}">
                <a16:creationId xmlns:a16="http://schemas.microsoft.com/office/drawing/2014/main" id="{B6DC1CE3-B9BA-6D2B-40DC-6DFB9D859369}"/>
              </a:ext>
            </a:extLst>
          </p:cNvPr>
          <p:cNvCxnSpPr>
            <a:cxnSpLocks/>
          </p:cNvCxnSpPr>
          <p:nvPr/>
        </p:nvCxnSpPr>
        <p:spPr>
          <a:xfrm>
            <a:off x="646043" y="874643"/>
            <a:ext cx="10694505"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9EC04E5A-9FBC-29BF-F2D7-3B3F57E46236}"/>
              </a:ext>
            </a:extLst>
          </p:cNvPr>
          <p:cNvSpPr>
            <a:spLocks noGrp="1"/>
          </p:cNvSpPr>
          <p:nvPr>
            <p:ph type="sldNum" sz="quarter" idx="12"/>
          </p:nvPr>
        </p:nvSpPr>
        <p:spPr/>
        <p:txBody>
          <a:bodyPr/>
          <a:lstStyle/>
          <a:p>
            <a:fld id="{6675BFCB-789E-5945-84C6-0973649846BB}" type="slidenum">
              <a:rPr lang="en-US" smtClean="0"/>
              <a:pPr/>
              <a:t>18</a:t>
            </a:fld>
            <a:endParaRPr lang="en-US" dirty="0"/>
          </a:p>
        </p:txBody>
      </p:sp>
      <p:sp>
        <p:nvSpPr>
          <p:cNvPr id="4" name="テキスト ボックス 3">
            <a:extLst>
              <a:ext uri="{FF2B5EF4-FFF2-40B4-BE49-F238E27FC236}">
                <a16:creationId xmlns:a16="http://schemas.microsoft.com/office/drawing/2014/main" id="{6F0A69BD-A452-A4D0-7E7C-A58EB825CBF7}"/>
              </a:ext>
            </a:extLst>
          </p:cNvPr>
          <p:cNvSpPr txBox="1"/>
          <p:nvPr/>
        </p:nvSpPr>
        <p:spPr>
          <a:xfrm>
            <a:off x="800100" y="1241763"/>
            <a:ext cx="5562600" cy="4939814"/>
          </a:xfrm>
          <a:prstGeom prst="rect">
            <a:avLst/>
          </a:prstGeom>
          <a:noFill/>
        </p:spPr>
        <p:txBody>
          <a:bodyPr wrap="square" rtlCol="0">
            <a:spAutoFit/>
          </a:bodyPr>
          <a:lstStyle/>
          <a:p>
            <a:pPr marL="285750" indent="-285750">
              <a:buFont typeface="Arial" panose="020B0604020202020204" pitchFamily="34" charset="0"/>
              <a:buChar char="•"/>
            </a:pPr>
            <a:r>
              <a:rPr kumimoji="1" lang="ja-JP" altLang="en-US" sz="2100">
                <a:latin typeface="Meiryo" panose="020B0604030504040204" pitchFamily="34" charset="-128"/>
                <a:ea typeface="Meiryo" panose="020B0604030504040204" pitchFamily="34" charset="-128"/>
              </a:rPr>
              <a:t>局所的パターン抽出</a:t>
            </a:r>
            <a:endParaRPr kumimoji="1" lang="en-US" altLang="ja-JP" sz="2100" dirty="0">
              <a:latin typeface="Meiryo" panose="020B0604030504040204" pitchFamily="34" charset="-128"/>
              <a:ea typeface="Meiryo" panose="020B0604030504040204" pitchFamily="34" charset="-128"/>
            </a:endParaRPr>
          </a:p>
          <a:p>
            <a:pPr marL="742950" lvl="1" indent="-285750">
              <a:buFont typeface="Wingdings" pitchFamily="2" charset="2"/>
              <a:buChar char="Ø"/>
            </a:pPr>
            <a:r>
              <a:rPr kumimoji="1" lang="ja-JP" altLang="en-US" sz="2100">
                <a:latin typeface="Meiryo" panose="020B0604030504040204" pitchFamily="34" charset="-128"/>
                <a:ea typeface="Meiryo" panose="020B0604030504040204" pitchFamily="34" charset="-128"/>
              </a:rPr>
              <a:t>時系列データをウィンドウ幅で分割し</a:t>
            </a:r>
            <a:r>
              <a:rPr kumimoji="1" lang="en-US" altLang="ja-JP" sz="2100" dirty="0">
                <a:latin typeface="Meiryo" panose="020B0604030504040204" pitchFamily="34" charset="-128"/>
                <a:ea typeface="Meiryo" panose="020B0604030504040204" pitchFamily="34" charset="-128"/>
              </a:rPr>
              <a:t>, </a:t>
            </a:r>
            <a:br>
              <a:rPr kumimoji="1" lang="en-US" altLang="ja-JP" sz="2100" dirty="0">
                <a:latin typeface="Meiryo" panose="020B0604030504040204" pitchFamily="34" charset="-128"/>
                <a:ea typeface="Meiryo" panose="020B0604030504040204" pitchFamily="34" charset="-128"/>
              </a:rPr>
            </a:br>
            <a:r>
              <a:rPr kumimoji="1" lang="ja-JP" altLang="en-US" sz="2100">
                <a:latin typeface="Meiryo" panose="020B0604030504040204" pitchFamily="34" charset="-128"/>
                <a:ea typeface="Meiryo" panose="020B0604030504040204" pitchFamily="34" charset="-128"/>
              </a:rPr>
              <a:t>部分行列に対して対照学習を行う</a:t>
            </a:r>
            <a:endParaRPr kumimoji="1" lang="en-US" altLang="ja-JP" sz="2100" dirty="0">
              <a:latin typeface="Meiryo" panose="020B0604030504040204" pitchFamily="34" charset="-128"/>
              <a:ea typeface="Meiryo" panose="020B0604030504040204" pitchFamily="34" charset="-128"/>
            </a:endParaRPr>
          </a:p>
          <a:p>
            <a:endParaRPr kumimoji="1" lang="en-US" altLang="ja-JP" sz="2100"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kumimoji="1" lang="ja-JP" altLang="en-US" sz="2100">
                <a:latin typeface="Meiryo" panose="020B0604030504040204" pitchFamily="34" charset="-128"/>
                <a:ea typeface="Meiryo" panose="020B0604030504040204" pitchFamily="34" charset="-128"/>
              </a:rPr>
              <a:t>各ウィンドウごとの統計的特徴量</a:t>
            </a:r>
            <a:endParaRPr kumimoji="1" lang="en-US" altLang="ja-JP" sz="2100" dirty="0">
              <a:latin typeface="Meiryo" panose="020B0604030504040204" pitchFamily="34" charset="-128"/>
              <a:ea typeface="Meiryo" panose="020B0604030504040204" pitchFamily="34" charset="-128"/>
            </a:endParaRPr>
          </a:p>
          <a:p>
            <a:pPr marL="742950" lvl="1" indent="-285750">
              <a:buFont typeface="Wingdings" pitchFamily="2" charset="2"/>
              <a:buChar char="Ø"/>
            </a:pPr>
            <a:r>
              <a:rPr kumimoji="1" lang="ja-JP" altLang="en-US" sz="2100">
                <a:latin typeface="Meiryo" panose="020B0604030504040204" pitchFamily="34" charset="-128"/>
                <a:ea typeface="Meiryo" panose="020B0604030504040204" pitchFamily="34" charset="-128"/>
              </a:rPr>
              <a:t>平均値</a:t>
            </a:r>
            <a:endParaRPr kumimoji="1" lang="en-US" altLang="ja-JP" sz="2100" dirty="0">
              <a:latin typeface="Meiryo" panose="020B0604030504040204" pitchFamily="34" charset="-128"/>
              <a:ea typeface="Meiryo" panose="020B0604030504040204" pitchFamily="34" charset="-128"/>
            </a:endParaRPr>
          </a:p>
          <a:p>
            <a:pPr marL="742950" lvl="1" indent="-285750">
              <a:buFont typeface="Wingdings" pitchFamily="2" charset="2"/>
              <a:buChar char="Ø"/>
            </a:pPr>
            <a:r>
              <a:rPr kumimoji="1" lang="ja-JP" altLang="en-US" sz="2100">
                <a:latin typeface="Meiryo" panose="020B0604030504040204" pitchFamily="34" charset="-128"/>
                <a:ea typeface="Meiryo" panose="020B0604030504040204" pitchFamily="34" charset="-128"/>
              </a:rPr>
              <a:t>分布や変動を表す標準偏差</a:t>
            </a:r>
            <a:endParaRPr kumimoji="1" lang="en-US" altLang="ja-JP" sz="2100" dirty="0">
              <a:latin typeface="Meiryo" panose="020B0604030504040204" pitchFamily="34" charset="-128"/>
              <a:ea typeface="Meiryo" panose="020B0604030504040204" pitchFamily="34" charset="-128"/>
            </a:endParaRPr>
          </a:p>
          <a:p>
            <a:pPr marL="742950" lvl="1" indent="-285750">
              <a:buFont typeface="Wingdings" pitchFamily="2" charset="2"/>
              <a:buChar char="Ø"/>
            </a:pPr>
            <a:r>
              <a:rPr kumimoji="1" lang="ja-JP" altLang="en-US" sz="2100">
                <a:latin typeface="Meiryo" panose="020B0604030504040204" pitchFamily="34" charset="-128"/>
                <a:ea typeface="Meiryo" panose="020B0604030504040204" pitchFamily="34" charset="-128"/>
              </a:rPr>
              <a:t>周期性や安定性を示すスペクトルエネルギー</a:t>
            </a:r>
            <a:endParaRPr kumimoji="1" lang="en-US" altLang="ja-JP" sz="2100" dirty="0">
              <a:latin typeface="Meiryo" panose="020B0604030504040204" pitchFamily="34" charset="-128"/>
              <a:ea typeface="Meiryo" panose="020B0604030504040204" pitchFamily="34" charset="-128"/>
            </a:endParaRPr>
          </a:p>
          <a:p>
            <a:pPr marL="742950" lvl="1" indent="-285750">
              <a:buFont typeface="Wingdings" pitchFamily="2" charset="2"/>
              <a:buChar char="Ø"/>
            </a:pPr>
            <a:r>
              <a:rPr lang="ja-JP" altLang="en-US" sz="2100">
                <a:effectLst/>
                <a:latin typeface="Meiryo" panose="020B0604030504040204" pitchFamily="34" charset="-128"/>
                <a:ea typeface="Meiryo" panose="020B0604030504040204" pitchFamily="34" charset="-128"/>
              </a:rPr>
              <a:t>主要なデータ周期を表す</a:t>
            </a:r>
            <a:r>
              <a:rPr kumimoji="1" lang="ja-JP" altLang="en-US" sz="2100">
                <a:latin typeface="Meiryo" panose="020B0604030504040204" pitchFamily="34" charset="-128"/>
                <a:ea typeface="Meiryo" panose="020B0604030504040204" pitchFamily="34" charset="-128"/>
              </a:rPr>
              <a:t>主要周波数</a:t>
            </a:r>
            <a:endParaRPr kumimoji="1" lang="en-US" altLang="ja-JP" sz="2100" dirty="0">
              <a:latin typeface="Meiryo" panose="020B0604030504040204" pitchFamily="34" charset="-128"/>
              <a:ea typeface="Meiryo" panose="020B0604030504040204" pitchFamily="34" charset="-128"/>
            </a:endParaRPr>
          </a:p>
          <a:p>
            <a:pPr lvl="1"/>
            <a:endParaRPr kumimoji="1" lang="en-US" altLang="ja-JP" sz="2100"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kumimoji="1" lang="ja-JP" altLang="en-US" sz="2100">
                <a:latin typeface="Meiryo" panose="020B0604030504040204" pitchFamily="34" charset="-128"/>
                <a:ea typeface="Meiryo" panose="020B0604030504040204" pitchFamily="34" charset="-128"/>
              </a:rPr>
              <a:t>対照学習</a:t>
            </a:r>
            <a:endParaRPr kumimoji="1" lang="en-US" altLang="ja-JP" sz="2100" dirty="0">
              <a:latin typeface="Meiryo" panose="020B0604030504040204" pitchFamily="34" charset="-128"/>
              <a:ea typeface="Meiryo" panose="020B0604030504040204" pitchFamily="34" charset="-128"/>
            </a:endParaRPr>
          </a:p>
          <a:p>
            <a:pPr marL="742950" lvl="1" indent="-285750">
              <a:buFont typeface="Wingdings" pitchFamily="2" charset="2"/>
              <a:buChar char="Ø"/>
            </a:pPr>
            <a:r>
              <a:rPr kumimoji="1" lang="ja-JP" altLang="en-US" sz="2100">
                <a:latin typeface="Meiryo" panose="020B0604030504040204" pitchFamily="34" charset="-128"/>
                <a:ea typeface="Meiryo" panose="020B0604030504040204" pitchFamily="34" charset="-128"/>
              </a:rPr>
              <a:t>統計的特徴量が近いものを正のペア</a:t>
            </a:r>
            <a:endParaRPr kumimoji="1" lang="en-US" altLang="ja-JP" sz="2100" dirty="0">
              <a:latin typeface="Meiryo" panose="020B0604030504040204" pitchFamily="34" charset="-128"/>
              <a:ea typeface="Meiryo" panose="020B0604030504040204" pitchFamily="34" charset="-128"/>
            </a:endParaRPr>
          </a:p>
          <a:p>
            <a:pPr marL="742950" lvl="1" indent="-285750">
              <a:buFont typeface="Wingdings" pitchFamily="2" charset="2"/>
              <a:buChar char="Ø"/>
            </a:pPr>
            <a:r>
              <a:rPr kumimoji="1" lang="ja-JP" altLang="en-US" sz="2100">
                <a:latin typeface="Meiryo" panose="020B0604030504040204" pitchFamily="34" charset="-128"/>
                <a:ea typeface="Meiryo" panose="020B0604030504040204" pitchFamily="34" charset="-128"/>
              </a:rPr>
              <a:t>統計的特徴量が遠いものを負のペア</a:t>
            </a:r>
            <a:endParaRPr kumimoji="1" lang="en-US" altLang="ja-JP" sz="2100"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endParaRPr kumimoji="1" lang="ja-JP" altLang="en-US" sz="2100"/>
          </a:p>
        </p:txBody>
      </p:sp>
      <p:pic>
        <p:nvPicPr>
          <p:cNvPr id="19" name="図 18">
            <a:extLst>
              <a:ext uri="{FF2B5EF4-FFF2-40B4-BE49-F238E27FC236}">
                <a16:creationId xmlns:a16="http://schemas.microsoft.com/office/drawing/2014/main" id="{CC1F0427-0981-AB88-D4C9-FE5D3C8FC3C7}"/>
              </a:ext>
            </a:extLst>
          </p:cNvPr>
          <p:cNvPicPr>
            <a:picLocks noChangeAspect="1"/>
          </p:cNvPicPr>
          <p:nvPr/>
        </p:nvPicPr>
        <p:blipFill>
          <a:blip r:embed="rId3"/>
          <a:stretch>
            <a:fillRect/>
          </a:stretch>
        </p:blipFill>
        <p:spPr>
          <a:xfrm>
            <a:off x="6368796" y="901422"/>
            <a:ext cx="5371734" cy="5591453"/>
          </a:xfrm>
          <a:prstGeom prst="rect">
            <a:avLst/>
          </a:prstGeom>
        </p:spPr>
      </p:pic>
      <p:sp>
        <p:nvSpPr>
          <p:cNvPr id="20" name="Date Placeholder 10">
            <a:extLst>
              <a:ext uri="{FF2B5EF4-FFF2-40B4-BE49-F238E27FC236}">
                <a16:creationId xmlns:a16="http://schemas.microsoft.com/office/drawing/2014/main" id="{0FD277CD-353B-2370-B82B-9C3DD60B519C}"/>
              </a:ext>
            </a:extLst>
          </p:cNvPr>
          <p:cNvSpPr>
            <a:spLocks noGrp="1"/>
          </p:cNvSpPr>
          <p:nvPr>
            <p:ph type="dt" sz="half" idx="10"/>
          </p:nvPr>
        </p:nvSpPr>
        <p:spPr>
          <a:xfrm>
            <a:off x="838200" y="6553200"/>
            <a:ext cx="2743200" cy="365125"/>
          </a:xfrm>
        </p:spPr>
        <p:txBody>
          <a:bodyPr/>
          <a:lstStyle/>
          <a:p>
            <a:r>
              <a:rPr lang="en-US" altLang="ja-JP" dirty="0"/>
              <a:t>2025/2/27</a:t>
            </a:r>
            <a:endParaRPr lang="en-US" dirty="0"/>
          </a:p>
        </p:txBody>
      </p:sp>
      <p:sp>
        <p:nvSpPr>
          <p:cNvPr id="21" name="フッター プレースホルダー 4">
            <a:extLst>
              <a:ext uri="{FF2B5EF4-FFF2-40B4-BE49-F238E27FC236}">
                <a16:creationId xmlns:a16="http://schemas.microsoft.com/office/drawing/2014/main" id="{FA8ADD43-ED8C-0EEC-8B44-8743079547B1}"/>
              </a:ext>
            </a:extLst>
          </p:cNvPr>
          <p:cNvSpPr>
            <a:spLocks noGrp="1"/>
          </p:cNvSpPr>
          <p:nvPr>
            <p:ph type="ftr" sz="quarter" idx="11"/>
          </p:nvPr>
        </p:nvSpPr>
        <p:spPr>
          <a:xfrm>
            <a:off x="4038600" y="6553200"/>
            <a:ext cx="4114800" cy="365125"/>
          </a:xfrm>
        </p:spPr>
        <p:txBody>
          <a:bodyPr/>
          <a:lstStyle/>
          <a:p>
            <a:r>
              <a:rPr lang="fi-FI"/>
              <a:t>Tsubasa Kato @ Sakurai Lab.</a:t>
            </a:r>
            <a:endParaRPr lang="en-US" dirty="0"/>
          </a:p>
        </p:txBody>
      </p:sp>
    </p:spTree>
    <p:extLst>
      <p:ext uri="{BB962C8B-B14F-4D97-AF65-F5344CB8AC3E}">
        <p14:creationId xmlns:p14="http://schemas.microsoft.com/office/powerpoint/2010/main" val="23904269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C0DDF4-95C5-4E5B-7E91-BEE463DA330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58BCA43-C674-8EE8-6FC3-7A6CE7BA29B6}"/>
              </a:ext>
            </a:extLst>
          </p:cNvPr>
          <p:cNvSpPr>
            <a:spLocks noGrp="1"/>
          </p:cNvSpPr>
          <p:nvPr>
            <p:ph type="title"/>
          </p:nvPr>
        </p:nvSpPr>
        <p:spPr>
          <a:xfrm>
            <a:off x="548268" y="284244"/>
            <a:ext cx="10515600" cy="727695"/>
          </a:xfrm>
        </p:spPr>
        <p:txBody>
          <a:bodyPr>
            <a:normAutofit/>
          </a:bodyPr>
          <a:lstStyle/>
          <a:p>
            <a:pPr algn="l"/>
            <a:r>
              <a:rPr kumimoji="1" lang="ja-JP" altLang="en-US" sz="3200" b="0">
                <a:solidFill>
                  <a:schemeClr val="tx1"/>
                </a:solidFill>
                <a:latin typeface="Meiryo" panose="020B0604030504040204" pitchFamily="34" charset="-128"/>
                <a:ea typeface="Meiryo" panose="020B0604030504040204" pitchFamily="34" charset="-128"/>
              </a:rPr>
              <a:t>状態パターン検出</a:t>
            </a:r>
          </a:p>
        </p:txBody>
      </p:sp>
      <p:cxnSp>
        <p:nvCxnSpPr>
          <p:cNvPr id="7" name="Straight Connector 6">
            <a:extLst>
              <a:ext uri="{FF2B5EF4-FFF2-40B4-BE49-F238E27FC236}">
                <a16:creationId xmlns:a16="http://schemas.microsoft.com/office/drawing/2014/main" id="{67AC7785-8B2C-D1BC-298D-CAC8CEF4E5E5}"/>
              </a:ext>
            </a:extLst>
          </p:cNvPr>
          <p:cNvCxnSpPr>
            <a:cxnSpLocks/>
          </p:cNvCxnSpPr>
          <p:nvPr/>
        </p:nvCxnSpPr>
        <p:spPr>
          <a:xfrm>
            <a:off x="646043" y="874643"/>
            <a:ext cx="10694505"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DC57FFA7-F231-16D2-9A8D-96DF80182BB3}"/>
              </a:ext>
            </a:extLst>
          </p:cNvPr>
          <p:cNvSpPr>
            <a:spLocks noGrp="1"/>
          </p:cNvSpPr>
          <p:nvPr>
            <p:ph type="sldNum" sz="quarter" idx="12"/>
          </p:nvPr>
        </p:nvSpPr>
        <p:spPr/>
        <p:txBody>
          <a:bodyPr/>
          <a:lstStyle/>
          <a:p>
            <a:fld id="{6675BFCB-789E-5945-84C6-0973649846BB}" type="slidenum">
              <a:rPr lang="en-US" smtClean="0"/>
              <a:pPr/>
              <a:t>19</a:t>
            </a:fld>
            <a:endParaRPr lang="en-US" dirty="0"/>
          </a:p>
        </p:txBody>
      </p:sp>
      <p:pic>
        <p:nvPicPr>
          <p:cNvPr id="3" name="図 2">
            <a:extLst>
              <a:ext uri="{FF2B5EF4-FFF2-40B4-BE49-F238E27FC236}">
                <a16:creationId xmlns:a16="http://schemas.microsoft.com/office/drawing/2014/main" id="{5F9DA2CA-7702-E62A-DE83-4B876BB86A9B}"/>
              </a:ext>
            </a:extLst>
          </p:cNvPr>
          <p:cNvPicPr>
            <a:picLocks noChangeAspect="1"/>
          </p:cNvPicPr>
          <p:nvPr/>
        </p:nvPicPr>
        <p:blipFill>
          <a:blip r:embed="rId3"/>
          <a:stretch>
            <a:fillRect/>
          </a:stretch>
        </p:blipFill>
        <p:spPr>
          <a:xfrm>
            <a:off x="5806068" y="989837"/>
            <a:ext cx="5322149" cy="5426068"/>
          </a:xfrm>
          <a:prstGeom prst="rect">
            <a:avLst/>
          </a:prstGeom>
        </p:spPr>
      </p:pic>
      <p:sp>
        <p:nvSpPr>
          <p:cNvPr id="4" name="テキスト ボックス 3">
            <a:extLst>
              <a:ext uri="{FF2B5EF4-FFF2-40B4-BE49-F238E27FC236}">
                <a16:creationId xmlns:a16="http://schemas.microsoft.com/office/drawing/2014/main" id="{C2F659E5-7E55-F401-7AA9-4D9914EDC7DC}"/>
              </a:ext>
            </a:extLst>
          </p:cNvPr>
          <p:cNvSpPr txBox="1"/>
          <p:nvPr/>
        </p:nvSpPr>
        <p:spPr>
          <a:xfrm>
            <a:off x="285825" y="1371600"/>
            <a:ext cx="5830957" cy="3816429"/>
          </a:xfrm>
          <a:prstGeom prst="rect">
            <a:avLst/>
          </a:prstGeom>
          <a:noFill/>
        </p:spPr>
        <p:txBody>
          <a:bodyPr wrap="square" rtlCol="0">
            <a:spAutoFit/>
          </a:bodyPr>
          <a:lstStyle/>
          <a:p>
            <a:endParaRPr kumimoji="1" lang="en-US" altLang="ja-JP" sz="2200" dirty="0">
              <a:latin typeface="Meiryo" panose="020B0604030504040204" pitchFamily="34" charset="-128"/>
              <a:ea typeface="Meiryo" panose="020B0604030504040204" pitchFamily="34" charset="-128"/>
            </a:endParaRPr>
          </a:p>
          <a:p>
            <a:pPr marL="742950" lvl="1" indent="-285750">
              <a:buFont typeface="Wingdings" pitchFamily="2" charset="2"/>
              <a:buChar char="Ø"/>
            </a:pPr>
            <a:r>
              <a:rPr kumimoji="1" lang="ja-JP" altLang="en-US" sz="2200">
                <a:latin typeface="Meiryo" panose="020B0604030504040204" pitchFamily="34" charset="-128"/>
                <a:ea typeface="Meiryo" panose="020B0604030504040204" pitchFamily="34" charset="-128"/>
              </a:rPr>
              <a:t>時系列データをウィンドウ幅で分割し</a:t>
            </a:r>
            <a:r>
              <a:rPr kumimoji="1" lang="en-US" altLang="ja-JP" sz="2200" dirty="0">
                <a:latin typeface="Meiryo" panose="020B0604030504040204" pitchFamily="34" charset="-128"/>
                <a:ea typeface="Meiryo" panose="020B0604030504040204" pitchFamily="34" charset="-128"/>
              </a:rPr>
              <a:t>, </a:t>
            </a:r>
            <a:br>
              <a:rPr kumimoji="1" lang="en-US" altLang="ja-JP" sz="2200" dirty="0">
                <a:latin typeface="Meiryo" panose="020B0604030504040204" pitchFamily="34" charset="-128"/>
                <a:ea typeface="Meiryo" panose="020B0604030504040204" pitchFamily="34" charset="-128"/>
              </a:rPr>
            </a:br>
            <a:r>
              <a:rPr kumimoji="1" lang="ja-JP" altLang="en-US" sz="2200">
                <a:latin typeface="Meiryo" panose="020B0604030504040204" pitchFamily="34" charset="-128"/>
                <a:ea typeface="Meiryo" panose="020B0604030504040204" pitchFamily="34" charset="-128"/>
              </a:rPr>
              <a:t>部分時系列に対してエンコード</a:t>
            </a:r>
            <a:br>
              <a:rPr kumimoji="1" lang="en-US" altLang="ja-JP" sz="2200" dirty="0">
                <a:latin typeface="Meiryo" panose="020B0604030504040204" pitchFamily="34" charset="-128"/>
                <a:ea typeface="Meiryo" panose="020B0604030504040204" pitchFamily="34" charset="-128"/>
              </a:rPr>
            </a:br>
            <a:endParaRPr kumimoji="1" lang="en-US" altLang="ja-JP" sz="2200" dirty="0">
              <a:latin typeface="Meiryo" panose="020B0604030504040204" pitchFamily="34" charset="-128"/>
              <a:ea typeface="Meiryo" panose="020B0604030504040204" pitchFamily="34" charset="-128"/>
            </a:endParaRPr>
          </a:p>
          <a:p>
            <a:pPr marL="742950" lvl="1" indent="-285750">
              <a:buFont typeface="Wingdings" pitchFamily="2" charset="2"/>
              <a:buChar char="Ø"/>
            </a:pPr>
            <a:r>
              <a:rPr kumimoji="1" lang="ja-JP" altLang="en-US" sz="2200">
                <a:latin typeface="Meiryo" panose="020B0604030504040204" pitchFamily="34" charset="-128"/>
                <a:ea typeface="Meiryo" panose="020B0604030504040204" pitchFamily="34" charset="-128"/>
              </a:rPr>
              <a:t>クラスタリングで状態を検出</a:t>
            </a:r>
            <a:br>
              <a:rPr kumimoji="1" lang="en-US" altLang="ja-JP" sz="2200" dirty="0">
                <a:latin typeface="Meiryo" panose="020B0604030504040204" pitchFamily="34" charset="-128"/>
                <a:ea typeface="Meiryo" panose="020B0604030504040204" pitchFamily="34" charset="-128"/>
              </a:rPr>
            </a:br>
            <a:endParaRPr kumimoji="1" lang="en-US" altLang="ja-JP" sz="2200" dirty="0">
              <a:latin typeface="Meiryo" panose="020B0604030504040204" pitchFamily="34" charset="-128"/>
              <a:ea typeface="Meiryo" panose="020B0604030504040204" pitchFamily="34" charset="-128"/>
            </a:endParaRPr>
          </a:p>
          <a:p>
            <a:pPr marL="742950" lvl="1" indent="-285750">
              <a:buFont typeface="Wingdings" pitchFamily="2" charset="2"/>
              <a:buChar char="Ø"/>
            </a:pPr>
            <a:r>
              <a:rPr kumimoji="1" lang="ja-JP" altLang="en-US" sz="2200">
                <a:latin typeface="Meiryo" panose="020B0604030504040204" pitchFamily="34" charset="-128"/>
                <a:ea typeface="Meiryo" panose="020B0604030504040204" pitchFamily="34" charset="-128"/>
              </a:rPr>
              <a:t>各観測点に複数のクラスタリング結果が付与</a:t>
            </a:r>
            <a:endParaRPr kumimoji="1" lang="en-US" altLang="ja-JP" sz="2200" dirty="0">
              <a:latin typeface="Meiryo" panose="020B0604030504040204" pitchFamily="34" charset="-128"/>
              <a:ea typeface="Meiryo" panose="020B0604030504040204" pitchFamily="34" charset="-128"/>
            </a:endParaRPr>
          </a:p>
          <a:p>
            <a:pPr marL="742950" lvl="1" indent="-285750">
              <a:buFont typeface="Wingdings" pitchFamily="2" charset="2"/>
              <a:buChar char="Ø"/>
            </a:pPr>
            <a:endParaRPr kumimoji="1" lang="en-US" altLang="ja-JP" sz="2200" dirty="0">
              <a:latin typeface="Meiryo" panose="020B0604030504040204" pitchFamily="34" charset="-128"/>
              <a:ea typeface="Meiryo" panose="020B0604030504040204" pitchFamily="34" charset="-128"/>
            </a:endParaRPr>
          </a:p>
          <a:p>
            <a:pPr marL="742950" lvl="1" indent="-285750">
              <a:buFont typeface="Wingdings" pitchFamily="2" charset="2"/>
              <a:buChar char="Ø"/>
            </a:pPr>
            <a:r>
              <a:rPr kumimoji="1" lang="en-US" altLang="ja-JP" sz="2200" dirty="0">
                <a:latin typeface="Meiryo" panose="020B0604030504040204" pitchFamily="34" charset="-128"/>
                <a:ea typeface="Meiryo" panose="020B0604030504040204" pitchFamily="34" charset="-128"/>
              </a:rPr>
              <a:t> </a:t>
            </a:r>
            <a:r>
              <a:rPr kumimoji="1" lang="ja-JP" altLang="en-US" sz="2200">
                <a:latin typeface="Meiryo" panose="020B0604030504040204" pitchFamily="34" charset="-128"/>
                <a:ea typeface="Meiryo" panose="020B0604030504040204" pitchFamily="34" charset="-128"/>
              </a:rPr>
              <a:t>最多の割り当てを最終のクラスタリング結果</a:t>
            </a:r>
            <a:endParaRPr kumimoji="1" lang="en-US" altLang="ja-JP" sz="2200" dirty="0">
              <a:latin typeface="Meiryo" panose="020B0604030504040204" pitchFamily="34" charset="-128"/>
              <a:ea typeface="Meiryo" panose="020B0604030504040204" pitchFamily="34" charset="-128"/>
            </a:endParaRPr>
          </a:p>
        </p:txBody>
      </p:sp>
      <p:sp>
        <p:nvSpPr>
          <p:cNvPr id="5" name="Date Placeholder 10">
            <a:extLst>
              <a:ext uri="{FF2B5EF4-FFF2-40B4-BE49-F238E27FC236}">
                <a16:creationId xmlns:a16="http://schemas.microsoft.com/office/drawing/2014/main" id="{52B6E488-8971-EF7F-F44A-C5D6E2FFE94C}"/>
              </a:ext>
            </a:extLst>
          </p:cNvPr>
          <p:cNvSpPr>
            <a:spLocks noGrp="1"/>
          </p:cNvSpPr>
          <p:nvPr>
            <p:ph type="dt" sz="half" idx="10"/>
          </p:nvPr>
        </p:nvSpPr>
        <p:spPr>
          <a:xfrm>
            <a:off x="838200" y="6553200"/>
            <a:ext cx="2743200" cy="365125"/>
          </a:xfrm>
        </p:spPr>
        <p:txBody>
          <a:bodyPr/>
          <a:lstStyle/>
          <a:p>
            <a:r>
              <a:rPr lang="en-US" altLang="ja-JP" dirty="0"/>
              <a:t>2025/2/27</a:t>
            </a:r>
            <a:endParaRPr lang="en-US" dirty="0"/>
          </a:p>
        </p:txBody>
      </p:sp>
      <p:sp>
        <p:nvSpPr>
          <p:cNvPr id="8" name="フッター プレースホルダー 4">
            <a:extLst>
              <a:ext uri="{FF2B5EF4-FFF2-40B4-BE49-F238E27FC236}">
                <a16:creationId xmlns:a16="http://schemas.microsoft.com/office/drawing/2014/main" id="{C7C6BDA8-0CF9-C78D-051B-E638476CD7F9}"/>
              </a:ext>
            </a:extLst>
          </p:cNvPr>
          <p:cNvSpPr>
            <a:spLocks noGrp="1"/>
          </p:cNvSpPr>
          <p:nvPr>
            <p:ph type="ftr" sz="quarter" idx="11"/>
          </p:nvPr>
        </p:nvSpPr>
        <p:spPr>
          <a:xfrm>
            <a:off x="4038600" y="6553200"/>
            <a:ext cx="4114800" cy="365125"/>
          </a:xfrm>
        </p:spPr>
        <p:txBody>
          <a:bodyPr/>
          <a:lstStyle/>
          <a:p>
            <a:r>
              <a:rPr lang="fi-FI"/>
              <a:t>Tsubasa Kato @ Sakurai Lab.</a:t>
            </a:r>
            <a:endParaRPr lang="en-US" dirty="0"/>
          </a:p>
        </p:txBody>
      </p:sp>
    </p:spTree>
    <p:extLst>
      <p:ext uri="{BB962C8B-B14F-4D97-AF65-F5344CB8AC3E}">
        <p14:creationId xmlns:p14="http://schemas.microsoft.com/office/powerpoint/2010/main" val="19213053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14FC32-AEC2-0CAB-9BE2-9427F0455C0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FE53191-657F-9586-46F8-E8A6C6D4DB16}"/>
              </a:ext>
            </a:extLst>
          </p:cNvPr>
          <p:cNvSpPr>
            <a:spLocks noGrp="1"/>
          </p:cNvSpPr>
          <p:nvPr>
            <p:ph type="title"/>
          </p:nvPr>
        </p:nvSpPr>
        <p:spPr>
          <a:xfrm>
            <a:off x="548268" y="284244"/>
            <a:ext cx="10515600" cy="727695"/>
          </a:xfrm>
        </p:spPr>
        <p:txBody>
          <a:bodyPr>
            <a:normAutofit/>
          </a:bodyPr>
          <a:lstStyle/>
          <a:p>
            <a:pPr algn="l"/>
            <a:r>
              <a:rPr kumimoji="1" lang="ja-JP" altLang="en-US" sz="3200">
                <a:latin typeface="Meiryo" panose="020B0604030504040204" pitchFamily="34" charset="-128"/>
                <a:ea typeface="Meiryo" panose="020B0604030504040204" pitchFamily="34" charset="-128"/>
              </a:rPr>
              <a:t>クラスタリング</a:t>
            </a:r>
            <a:endParaRPr kumimoji="1" lang="ja-JP" altLang="en-US" sz="3200" b="0">
              <a:solidFill>
                <a:schemeClr val="tx1"/>
              </a:solidFill>
              <a:latin typeface="Meiryo" panose="020B0604030504040204" pitchFamily="34" charset="-128"/>
              <a:ea typeface="Meiryo" panose="020B0604030504040204" pitchFamily="34" charset="-128"/>
            </a:endParaRPr>
          </a:p>
        </p:txBody>
      </p:sp>
      <p:cxnSp>
        <p:nvCxnSpPr>
          <p:cNvPr id="7" name="Straight Connector 6">
            <a:extLst>
              <a:ext uri="{FF2B5EF4-FFF2-40B4-BE49-F238E27FC236}">
                <a16:creationId xmlns:a16="http://schemas.microsoft.com/office/drawing/2014/main" id="{C7751EBA-3555-DCF3-0074-02BA9356DF5E}"/>
              </a:ext>
            </a:extLst>
          </p:cNvPr>
          <p:cNvCxnSpPr>
            <a:cxnSpLocks/>
          </p:cNvCxnSpPr>
          <p:nvPr/>
        </p:nvCxnSpPr>
        <p:spPr>
          <a:xfrm>
            <a:off x="646043" y="874643"/>
            <a:ext cx="10694505"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FD9028C1-73DB-35BA-C8B4-C0D0CC599E13}"/>
              </a:ext>
            </a:extLst>
          </p:cNvPr>
          <p:cNvSpPr>
            <a:spLocks noGrp="1"/>
          </p:cNvSpPr>
          <p:nvPr>
            <p:ph type="sldNum" sz="quarter" idx="12"/>
          </p:nvPr>
        </p:nvSpPr>
        <p:spPr/>
        <p:txBody>
          <a:bodyPr/>
          <a:lstStyle/>
          <a:p>
            <a:fld id="{6675BFCB-789E-5945-84C6-0973649846BB}" type="slidenum">
              <a:rPr lang="en-US" smtClean="0"/>
              <a:pPr/>
              <a:t>20</a:t>
            </a:fld>
            <a:endParaRPr lang="en-US" dirty="0"/>
          </a:p>
        </p:txBody>
      </p:sp>
      <p:sp>
        <p:nvSpPr>
          <p:cNvPr id="4" name="テキスト ボックス 3">
            <a:extLst>
              <a:ext uri="{FF2B5EF4-FFF2-40B4-BE49-F238E27FC236}">
                <a16:creationId xmlns:a16="http://schemas.microsoft.com/office/drawing/2014/main" id="{ACC25EFA-8C62-3FA9-1B67-687BDDA30284}"/>
              </a:ext>
            </a:extLst>
          </p:cNvPr>
          <p:cNvSpPr txBox="1"/>
          <p:nvPr/>
        </p:nvSpPr>
        <p:spPr>
          <a:xfrm>
            <a:off x="667814" y="1066800"/>
            <a:ext cx="10000186" cy="5201424"/>
          </a:xfrm>
          <a:prstGeom prst="rect">
            <a:avLst/>
          </a:prstGeom>
          <a:noFill/>
        </p:spPr>
        <p:txBody>
          <a:bodyPr wrap="square" rtlCol="0">
            <a:spAutoFit/>
          </a:bodyPr>
          <a:lstStyle/>
          <a:p>
            <a:pPr marL="342900" indent="-342900">
              <a:buFont typeface="Wingdings" pitchFamily="2" charset="2"/>
              <a:buChar char="Ø"/>
            </a:pPr>
            <a:r>
              <a:rPr kumimoji="1" lang="ja-JP" altLang="en-US" sz="2200">
                <a:latin typeface="Meiryo" panose="020B0604030504040204" pitchFamily="34" charset="-128"/>
                <a:ea typeface="Meiryo" panose="020B0604030504040204" pitchFamily="34" charset="-128"/>
              </a:rPr>
              <a:t>ノンパラメトリックベイズ法</a:t>
            </a:r>
            <a:endParaRPr kumimoji="1" lang="en-US" altLang="ja-JP" sz="2200" dirty="0">
              <a:latin typeface="Meiryo" panose="020B0604030504040204" pitchFamily="34" charset="-128"/>
              <a:ea typeface="Meiryo" panose="020B0604030504040204" pitchFamily="34" charset="-128"/>
            </a:endParaRPr>
          </a:p>
          <a:p>
            <a:r>
              <a:rPr kumimoji="1" lang="ja-JP" altLang="en-US" sz="2200" b="1">
                <a:latin typeface="Meiryo" panose="020B0604030504040204" pitchFamily="34" charset="-128"/>
                <a:ea typeface="Meiryo" panose="020B0604030504040204" pitchFamily="34" charset="-128"/>
              </a:rPr>
              <a:t>無限次元の確率分布</a:t>
            </a:r>
            <a:r>
              <a:rPr kumimoji="1" lang="ja-JP" altLang="en-US" sz="2200">
                <a:latin typeface="Meiryo" panose="020B0604030504040204" pitchFamily="34" charset="-128"/>
                <a:ea typeface="Meiryo" panose="020B0604030504040204" pitchFamily="34" charset="-128"/>
              </a:rPr>
              <a:t>を仮定しており</a:t>
            </a:r>
            <a:br>
              <a:rPr kumimoji="1" lang="en-US" altLang="ja-JP" sz="2200" dirty="0">
                <a:latin typeface="Meiryo" panose="020B0604030504040204" pitchFamily="34" charset="-128"/>
                <a:ea typeface="Meiryo" panose="020B0604030504040204" pitchFamily="34" charset="-128"/>
              </a:rPr>
            </a:br>
            <a:r>
              <a:rPr kumimoji="1" lang="ja-JP" altLang="en-US" sz="2200">
                <a:latin typeface="Meiryo" panose="020B0604030504040204" pitchFamily="34" charset="-128"/>
                <a:ea typeface="Meiryo" panose="020B0604030504040204" pitchFamily="34" charset="-128"/>
              </a:rPr>
              <a:t>適切な状態数を自動決定</a:t>
            </a:r>
            <a:endParaRPr kumimoji="1" lang="en-US" altLang="ja-JP" sz="2200" dirty="0">
              <a:latin typeface="Meiryo" panose="020B0604030504040204" pitchFamily="34" charset="-128"/>
              <a:ea typeface="Meiryo" panose="020B0604030504040204" pitchFamily="34" charset="-128"/>
            </a:endParaRPr>
          </a:p>
          <a:p>
            <a:endParaRPr kumimoji="1" lang="en-US" altLang="ja-JP" sz="2200" dirty="0">
              <a:latin typeface="Meiryo" panose="020B0604030504040204" pitchFamily="34" charset="-128"/>
              <a:ea typeface="Meiryo" panose="020B0604030504040204" pitchFamily="34" charset="-128"/>
            </a:endParaRPr>
          </a:p>
          <a:p>
            <a:pPr marL="342900" indent="-342900">
              <a:buFont typeface="Wingdings" pitchFamily="2" charset="2"/>
              <a:buChar char="Ø"/>
            </a:pPr>
            <a:r>
              <a:rPr kumimoji="1" lang="en-US" altLang="ja-JP" sz="2200" dirty="0" err="1">
                <a:latin typeface="Meiryo" panose="020B0604030504040204" pitchFamily="34" charset="-128"/>
                <a:ea typeface="Meiryo" panose="020B0604030504040204" pitchFamily="34" charset="-128"/>
              </a:rPr>
              <a:t>MeanShift</a:t>
            </a:r>
            <a:endParaRPr kumimoji="1" lang="en-US" altLang="ja-JP" sz="2200" dirty="0">
              <a:latin typeface="Meiryo" panose="020B0604030504040204" pitchFamily="34" charset="-128"/>
              <a:ea typeface="Meiryo" panose="020B0604030504040204" pitchFamily="34" charset="-128"/>
            </a:endParaRPr>
          </a:p>
          <a:p>
            <a:r>
              <a:rPr kumimoji="1" lang="ja-JP" altLang="en-US" sz="2200" b="1">
                <a:latin typeface="Meiryo" panose="020B0604030504040204" pitchFamily="34" charset="-128"/>
                <a:ea typeface="Meiryo" panose="020B0604030504040204" pitchFamily="34" charset="-128"/>
              </a:rPr>
              <a:t>データの密度分布</a:t>
            </a:r>
            <a:r>
              <a:rPr kumimoji="1" lang="ja-JP" altLang="en-US" sz="2200">
                <a:latin typeface="Meiryo" panose="020B0604030504040204" pitchFamily="34" charset="-128"/>
                <a:ea typeface="Meiryo" panose="020B0604030504040204" pitchFamily="34" charset="-128"/>
              </a:rPr>
              <a:t>に基づいて</a:t>
            </a:r>
            <a:br>
              <a:rPr kumimoji="1" lang="en-US" altLang="ja-JP" sz="2200" dirty="0">
                <a:latin typeface="Meiryo" panose="020B0604030504040204" pitchFamily="34" charset="-128"/>
                <a:ea typeface="Meiryo" panose="020B0604030504040204" pitchFamily="34" charset="-128"/>
              </a:rPr>
            </a:br>
            <a:r>
              <a:rPr kumimoji="1" lang="ja-JP" altLang="en-US" sz="2200">
                <a:latin typeface="Meiryo" panose="020B0604030504040204" pitchFamily="34" charset="-128"/>
                <a:ea typeface="Meiryo" panose="020B0604030504040204" pitchFamily="34" charset="-128"/>
              </a:rPr>
              <a:t>適切な状態数を自動決定</a:t>
            </a:r>
            <a:endParaRPr kumimoji="1" lang="en-US" altLang="ja-JP" sz="2200" dirty="0">
              <a:latin typeface="Meiryo" panose="020B0604030504040204" pitchFamily="34" charset="-128"/>
              <a:ea typeface="Meiryo" panose="020B0604030504040204" pitchFamily="34" charset="-128"/>
            </a:endParaRPr>
          </a:p>
          <a:p>
            <a:r>
              <a:rPr kumimoji="1" lang="ja-JP" altLang="en-US" sz="2200">
                <a:latin typeface="Meiryo" panose="020B0604030504040204" pitchFamily="34" charset="-128"/>
                <a:ea typeface="Meiryo" panose="020B0604030504040204" pitchFamily="34" charset="-128"/>
              </a:rPr>
              <a:t>カーネルの重心に向かってデータが移動し</a:t>
            </a:r>
            <a:br>
              <a:rPr kumimoji="1" lang="en-US" altLang="ja-JP" sz="2200" dirty="0">
                <a:latin typeface="Meiryo" panose="020B0604030504040204" pitchFamily="34" charset="-128"/>
                <a:ea typeface="Meiryo" panose="020B0604030504040204" pitchFamily="34" charset="-128"/>
              </a:rPr>
            </a:br>
            <a:r>
              <a:rPr kumimoji="1" lang="ja-JP" altLang="en-US" sz="2200">
                <a:latin typeface="Meiryo" panose="020B0604030504040204" pitchFamily="34" charset="-128"/>
                <a:ea typeface="Meiryo" panose="020B0604030504040204" pitchFamily="34" charset="-128"/>
              </a:rPr>
              <a:t>データが密集するようにクラスタ化する</a:t>
            </a:r>
            <a:endParaRPr kumimoji="1" lang="en-US" altLang="ja-JP" sz="2200" dirty="0">
              <a:latin typeface="Meiryo" panose="020B0604030504040204" pitchFamily="34" charset="-128"/>
              <a:ea typeface="Meiryo" panose="020B0604030504040204" pitchFamily="34" charset="-128"/>
            </a:endParaRPr>
          </a:p>
          <a:p>
            <a:endParaRPr kumimoji="1" lang="en-US" altLang="ja-JP" sz="2200" dirty="0">
              <a:latin typeface="Meiryo" panose="020B0604030504040204" pitchFamily="34" charset="-128"/>
              <a:ea typeface="Meiryo" panose="020B0604030504040204" pitchFamily="34" charset="-128"/>
            </a:endParaRPr>
          </a:p>
          <a:p>
            <a:pPr marL="342900" indent="-342900">
              <a:buFont typeface="Wingdings" pitchFamily="2" charset="2"/>
              <a:buChar char="Ø"/>
            </a:pPr>
            <a:r>
              <a:rPr kumimoji="1" lang="en-US" altLang="ja-JP" sz="2200" dirty="0">
                <a:latin typeface="Meiryo" panose="020B0604030504040204" pitchFamily="34" charset="-128"/>
                <a:ea typeface="Meiryo" panose="020B0604030504040204" pitchFamily="34" charset="-128"/>
              </a:rPr>
              <a:t>DBSCAN</a:t>
            </a:r>
            <a:r>
              <a:rPr lang="ja-JP" altLang="en" sz="2400"/>
              <a:t>（</a:t>
            </a:r>
            <a:r>
              <a:rPr lang="en" altLang="ja-JP" sz="2400" dirty="0"/>
              <a:t>Density-Based Spatial Clustering of Applications with Noise</a:t>
            </a:r>
            <a:r>
              <a:rPr lang="ja-JP" altLang="en" sz="2400"/>
              <a:t>）</a:t>
            </a:r>
            <a:endParaRPr kumimoji="1" lang="en-US" altLang="ja-JP" sz="2200" dirty="0">
              <a:latin typeface="Meiryo" panose="020B0604030504040204" pitchFamily="34" charset="-128"/>
              <a:ea typeface="Meiryo" panose="020B0604030504040204" pitchFamily="34" charset="-128"/>
            </a:endParaRPr>
          </a:p>
          <a:p>
            <a:r>
              <a:rPr kumimoji="1" lang="ja-JP" altLang="en-US" sz="2200" b="1">
                <a:latin typeface="Meiryo" panose="020B0604030504040204" pitchFamily="34" charset="-128"/>
                <a:ea typeface="Meiryo" panose="020B0604030504040204" pitchFamily="34" charset="-128"/>
              </a:rPr>
              <a:t>データの局所的な密度</a:t>
            </a:r>
            <a:r>
              <a:rPr kumimoji="1" lang="ja-JP" altLang="en-US" sz="2200">
                <a:latin typeface="Meiryo" panose="020B0604030504040204" pitchFamily="34" charset="-128"/>
                <a:ea typeface="Meiryo" panose="020B0604030504040204" pitchFamily="34" charset="-128"/>
              </a:rPr>
              <a:t>に基づいて</a:t>
            </a:r>
            <a:endParaRPr kumimoji="1" lang="en-US" altLang="ja-JP" sz="2200" dirty="0">
              <a:latin typeface="Meiryo" panose="020B0604030504040204" pitchFamily="34" charset="-128"/>
              <a:ea typeface="Meiryo" panose="020B0604030504040204" pitchFamily="34" charset="-128"/>
            </a:endParaRPr>
          </a:p>
          <a:p>
            <a:r>
              <a:rPr kumimoji="1" lang="ja-JP" altLang="en-US" sz="2200">
                <a:latin typeface="Meiryo" panose="020B0604030504040204" pitchFamily="34" charset="-128"/>
                <a:ea typeface="Meiryo" panose="020B0604030504040204" pitchFamily="34" charset="-128"/>
              </a:rPr>
              <a:t>適切な状態数を自動決定</a:t>
            </a:r>
            <a:endParaRPr kumimoji="1" lang="en-US" altLang="ja-JP" sz="2200" dirty="0">
              <a:latin typeface="Meiryo" panose="020B0604030504040204" pitchFamily="34" charset="-128"/>
              <a:ea typeface="Meiryo" panose="020B0604030504040204" pitchFamily="34" charset="-128"/>
            </a:endParaRPr>
          </a:p>
          <a:p>
            <a:r>
              <a:rPr kumimoji="1" lang="ja-JP" altLang="en-US" sz="2200">
                <a:latin typeface="Meiryo" panose="020B0604030504040204" pitchFamily="34" charset="-128"/>
                <a:ea typeface="Meiryo" panose="020B0604030504040204" pitchFamily="34" charset="-128"/>
              </a:rPr>
              <a:t>一定以上の密度をクラスタ化し</a:t>
            </a:r>
            <a:br>
              <a:rPr kumimoji="1" lang="en-US" altLang="ja-JP" sz="2200" dirty="0">
                <a:latin typeface="Meiryo" panose="020B0604030504040204" pitchFamily="34" charset="-128"/>
                <a:ea typeface="Meiryo" panose="020B0604030504040204" pitchFamily="34" charset="-128"/>
              </a:rPr>
            </a:br>
            <a:r>
              <a:rPr kumimoji="1" lang="ja-JP" altLang="en-US" sz="2200">
                <a:latin typeface="Meiryo" panose="020B0604030504040204" pitchFamily="34" charset="-128"/>
                <a:ea typeface="Meiryo" panose="020B0604030504040204" pitchFamily="34" charset="-128"/>
              </a:rPr>
              <a:t>それ以外の点をノイズとして認識する</a:t>
            </a:r>
            <a:endParaRPr kumimoji="1" lang="en-US" altLang="ja-JP" sz="2200" dirty="0">
              <a:latin typeface="Meiryo" panose="020B0604030504040204" pitchFamily="34" charset="-128"/>
              <a:ea typeface="Meiryo" panose="020B0604030504040204" pitchFamily="34" charset="-128"/>
            </a:endParaRPr>
          </a:p>
        </p:txBody>
      </p:sp>
      <p:sp>
        <p:nvSpPr>
          <p:cNvPr id="5" name="Date Placeholder 10">
            <a:extLst>
              <a:ext uri="{FF2B5EF4-FFF2-40B4-BE49-F238E27FC236}">
                <a16:creationId xmlns:a16="http://schemas.microsoft.com/office/drawing/2014/main" id="{F187E288-E361-4AAA-8388-7DAF0D4E73C1}"/>
              </a:ext>
            </a:extLst>
          </p:cNvPr>
          <p:cNvSpPr>
            <a:spLocks noGrp="1"/>
          </p:cNvSpPr>
          <p:nvPr>
            <p:ph type="dt" sz="half" idx="10"/>
          </p:nvPr>
        </p:nvSpPr>
        <p:spPr>
          <a:xfrm>
            <a:off x="838200" y="6553200"/>
            <a:ext cx="2743200" cy="365125"/>
          </a:xfrm>
        </p:spPr>
        <p:txBody>
          <a:bodyPr/>
          <a:lstStyle/>
          <a:p>
            <a:r>
              <a:rPr lang="en-US" altLang="ja-JP" dirty="0"/>
              <a:t>2025/2/27</a:t>
            </a:r>
            <a:endParaRPr lang="en-US" dirty="0"/>
          </a:p>
        </p:txBody>
      </p:sp>
      <p:sp>
        <p:nvSpPr>
          <p:cNvPr id="8" name="フッター プレースホルダー 4">
            <a:extLst>
              <a:ext uri="{FF2B5EF4-FFF2-40B4-BE49-F238E27FC236}">
                <a16:creationId xmlns:a16="http://schemas.microsoft.com/office/drawing/2014/main" id="{15ABF3AE-6E6A-0E44-E215-B6E71C345A2C}"/>
              </a:ext>
            </a:extLst>
          </p:cNvPr>
          <p:cNvSpPr>
            <a:spLocks noGrp="1"/>
          </p:cNvSpPr>
          <p:nvPr>
            <p:ph type="ftr" sz="quarter" idx="11"/>
          </p:nvPr>
        </p:nvSpPr>
        <p:spPr>
          <a:xfrm>
            <a:off x="4038600" y="6553200"/>
            <a:ext cx="4114800" cy="365125"/>
          </a:xfrm>
        </p:spPr>
        <p:txBody>
          <a:bodyPr/>
          <a:lstStyle/>
          <a:p>
            <a:r>
              <a:rPr lang="fi-FI"/>
              <a:t>Tsubasa Kato @ Sakurai Lab.</a:t>
            </a:r>
            <a:endParaRPr lang="en-US" dirty="0"/>
          </a:p>
        </p:txBody>
      </p:sp>
      <p:pic>
        <p:nvPicPr>
          <p:cNvPr id="9" name="図 8">
            <a:extLst>
              <a:ext uri="{FF2B5EF4-FFF2-40B4-BE49-F238E27FC236}">
                <a16:creationId xmlns:a16="http://schemas.microsoft.com/office/drawing/2014/main" id="{9113E510-F3D6-E60B-6F5A-BECFDCC0738C}"/>
              </a:ext>
            </a:extLst>
          </p:cNvPr>
          <p:cNvPicPr>
            <a:picLocks noChangeAspect="1"/>
          </p:cNvPicPr>
          <p:nvPr/>
        </p:nvPicPr>
        <p:blipFill>
          <a:blip r:embed="rId3"/>
          <a:stretch>
            <a:fillRect/>
          </a:stretch>
        </p:blipFill>
        <p:spPr>
          <a:xfrm>
            <a:off x="7198695" y="1371600"/>
            <a:ext cx="4434895" cy="2030260"/>
          </a:xfrm>
          <a:prstGeom prst="rect">
            <a:avLst/>
          </a:prstGeom>
        </p:spPr>
      </p:pic>
      <p:sp>
        <p:nvSpPr>
          <p:cNvPr id="10" name="TextBox 3">
            <a:extLst>
              <a:ext uri="{FF2B5EF4-FFF2-40B4-BE49-F238E27FC236}">
                <a16:creationId xmlns:a16="http://schemas.microsoft.com/office/drawing/2014/main" id="{0571EAF1-2F97-20D6-E4F4-8C9787701B7F}"/>
              </a:ext>
            </a:extLst>
          </p:cNvPr>
          <p:cNvSpPr txBox="1"/>
          <p:nvPr/>
        </p:nvSpPr>
        <p:spPr>
          <a:xfrm>
            <a:off x="7687697" y="3517559"/>
            <a:ext cx="3914854" cy="338554"/>
          </a:xfrm>
          <a:prstGeom prst="rect">
            <a:avLst/>
          </a:prstGeom>
          <a:noFill/>
        </p:spPr>
        <p:txBody>
          <a:bodyPr wrap="none" rtlCol="0">
            <a:spAutoFit/>
          </a:bodyPr>
          <a:lstStyle/>
          <a:p>
            <a:r>
              <a:rPr lang="en-JP" sz="1600">
                <a:latin typeface="Meiryo" panose="020B0604030504040204" pitchFamily="34" charset="-128"/>
                <a:ea typeface="Meiryo" panose="020B0604030504040204" pitchFamily="34" charset="-128"/>
              </a:rPr>
              <a:t>図</a:t>
            </a:r>
            <a:r>
              <a:rPr lang="en-US" sz="1600" dirty="0">
                <a:latin typeface="Meiryo" panose="020B0604030504040204" pitchFamily="34" charset="-128"/>
                <a:ea typeface="Meiryo" panose="020B0604030504040204" pitchFamily="34" charset="-128"/>
              </a:rPr>
              <a:t>5</a:t>
            </a:r>
            <a:r>
              <a:rPr lang="en-JP" sz="1600">
                <a:latin typeface="Meiryo" panose="020B0604030504040204" pitchFamily="34" charset="-128"/>
                <a:ea typeface="Meiryo" panose="020B0604030504040204" pitchFamily="34" charset="-128"/>
              </a:rPr>
              <a:t>：</a:t>
            </a:r>
            <a:r>
              <a:rPr lang="ja-JP" altLang="en-US" sz="1600">
                <a:latin typeface="Meiryo" panose="020B0604030504040204" pitchFamily="34" charset="-128"/>
                <a:ea typeface="Meiryo" panose="020B0604030504040204" pitchFamily="34" charset="-128"/>
              </a:rPr>
              <a:t>無限次元に基づくディリクレ分布</a:t>
            </a:r>
            <a:endParaRPr lang="en-JP" sz="1600" dirty="0">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1945032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73F43FC-D398-AC44-8566-8C5A8625A3F8}"/>
              </a:ext>
            </a:extLst>
          </p:cNvPr>
          <p:cNvSpPr>
            <a:spLocks noGrp="1"/>
          </p:cNvSpPr>
          <p:nvPr>
            <p:ph type="title"/>
          </p:nvPr>
        </p:nvSpPr>
        <p:spPr>
          <a:xfrm>
            <a:off x="548268" y="284244"/>
            <a:ext cx="10515600" cy="727695"/>
          </a:xfrm>
        </p:spPr>
        <p:txBody>
          <a:bodyPr>
            <a:normAutofit/>
          </a:bodyPr>
          <a:lstStyle/>
          <a:p>
            <a:pPr algn="l"/>
            <a:r>
              <a:rPr lang="ja-JP" altLang="en-US" sz="3200" b="0">
                <a:solidFill>
                  <a:schemeClr val="tx1"/>
                </a:solidFill>
                <a:latin typeface="Meiryo" panose="020B0604030504040204" pitchFamily="34" charset="-128"/>
                <a:ea typeface="Meiryo" panose="020B0604030504040204" pitchFamily="34" charset="-128"/>
              </a:rPr>
              <a:t>目次</a:t>
            </a:r>
            <a:endParaRPr kumimoji="1" lang="ja-JP" altLang="en-US" sz="3200" b="0">
              <a:solidFill>
                <a:schemeClr val="tx1"/>
              </a:solidFill>
              <a:latin typeface="Meiryo" panose="020B0604030504040204" pitchFamily="34" charset="-128"/>
              <a:ea typeface="Meiryo" panose="020B0604030504040204" pitchFamily="34" charset="-128"/>
            </a:endParaRPr>
          </a:p>
        </p:txBody>
      </p:sp>
      <p:sp>
        <p:nvSpPr>
          <p:cNvPr id="3" name="コンテンツ プレースホルダー 2">
            <a:extLst>
              <a:ext uri="{FF2B5EF4-FFF2-40B4-BE49-F238E27FC236}">
                <a16:creationId xmlns:a16="http://schemas.microsoft.com/office/drawing/2014/main" id="{C9EF43C5-3BF4-1245-8E9B-EF744E11B7DF}"/>
              </a:ext>
            </a:extLst>
          </p:cNvPr>
          <p:cNvSpPr>
            <a:spLocks noGrp="1"/>
          </p:cNvSpPr>
          <p:nvPr>
            <p:ph idx="1"/>
          </p:nvPr>
        </p:nvSpPr>
        <p:spPr>
          <a:xfrm>
            <a:off x="548267" y="1156551"/>
            <a:ext cx="10939539" cy="5015648"/>
          </a:xfrm>
        </p:spPr>
        <p:txBody>
          <a:bodyPr>
            <a:normAutofit/>
          </a:bodyPr>
          <a:lstStyle/>
          <a:p>
            <a:pPr marL="514350" indent="-514350">
              <a:buFont typeface="+mj-lt"/>
              <a:buAutoNum type="arabicPeriod"/>
            </a:pPr>
            <a:r>
              <a:rPr lang="ja-JP" altLang="en-US" sz="2800">
                <a:solidFill>
                  <a:schemeClr val="bg1">
                    <a:lumMod val="65000"/>
                  </a:schemeClr>
                </a:solidFill>
                <a:latin typeface="Meiryo" panose="020B0604030504040204" pitchFamily="34" charset="-128"/>
                <a:ea typeface="Meiryo" panose="020B0604030504040204" pitchFamily="34" charset="-128"/>
              </a:rPr>
              <a:t>研究背景</a:t>
            </a:r>
            <a:endParaRPr lang="en-US" altLang="ja-JP" dirty="0">
              <a:solidFill>
                <a:schemeClr val="bg1">
                  <a:lumMod val="65000"/>
                </a:schemeClr>
              </a:solidFill>
              <a:latin typeface="Meiryo" panose="020B0604030504040204" pitchFamily="34" charset="-128"/>
              <a:ea typeface="Meiryo" panose="020B0604030504040204" pitchFamily="34" charset="-128"/>
            </a:endParaRPr>
          </a:p>
          <a:p>
            <a:pPr marL="514350" indent="-514350">
              <a:buFont typeface="+mj-lt"/>
              <a:buAutoNum type="arabicPeriod"/>
            </a:pPr>
            <a:endParaRPr lang="en-US" altLang="ja-JP" dirty="0">
              <a:solidFill>
                <a:schemeClr val="bg1">
                  <a:lumMod val="65000"/>
                </a:schemeClr>
              </a:solidFill>
              <a:latin typeface="Meiryo" panose="020B0604030504040204" pitchFamily="34" charset="-128"/>
              <a:ea typeface="Meiryo" panose="020B0604030504040204" pitchFamily="34" charset="-128"/>
            </a:endParaRPr>
          </a:p>
          <a:p>
            <a:pPr marL="514350" indent="-514350">
              <a:buFont typeface="+mj-lt"/>
              <a:buAutoNum type="arabicPeriod"/>
            </a:pPr>
            <a:r>
              <a:rPr lang="ja-JP" altLang="en-US" sz="2800">
                <a:solidFill>
                  <a:schemeClr val="bg1">
                    <a:lumMod val="65000"/>
                  </a:schemeClr>
                </a:solidFill>
                <a:latin typeface="Meiryo" panose="020B0604030504040204" pitchFamily="34" charset="-128"/>
                <a:ea typeface="Meiryo" panose="020B0604030504040204" pitchFamily="34" charset="-128"/>
              </a:rPr>
              <a:t>提案手法</a:t>
            </a:r>
            <a:endParaRPr lang="en-US" altLang="ja-JP" sz="2800" dirty="0">
              <a:solidFill>
                <a:schemeClr val="bg1">
                  <a:lumMod val="65000"/>
                </a:schemeClr>
              </a:solidFill>
              <a:latin typeface="Meiryo" panose="020B0604030504040204" pitchFamily="34" charset="-128"/>
              <a:ea typeface="Meiryo" panose="020B0604030504040204" pitchFamily="34" charset="-128"/>
            </a:endParaRPr>
          </a:p>
          <a:p>
            <a:pPr marL="514350" indent="-514350">
              <a:buFont typeface="+mj-lt"/>
              <a:buAutoNum type="arabicPeriod"/>
            </a:pPr>
            <a:endParaRPr lang="en-US" altLang="ja-JP" sz="2800" dirty="0">
              <a:latin typeface="Meiryo" panose="020B0604030504040204" pitchFamily="34" charset="-128"/>
              <a:ea typeface="Meiryo" panose="020B0604030504040204" pitchFamily="34" charset="-128"/>
            </a:endParaRPr>
          </a:p>
          <a:p>
            <a:pPr marL="514350" indent="-514350">
              <a:buFont typeface="+mj-lt"/>
              <a:buAutoNum type="arabicPeriod"/>
            </a:pPr>
            <a:r>
              <a:rPr lang="ja-JP" altLang="en-US" sz="2800" b="1">
                <a:solidFill>
                  <a:schemeClr val="accent1"/>
                </a:solidFill>
                <a:latin typeface="Meiryo" panose="020B0604030504040204" pitchFamily="34" charset="-128"/>
                <a:ea typeface="Meiryo" panose="020B0604030504040204" pitchFamily="34" charset="-128"/>
              </a:rPr>
              <a:t>実験</a:t>
            </a:r>
            <a:endParaRPr lang="en-US" altLang="ja-JP" sz="2800" b="1" dirty="0">
              <a:solidFill>
                <a:schemeClr val="accent1"/>
              </a:solidFill>
              <a:latin typeface="Meiryo" panose="020B0604030504040204" pitchFamily="34" charset="-128"/>
              <a:ea typeface="Meiryo" panose="020B0604030504040204" pitchFamily="34" charset="-128"/>
            </a:endParaRPr>
          </a:p>
          <a:p>
            <a:pPr marL="514350" indent="-514350">
              <a:buFont typeface="+mj-lt"/>
              <a:buAutoNum type="arabicPeriod"/>
            </a:pPr>
            <a:endParaRPr lang="en-US" altLang="ja-JP" sz="2800" dirty="0">
              <a:latin typeface="Meiryo" panose="020B0604030504040204" pitchFamily="34" charset="-128"/>
              <a:ea typeface="Meiryo" panose="020B0604030504040204" pitchFamily="34" charset="-128"/>
            </a:endParaRPr>
          </a:p>
          <a:p>
            <a:pPr marL="514350" indent="-514350">
              <a:buFont typeface="+mj-lt"/>
              <a:buAutoNum type="arabicPeriod"/>
            </a:pPr>
            <a:r>
              <a:rPr lang="ja-JP" altLang="en-US" sz="2800">
                <a:latin typeface="Meiryo" panose="020B0604030504040204" pitchFamily="34" charset="-128"/>
                <a:ea typeface="Meiryo" panose="020B0604030504040204" pitchFamily="34" charset="-128"/>
              </a:rPr>
              <a:t>まとめ</a:t>
            </a:r>
            <a:endParaRPr lang="en-US" altLang="ja-JP" dirty="0">
              <a:latin typeface="Meiryo" panose="020B0604030504040204" pitchFamily="34" charset="-128"/>
              <a:ea typeface="Meiryo" panose="020B0604030504040204" pitchFamily="34" charset="-128"/>
            </a:endParaRPr>
          </a:p>
        </p:txBody>
      </p:sp>
      <p:cxnSp>
        <p:nvCxnSpPr>
          <p:cNvPr id="7" name="Straight Connector 6">
            <a:extLst>
              <a:ext uri="{FF2B5EF4-FFF2-40B4-BE49-F238E27FC236}">
                <a16:creationId xmlns:a16="http://schemas.microsoft.com/office/drawing/2014/main" id="{BB3800FB-FE81-61B1-706C-CDEC701D78C2}"/>
              </a:ext>
            </a:extLst>
          </p:cNvPr>
          <p:cNvCxnSpPr>
            <a:cxnSpLocks/>
          </p:cNvCxnSpPr>
          <p:nvPr/>
        </p:nvCxnSpPr>
        <p:spPr>
          <a:xfrm>
            <a:off x="646043" y="874643"/>
            <a:ext cx="10694505"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DC0957AF-D2F2-0905-4522-099765F9576A}"/>
              </a:ext>
            </a:extLst>
          </p:cNvPr>
          <p:cNvSpPr>
            <a:spLocks noGrp="1"/>
          </p:cNvSpPr>
          <p:nvPr>
            <p:ph type="sldNum" sz="quarter" idx="12"/>
          </p:nvPr>
        </p:nvSpPr>
        <p:spPr/>
        <p:txBody>
          <a:bodyPr/>
          <a:lstStyle/>
          <a:p>
            <a:fld id="{6675BFCB-789E-5945-84C6-0973649846BB}" type="slidenum">
              <a:rPr lang="en-US" smtClean="0"/>
              <a:pPr/>
              <a:t>21</a:t>
            </a:fld>
            <a:endParaRPr lang="en-US" dirty="0"/>
          </a:p>
        </p:txBody>
      </p:sp>
      <p:sp>
        <p:nvSpPr>
          <p:cNvPr id="4" name="Date Placeholder 10">
            <a:extLst>
              <a:ext uri="{FF2B5EF4-FFF2-40B4-BE49-F238E27FC236}">
                <a16:creationId xmlns:a16="http://schemas.microsoft.com/office/drawing/2014/main" id="{97D2BF94-AA9C-E61C-3E97-FC25CC8974DF}"/>
              </a:ext>
            </a:extLst>
          </p:cNvPr>
          <p:cNvSpPr>
            <a:spLocks noGrp="1"/>
          </p:cNvSpPr>
          <p:nvPr>
            <p:ph type="dt" sz="half" idx="10"/>
          </p:nvPr>
        </p:nvSpPr>
        <p:spPr>
          <a:xfrm>
            <a:off x="838200" y="6553200"/>
            <a:ext cx="2743200" cy="365125"/>
          </a:xfrm>
        </p:spPr>
        <p:txBody>
          <a:bodyPr/>
          <a:lstStyle/>
          <a:p>
            <a:r>
              <a:rPr lang="en-US" altLang="ja-JP" dirty="0"/>
              <a:t>2025/2/27</a:t>
            </a:r>
            <a:endParaRPr lang="en-US" dirty="0"/>
          </a:p>
        </p:txBody>
      </p:sp>
      <p:sp>
        <p:nvSpPr>
          <p:cNvPr id="5" name="フッター プレースホルダー 4">
            <a:extLst>
              <a:ext uri="{FF2B5EF4-FFF2-40B4-BE49-F238E27FC236}">
                <a16:creationId xmlns:a16="http://schemas.microsoft.com/office/drawing/2014/main" id="{E3AA5014-BEC2-F536-EED4-CDAF5BEBB279}"/>
              </a:ext>
            </a:extLst>
          </p:cNvPr>
          <p:cNvSpPr>
            <a:spLocks noGrp="1"/>
          </p:cNvSpPr>
          <p:nvPr>
            <p:ph type="ftr" sz="quarter" idx="11"/>
          </p:nvPr>
        </p:nvSpPr>
        <p:spPr>
          <a:xfrm>
            <a:off x="4038600" y="6553200"/>
            <a:ext cx="4114800" cy="365125"/>
          </a:xfrm>
        </p:spPr>
        <p:txBody>
          <a:bodyPr/>
          <a:lstStyle/>
          <a:p>
            <a:r>
              <a:rPr lang="fi-FI"/>
              <a:t>Tsubasa Kato @ Sakurai Lab.</a:t>
            </a:r>
            <a:endParaRPr lang="en-US" dirty="0"/>
          </a:p>
        </p:txBody>
      </p:sp>
    </p:spTree>
    <p:extLst>
      <p:ext uri="{BB962C8B-B14F-4D97-AF65-F5344CB8AC3E}">
        <p14:creationId xmlns:p14="http://schemas.microsoft.com/office/powerpoint/2010/main" val="37842596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73F43FC-D398-AC44-8566-8C5A8625A3F8}"/>
              </a:ext>
            </a:extLst>
          </p:cNvPr>
          <p:cNvSpPr>
            <a:spLocks noGrp="1"/>
          </p:cNvSpPr>
          <p:nvPr>
            <p:ph type="title"/>
          </p:nvPr>
        </p:nvSpPr>
        <p:spPr>
          <a:xfrm>
            <a:off x="548268" y="284244"/>
            <a:ext cx="10515600" cy="727695"/>
          </a:xfrm>
        </p:spPr>
        <p:txBody>
          <a:bodyPr>
            <a:normAutofit/>
          </a:bodyPr>
          <a:lstStyle/>
          <a:p>
            <a:pPr algn="l"/>
            <a:r>
              <a:rPr kumimoji="1" lang="ja-JP" altLang="en-US" sz="3200">
                <a:latin typeface="Meiryo" panose="020B0604030504040204" pitchFamily="34" charset="-128"/>
                <a:ea typeface="Meiryo" panose="020B0604030504040204" pitchFamily="34" charset="-128"/>
              </a:rPr>
              <a:t>データセット</a:t>
            </a:r>
            <a:endParaRPr kumimoji="1" lang="ja-JP" altLang="en-US" sz="3200" b="0">
              <a:solidFill>
                <a:schemeClr val="tx1"/>
              </a:solidFill>
              <a:latin typeface="Meiryo" panose="020B0604030504040204" pitchFamily="34" charset="-128"/>
              <a:ea typeface="Meiryo" panose="020B0604030504040204" pitchFamily="34" charset="-128"/>
            </a:endParaRPr>
          </a:p>
        </p:txBody>
      </p:sp>
      <p:cxnSp>
        <p:nvCxnSpPr>
          <p:cNvPr id="7" name="Straight Connector 6">
            <a:extLst>
              <a:ext uri="{FF2B5EF4-FFF2-40B4-BE49-F238E27FC236}">
                <a16:creationId xmlns:a16="http://schemas.microsoft.com/office/drawing/2014/main" id="{BB3800FB-FE81-61B1-706C-CDEC701D78C2}"/>
              </a:ext>
            </a:extLst>
          </p:cNvPr>
          <p:cNvCxnSpPr>
            <a:cxnSpLocks/>
          </p:cNvCxnSpPr>
          <p:nvPr/>
        </p:nvCxnSpPr>
        <p:spPr>
          <a:xfrm>
            <a:off x="646043" y="874643"/>
            <a:ext cx="10694505"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58DFC2D8-9162-9EBF-0097-E5A2F503BDDF}"/>
              </a:ext>
            </a:extLst>
          </p:cNvPr>
          <p:cNvSpPr>
            <a:spLocks noGrp="1"/>
          </p:cNvSpPr>
          <p:nvPr>
            <p:ph type="sldNum" sz="quarter" idx="12"/>
          </p:nvPr>
        </p:nvSpPr>
        <p:spPr/>
        <p:txBody>
          <a:bodyPr/>
          <a:lstStyle/>
          <a:p>
            <a:fld id="{6675BFCB-789E-5945-84C6-0973649846BB}" type="slidenum">
              <a:rPr lang="en-US" smtClean="0"/>
              <a:pPr/>
              <a:t>22</a:t>
            </a:fld>
            <a:endParaRPr lang="en-US" dirty="0"/>
          </a:p>
        </p:txBody>
      </p:sp>
      <p:pic>
        <p:nvPicPr>
          <p:cNvPr id="8" name="図 7">
            <a:extLst>
              <a:ext uri="{FF2B5EF4-FFF2-40B4-BE49-F238E27FC236}">
                <a16:creationId xmlns:a16="http://schemas.microsoft.com/office/drawing/2014/main" id="{E1BD0DB4-D5AC-5924-11CA-1FE0E92BFA0D}"/>
              </a:ext>
            </a:extLst>
          </p:cNvPr>
          <p:cNvPicPr>
            <a:picLocks noChangeAspect="1"/>
          </p:cNvPicPr>
          <p:nvPr/>
        </p:nvPicPr>
        <p:blipFill>
          <a:blip r:embed="rId3"/>
          <a:stretch>
            <a:fillRect/>
          </a:stretch>
        </p:blipFill>
        <p:spPr>
          <a:xfrm>
            <a:off x="2209800" y="1046395"/>
            <a:ext cx="7772400" cy="2968353"/>
          </a:xfrm>
          <a:prstGeom prst="rect">
            <a:avLst/>
          </a:prstGeom>
        </p:spPr>
      </p:pic>
      <p:sp>
        <p:nvSpPr>
          <p:cNvPr id="10" name="テキスト ボックス 9">
            <a:extLst>
              <a:ext uri="{FF2B5EF4-FFF2-40B4-BE49-F238E27FC236}">
                <a16:creationId xmlns:a16="http://schemas.microsoft.com/office/drawing/2014/main" id="{A13D318E-3E4B-497B-CF93-FABC9BC71B5E}"/>
              </a:ext>
            </a:extLst>
          </p:cNvPr>
          <p:cNvSpPr txBox="1"/>
          <p:nvPr/>
        </p:nvSpPr>
        <p:spPr>
          <a:xfrm>
            <a:off x="1451485" y="4267200"/>
            <a:ext cx="9920868" cy="1785104"/>
          </a:xfrm>
          <a:prstGeom prst="rect">
            <a:avLst/>
          </a:prstGeom>
          <a:noFill/>
        </p:spPr>
        <p:txBody>
          <a:bodyPr wrap="square" rtlCol="0">
            <a:spAutoFit/>
          </a:bodyPr>
          <a:lstStyle/>
          <a:p>
            <a:pPr marL="285750" indent="-285750">
              <a:buFont typeface="Arial" panose="020B0604020202020204" pitchFamily="34" charset="0"/>
              <a:buChar char="•"/>
            </a:pPr>
            <a:r>
              <a:rPr kumimoji="1" lang="en-US" altLang="ja-JP" sz="2200" dirty="0">
                <a:latin typeface="Meiryo" panose="020B0604030504040204" pitchFamily="34" charset="-128"/>
                <a:ea typeface="Meiryo" panose="020B0604030504040204" pitchFamily="34" charset="-128"/>
              </a:rPr>
              <a:t>1</a:t>
            </a:r>
            <a:r>
              <a:rPr kumimoji="1" lang="ja-JP" altLang="en-US" sz="2200">
                <a:latin typeface="Meiryo" panose="020B0604030504040204" pitchFamily="34" charset="-128"/>
                <a:ea typeface="Meiryo" panose="020B0604030504040204" pitchFamily="34" charset="-128"/>
              </a:rPr>
              <a:t>つの合成データと５つの実データセット</a:t>
            </a:r>
            <a:endParaRPr kumimoji="1" lang="en-US" altLang="ja-JP" sz="2200"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kumimoji="1" lang="ja-JP" altLang="en-US" sz="2200">
                <a:latin typeface="Meiryo" panose="020B0604030504040204" pitchFamily="34" charset="-128"/>
                <a:ea typeface="Meiryo" panose="020B0604030504040204" pitchFamily="34" charset="-128"/>
              </a:rPr>
              <a:t>人間の行動動作</a:t>
            </a:r>
            <a:r>
              <a:rPr kumimoji="1" lang="en-US" altLang="ja-JP" sz="2200" dirty="0">
                <a:latin typeface="Meiryo" panose="020B0604030504040204" pitchFamily="34" charset="-128"/>
                <a:ea typeface="Meiryo" panose="020B0604030504040204" pitchFamily="34" charset="-128"/>
              </a:rPr>
              <a:t>, </a:t>
            </a:r>
            <a:r>
              <a:rPr kumimoji="1" lang="ja-JP" altLang="en-US" sz="2200">
                <a:latin typeface="Meiryo" panose="020B0604030504040204" pitchFamily="34" charset="-128"/>
                <a:ea typeface="Meiryo" panose="020B0604030504040204" pitchFamily="34" charset="-128"/>
              </a:rPr>
              <a:t>医療データ</a:t>
            </a:r>
            <a:r>
              <a:rPr kumimoji="1" lang="en-US" altLang="ja-JP" sz="2200" dirty="0">
                <a:latin typeface="Meiryo" panose="020B0604030504040204" pitchFamily="34" charset="-128"/>
                <a:ea typeface="Meiryo" panose="020B0604030504040204" pitchFamily="34" charset="-128"/>
              </a:rPr>
              <a:t>, </a:t>
            </a:r>
            <a:r>
              <a:rPr kumimoji="1" lang="ja-JP" altLang="en-US" sz="2200">
                <a:latin typeface="Meiryo" panose="020B0604030504040204" pitchFamily="34" charset="-128"/>
                <a:ea typeface="Meiryo" panose="020B0604030504040204" pitchFamily="34" charset="-128"/>
              </a:rPr>
              <a:t>電力需要などの様々なケースに対応</a:t>
            </a:r>
            <a:endParaRPr kumimoji="1" lang="en-US" altLang="ja-JP" sz="2200"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kumimoji="1" lang="ja-JP" altLang="en-US" sz="2200">
                <a:latin typeface="Meiryo" panose="020B0604030504040204" pitchFamily="34" charset="-128"/>
                <a:ea typeface="Meiryo" panose="020B0604030504040204" pitchFamily="34" charset="-128"/>
              </a:rPr>
              <a:t>単変量データセット</a:t>
            </a:r>
            <a:r>
              <a:rPr kumimoji="1" lang="en-US" altLang="ja-JP" sz="2200" dirty="0">
                <a:latin typeface="Meiryo" panose="020B0604030504040204" pitchFamily="34" charset="-128"/>
                <a:ea typeface="Meiryo" panose="020B0604030504040204" pitchFamily="34" charset="-128"/>
              </a:rPr>
              <a:t>, </a:t>
            </a:r>
            <a:r>
              <a:rPr kumimoji="1" lang="ja-JP" altLang="en-US" sz="2200">
                <a:latin typeface="Meiryo" panose="020B0604030504040204" pitchFamily="34" charset="-128"/>
                <a:ea typeface="Meiryo" panose="020B0604030504040204" pitchFamily="34" charset="-128"/>
              </a:rPr>
              <a:t>多変量データセット</a:t>
            </a:r>
            <a:endParaRPr kumimoji="1" lang="en-US" altLang="ja-JP" sz="2200"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kumimoji="1" lang="ja-JP" altLang="en-US" sz="2200">
                <a:latin typeface="Meiryo" panose="020B0604030504040204" pitchFamily="34" charset="-128"/>
                <a:ea typeface="Meiryo" panose="020B0604030504040204" pitchFamily="34" charset="-128"/>
              </a:rPr>
              <a:t>データ数に対して</a:t>
            </a:r>
            <a:r>
              <a:rPr kumimoji="1" lang="en-US" altLang="ja-JP" sz="2200" dirty="0">
                <a:latin typeface="Meiryo" panose="020B0604030504040204" pitchFamily="34" charset="-128"/>
                <a:ea typeface="Meiryo" panose="020B0604030504040204" pitchFamily="34" charset="-128"/>
              </a:rPr>
              <a:t>, </a:t>
            </a:r>
            <a:r>
              <a:rPr kumimoji="1" lang="ja-JP" altLang="en-US" sz="2200">
                <a:latin typeface="Meiryo" panose="020B0604030504040204" pitchFamily="34" charset="-128"/>
                <a:ea typeface="Meiryo" panose="020B0604030504040204" pitchFamily="34" charset="-128"/>
              </a:rPr>
              <a:t>精度の平均値を算出</a:t>
            </a:r>
            <a:endParaRPr kumimoji="1" lang="en-US" altLang="ja-JP" sz="2200"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endParaRPr kumimoji="1" lang="en-US" altLang="ja-JP" sz="2200" dirty="0"/>
          </a:p>
        </p:txBody>
      </p:sp>
      <p:sp>
        <p:nvSpPr>
          <p:cNvPr id="14" name="Date Placeholder 10">
            <a:extLst>
              <a:ext uri="{FF2B5EF4-FFF2-40B4-BE49-F238E27FC236}">
                <a16:creationId xmlns:a16="http://schemas.microsoft.com/office/drawing/2014/main" id="{B8D5C72F-9FDC-BF3C-4D25-803683B1F2D0}"/>
              </a:ext>
            </a:extLst>
          </p:cNvPr>
          <p:cNvSpPr>
            <a:spLocks noGrp="1"/>
          </p:cNvSpPr>
          <p:nvPr>
            <p:ph type="dt" sz="half" idx="10"/>
          </p:nvPr>
        </p:nvSpPr>
        <p:spPr>
          <a:xfrm>
            <a:off x="838200" y="6553200"/>
            <a:ext cx="2743200" cy="365125"/>
          </a:xfrm>
        </p:spPr>
        <p:txBody>
          <a:bodyPr/>
          <a:lstStyle/>
          <a:p>
            <a:r>
              <a:rPr lang="en-US" altLang="ja-JP" dirty="0"/>
              <a:t>2025/2/27</a:t>
            </a:r>
            <a:endParaRPr lang="en-US" dirty="0"/>
          </a:p>
        </p:txBody>
      </p:sp>
      <p:sp>
        <p:nvSpPr>
          <p:cNvPr id="15" name="フッター プレースホルダー 4">
            <a:extLst>
              <a:ext uri="{FF2B5EF4-FFF2-40B4-BE49-F238E27FC236}">
                <a16:creationId xmlns:a16="http://schemas.microsoft.com/office/drawing/2014/main" id="{AEFCBDFB-32BE-36FB-E4DF-36EAF441667E}"/>
              </a:ext>
            </a:extLst>
          </p:cNvPr>
          <p:cNvSpPr>
            <a:spLocks noGrp="1"/>
          </p:cNvSpPr>
          <p:nvPr>
            <p:ph type="ftr" sz="quarter" idx="11"/>
          </p:nvPr>
        </p:nvSpPr>
        <p:spPr>
          <a:xfrm>
            <a:off x="4038600" y="6553200"/>
            <a:ext cx="4114800" cy="365125"/>
          </a:xfrm>
        </p:spPr>
        <p:txBody>
          <a:bodyPr/>
          <a:lstStyle/>
          <a:p>
            <a:r>
              <a:rPr lang="fi-FI"/>
              <a:t>Tsubasa Kato @ Sakurai Lab.</a:t>
            </a:r>
            <a:endParaRPr lang="en-US" dirty="0"/>
          </a:p>
        </p:txBody>
      </p:sp>
      <p:sp>
        <p:nvSpPr>
          <p:cNvPr id="16" name="正方形/長方形 15">
            <a:extLst>
              <a:ext uri="{FF2B5EF4-FFF2-40B4-BE49-F238E27FC236}">
                <a16:creationId xmlns:a16="http://schemas.microsoft.com/office/drawing/2014/main" id="{42DEE655-E09A-8C8A-EBF1-17A499A30EF7}"/>
              </a:ext>
            </a:extLst>
          </p:cNvPr>
          <p:cNvSpPr/>
          <p:nvPr/>
        </p:nvSpPr>
        <p:spPr>
          <a:xfrm>
            <a:off x="3149956" y="2242995"/>
            <a:ext cx="405689" cy="21861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26BB4289-A0CB-B114-78C6-A25C31EA7821}"/>
              </a:ext>
            </a:extLst>
          </p:cNvPr>
          <p:cNvSpPr/>
          <p:nvPr/>
        </p:nvSpPr>
        <p:spPr>
          <a:xfrm>
            <a:off x="3480511" y="2569961"/>
            <a:ext cx="405689" cy="21861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18" name="正方形/長方形 17">
            <a:extLst>
              <a:ext uri="{FF2B5EF4-FFF2-40B4-BE49-F238E27FC236}">
                <a16:creationId xmlns:a16="http://schemas.microsoft.com/office/drawing/2014/main" id="{0BB2BF82-1556-B141-D814-66A22DC0DD45}"/>
              </a:ext>
            </a:extLst>
          </p:cNvPr>
          <p:cNvSpPr/>
          <p:nvPr/>
        </p:nvSpPr>
        <p:spPr>
          <a:xfrm>
            <a:off x="3349752" y="2853200"/>
            <a:ext cx="405689" cy="21861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19" name="正方形/長方形 18">
            <a:extLst>
              <a:ext uri="{FF2B5EF4-FFF2-40B4-BE49-F238E27FC236}">
                <a16:creationId xmlns:a16="http://schemas.microsoft.com/office/drawing/2014/main" id="{1BCD4F2E-12A9-3EC4-0CAE-B0478F2605E5}"/>
              </a:ext>
            </a:extLst>
          </p:cNvPr>
          <p:cNvSpPr/>
          <p:nvPr/>
        </p:nvSpPr>
        <p:spPr>
          <a:xfrm>
            <a:off x="3480511" y="3244787"/>
            <a:ext cx="405689" cy="21861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20" name="正方形/長方形 19">
            <a:extLst>
              <a:ext uri="{FF2B5EF4-FFF2-40B4-BE49-F238E27FC236}">
                <a16:creationId xmlns:a16="http://schemas.microsoft.com/office/drawing/2014/main" id="{80A28C7E-A003-7D69-36C7-63604016DF91}"/>
              </a:ext>
            </a:extLst>
          </p:cNvPr>
          <p:cNvSpPr/>
          <p:nvPr/>
        </p:nvSpPr>
        <p:spPr>
          <a:xfrm>
            <a:off x="3480510" y="3547686"/>
            <a:ext cx="405689" cy="21861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Tree>
    <p:extLst>
      <p:ext uri="{BB962C8B-B14F-4D97-AF65-F5344CB8AC3E}">
        <p14:creationId xmlns:p14="http://schemas.microsoft.com/office/powerpoint/2010/main" val="37649049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BFF3D1-BCB4-5FCD-4DB1-2FEDB26E889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B911434-8694-ED48-1AC2-6F39840E1C99}"/>
              </a:ext>
            </a:extLst>
          </p:cNvPr>
          <p:cNvSpPr>
            <a:spLocks noGrp="1"/>
          </p:cNvSpPr>
          <p:nvPr>
            <p:ph type="title"/>
          </p:nvPr>
        </p:nvSpPr>
        <p:spPr>
          <a:xfrm>
            <a:off x="548268" y="284244"/>
            <a:ext cx="10515600" cy="727695"/>
          </a:xfrm>
        </p:spPr>
        <p:txBody>
          <a:bodyPr>
            <a:normAutofit/>
          </a:bodyPr>
          <a:lstStyle/>
          <a:p>
            <a:pPr algn="l"/>
            <a:r>
              <a:rPr kumimoji="1" lang="ja-JP" altLang="en-US" sz="3200" b="0">
                <a:solidFill>
                  <a:schemeClr val="tx1"/>
                </a:solidFill>
                <a:latin typeface="Meiryo" panose="020B0604030504040204" pitchFamily="34" charset="-128"/>
                <a:ea typeface="Meiryo" panose="020B0604030504040204" pitchFamily="34" charset="-128"/>
              </a:rPr>
              <a:t>実験概要</a:t>
            </a:r>
          </a:p>
        </p:txBody>
      </p:sp>
      <p:cxnSp>
        <p:nvCxnSpPr>
          <p:cNvPr id="7" name="Straight Connector 6">
            <a:extLst>
              <a:ext uri="{FF2B5EF4-FFF2-40B4-BE49-F238E27FC236}">
                <a16:creationId xmlns:a16="http://schemas.microsoft.com/office/drawing/2014/main" id="{44924F1B-A59B-2891-10F0-7D5A5E24F5BA}"/>
              </a:ext>
            </a:extLst>
          </p:cNvPr>
          <p:cNvCxnSpPr>
            <a:cxnSpLocks/>
          </p:cNvCxnSpPr>
          <p:nvPr/>
        </p:nvCxnSpPr>
        <p:spPr>
          <a:xfrm>
            <a:off x="646043" y="874643"/>
            <a:ext cx="10694505"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6785455D-AA00-88DF-EBBC-B1C89A797445}"/>
              </a:ext>
            </a:extLst>
          </p:cNvPr>
          <p:cNvSpPr>
            <a:spLocks noGrp="1"/>
          </p:cNvSpPr>
          <p:nvPr>
            <p:ph type="sldNum" sz="quarter" idx="12"/>
          </p:nvPr>
        </p:nvSpPr>
        <p:spPr/>
        <p:txBody>
          <a:bodyPr/>
          <a:lstStyle/>
          <a:p>
            <a:fld id="{6675BFCB-789E-5945-84C6-0973649846BB}" type="slidenum">
              <a:rPr lang="en-US" smtClean="0"/>
              <a:pPr/>
              <a:t>23</a:t>
            </a:fld>
            <a:endParaRPr lang="en-US" dirty="0"/>
          </a:p>
        </p:txBody>
      </p:sp>
      <p:sp>
        <p:nvSpPr>
          <p:cNvPr id="10" name="テキスト ボックス 9">
            <a:extLst>
              <a:ext uri="{FF2B5EF4-FFF2-40B4-BE49-F238E27FC236}">
                <a16:creationId xmlns:a16="http://schemas.microsoft.com/office/drawing/2014/main" id="{9EC6AD0A-2652-E9BE-EBC3-E74C3D194736}"/>
              </a:ext>
            </a:extLst>
          </p:cNvPr>
          <p:cNvSpPr txBox="1"/>
          <p:nvPr/>
        </p:nvSpPr>
        <p:spPr>
          <a:xfrm>
            <a:off x="990600" y="1038761"/>
            <a:ext cx="9920868" cy="1323439"/>
          </a:xfrm>
          <a:prstGeom prst="rect">
            <a:avLst/>
          </a:prstGeom>
          <a:noFill/>
        </p:spPr>
        <p:txBody>
          <a:bodyPr wrap="square" rtlCol="0">
            <a:spAutoFit/>
          </a:bodyPr>
          <a:lstStyle/>
          <a:p>
            <a:pPr marL="285750" indent="-285750">
              <a:buFont typeface="Arial" panose="020B0604020202020204" pitchFamily="34" charset="0"/>
              <a:buChar char="•"/>
            </a:pPr>
            <a:r>
              <a:rPr kumimoji="1" lang="ja-JP" altLang="en-US" sz="2200">
                <a:latin typeface="Meiryo" panose="020B0604030504040204" pitchFamily="34" charset="-128"/>
                <a:ea typeface="Meiryo" panose="020B0604030504040204" pitchFamily="34" charset="-128"/>
              </a:rPr>
              <a:t>数理モデルから最先端の深層学習モデルを比較手法として実験を行った</a:t>
            </a:r>
            <a:endParaRPr kumimoji="1" lang="en-US" altLang="ja-JP" sz="2200" dirty="0">
              <a:latin typeface="Meiryo" panose="020B0604030504040204" pitchFamily="34" charset="-128"/>
              <a:ea typeface="Meiryo" panose="020B0604030504040204" pitchFamily="34" charset="-128"/>
            </a:endParaRPr>
          </a:p>
          <a:p>
            <a:pPr marL="742950" lvl="1" indent="-285750">
              <a:buFont typeface="Wingdings" pitchFamily="2" charset="2"/>
              <a:buChar char="Ø"/>
            </a:pPr>
            <a:r>
              <a:rPr kumimoji="1" lang="en-US" altLang="ja-JP" dirty="0" err="1">
                <a:latin typeface="Meiryo" panose="020B0604030504040204" pitchFamily="34" charset="-128"/>
                <a:ea typeface="Meiryo" panose="020B0604030504040204" pitchFamily="34" charset="-128"/>
              </a:rPr>
              <a:t>AutoPlait</a:t>
            </a:r>
            <a:r>
              <a:rPr kumimoji="1" lang="en-US" altLang="ja-JP" dirty="0">
                <a:latin typeface="Meiryo" panose="020B0604030504040204" pitchFamily="34" charset="-128"/>
                <a:ea typeface="Meiryo" panose="020B0604030504040204" pitchFamily="34" charset="-128"/>
              </a:rPr>
              <a:t>, HVGH, TICC, HDP-HSMM, </a:t>
            </a:r>
            <a:r>
              <a:rPr kumimoji="1" lang="en-US" altLang="ja-JP" dirty="0" err="1">
                <a:latin typeface="Meiryo" panose="020B0604030504040204" pitchFamily="34" charset="-128"/>
                <a:ea typeface="Meiryo" panose="020B0604030504040204" pitchFamily="34" charset="-128"/>
              </a:rPr>
              <a:t>ClaSP</a:t>
            </a:r>
            <a:r>
              <a:rPr kumimoji="1" lang="en-US" altLang="ja-JP" dirty="0">
                <a:latin typeface="Meiryo" panose="020B0604030504040204" pitchFamily="34" charset="-128"/>
                <a:ea typeface="Meiryo" panose="020B0604030504040204" pitchFamily="34" charset="-128"/>
              </a:rPr>
              <a:t>, Ts2Vec, Time2State</a:t>
            </a:r>
          </a:p>
          <a:p>
            <a:pPr marL="285750" indent="-285750">
              <a:buFont typeface="Arial" panose="020B0604020202020204" pitchFamily="34" charset="0"/>
              <a:buChar char="•"/>
            </a:pPr>
            <a:r>
              <a:rPr kumimoji="1" lang="ja-JP" altLang="en-US" sz="2200">
                <a:latin typeface="Meiryo" panose="020B0604030504040204" pitchFamily="34" charset="-128"/>
                <a:ea typeface="Meiryo" panose="020B0604030504040204" pitchFamily="34" charset="-128"/>
              </a:rPr>
              <a:t>評価指標</a:t>
            </a:r>
            <a:endParaRPr kumimoji="1" lang="en-US" altLang="ja-JP" sz="2200" dirty="0">
              <a:latin typeface="Meiryo" panose="020B0604030504040204" pitchFamily="34" charset="-128"/>
              <a:ea typeface="Meiryo" panose="020B0604030504040204" pitchFamily="34" charset="-128"/>
            </a:endParaRPr>
          </a:p>
          <a:p>
            <a:pPr marL="742950" lvl="1" indent="-285750">
              <a:buFont typeface="Wingdings" pitchFamily="2" charset="2"/>
              <a:buChar char="Ø"/>
            </a:pPr>
            <a:r>
              <a:rPr kumimoji="1" lang="ja-JP" altLang="en-US">
                <a:latin typeface="Meiryo" panose="020B0604030504040204" pitchFamily="34" charset="-128"/>
                <a:ea typeface="Meiryo" panose="020B0604030504040204" pitchFamily="34" charset="-128"/>
              </a:rPr>
              <a:t>予測クラスタと真のクラスタ間の一致度を示す調整ランド指数</a:t>
            </a:r>
            <a:r>
              <a:rPr kumimoji="1" lang="en-US" altLang="ja-JP" dirty="0">
                <a:latin typeface="Meiryo" panose="020B0604030504040204" pitchFamily="34" charset="-128"/>
                <a:ea typeface="Meiryo" panose="020B0604030504040204" pitchFamily="34" charset="-128"/>
              </a:rPr>
              <a:t>(ARI)</a:t>
            </a:r>
          </a:p>
        </p:txBody>
      </p:sp>
      <p:pic>
        <p:nvPicPr>
          <p:cNvPr id="3" name="図 2">
            <a:extLst>
              <a:ext uri="{FF2B5EF4-FFF2-40B4-BE49-F238E27FC236}">
                <a16:creationId xmlns:a16="http://schemas.microsoft.com/office/drawing/2014/main" id="{1DD1AC27-8EAF-092C-D516-FBFB447B7C0E}"/>
              </a:ext>
            </a:extLst>
          </p:cNvPr>
          <p:cNvPicPr>
            <a:picLocks noChangeAspect="1"/>
          </p:cNvPicPr>
          <p:nvPr/>
        </p:nvPicPr>
        <p:blipFill>
          <a:blip r:embed="rId3"/>
          <a:stretch>
            <a:fillRect/>
          </a:stretch>
        </p:blipFill>
        <p:spPr>
          <a:xfrm>
            <a:off x="2819400" y="2362200"/>
            <a:ext cx="5397500" cy="952500"/>
          </a:xfrm>
          <a:prstGeom prst="rect">
            <a:avLst/>
          </a:prstGeom>
        </p:spPr>
      </p:pic>
      <p:sp>
        <p:nvSpPr>
          <p:cNvPr id="4" name="テキスト ボックス 3">
            <a:extLst>
              <a:ext uri="{FF2B5EF4-FFF2-40B4-BE49-F238E27FC236}">
                <a16:creationId xmlns:a16="http://schemas.microsoft.com/office/drawing/2014/main" id="{A0989E3D-1B4A-D21E-6837-8AAFA25797E1}"/>
              </a:ext>
            </a:extLst>
          </p:cNvPr>
          <p:cNvSpPr txBox="1"/>
          <p:nvPr/>
        </p:nvSpPr>
        <p:spPr>
          <a:xfrm>
            <a:off x="990600" y="3364468"/>
            <a:ext cx="9920868" cy="369332"/>
          </a:xfrm>
          <a:prstGeom prst="rect">
            <a:avLst/>
          </a:prstGeom>
          <a:noFill/>
        </p:spPr>
        <p:txBody>
          <a:bodyPr wrap="square" rtlCol="0">
            <a:spAutoFit/>
          </a:bodyPr>
          <a:lstStyle/>
          <a:p>
            <a:pPr marL="742950" lvl="1" indent="-285750">
              <a:buFont typeface="Wingdings" pitchFamily="2" charset="2"/>
              <a:buChar char="Ø"/>
            </a:pPr>
            <a:r>
              <a:rPr kumimoji="1" lang="ja-JP" altLang="en-US">
                <a:latin typeface="Meiryo" panose="020B0604030504040204" pitchFamily="34" charset="-128"/>
                <a:ea typeface="Meiryo" panose="020B0604030504040204" pitchFamily="34" charset="-128"/>
              </a:rPr>
              <a:t>予測クラスタと真のクラスタ間の情報量の共有度を示す正規化相互情報量</a:t>
            </a:r>
            <a:r>
              <a:rPr kumimoji="1" lang="en-US" altLang="ja-JP" dirty="0">
                <a:latin typeface="Meiryo" panose="020B0604030504040204" pitchFamily="34" charset="-128"/>
                <a:ea typeface="Meiryo" panose="020B0604030504040204" pitchFamily="34" charset="-128"/>
              </a:rPr>
              <a:t>(NMI)</a:t>
            </a:r>
          </a:p>
        </p:txBody>
      </p:sp>
      <p:pic>
        <p:nvPicPr>
          <p:cNvPr id="5" name="図 4">
            <a:extLst>
              <a:ext uri="{FF2B5EF4-FFF2-40B4-BE49-F238E27FC236}">
                <a16:creationId xmlns:a16="http://schemas.microsoft.com/office/drawing/2014/main" id="{D3E674A0-D252-E059-C93E-0C35CA065DEC}"/>
              </a:ext>
            </a:extLst>
          </p:cNvPr>
          <p:cNvPicPr>
            <a:picLocks noChangeAspect="1"/>
          </p:cNvPicPr>
          <p:nvPr/>
        </p:nvPicPr>
        <p:blipFill>
          <a:blip r:embed="rId4"/>
          <a:stretch>
            <a:fillRect/>
          </a:stretch>
        </p:blipFill>
        <p:spPr>
          <a:xfrm>
            <a:off x="2743200" y="3733800"/>
            <a:ext cx="3835400" cy="1028700"/>
          </a:xfrm>
          <a:prstGeom prst="rect">
            <a:avLst/>
          </a:prstGeom>
        </p:spPr>
      </p:pic>
      <p:sp>
        <p:nvSpPr>
          <p:cNvPr id="9" name="テキスト ボックス 8">
            <a:extLst>
              <a:ext uri="{FF2B5EF4-FFF2-40B4-BE49-F238E27FC236}">
                <a16:creationId xmlns:a16="http://schemas.microsoft.com/office/drawing/2014/main" id="{F8164545-EAE0-532D-40FC-56C485B52AE0}"/>
              </a:ext>
            </a:extLst>
          </p:cNvPr>
          <p:cNvSpPr txBox="1"/>
          <p:nvPr/>
        </p:nvSpPr>
        <p:spPr>
          <a:xfrm>
            <a:off x="609600" y="4724400"/>
            <a:ext cx="11233723" cy="1600438"/>
          </a:xfrm>
          <a:prstGeom prst="rect">
            <a:avLst/>
          </a:prstGeom>
          <a:noFill/>
        </p:spPr>
        <p:txBody>
          <a:bodyPr wrap="square" rtlCol="0">
            <a:spAutoFit/>
          </a:bodyPr>
          <a:lstStyle/>
          <a:p>
            <a:pPr marL="742950" lvl="1" indent="-285750">
              <a:buFont typeface="Arial" panose="020B0604020202020204" pitchFamily="34" charset="0"/>
              <a:buChar char="•"/>
            </a:pPr>
            <a:r>
              <a:rPr kumimoji="1" lang="ja-JP" altLang="en-US" sz="2200">
                <a:latin typeface="Meiryo" panose="020B0604030504040204" pitchFamily="34" charset="-128"/>
                <a:ea typeface="Meiryo" panose="020B0604030504040204" pitchFamily="34" charset="-128"/>
              </a:rPr>
              <a:t>ハイパーパラメータの最適化</a:t>
            </a:r>
            <a:endParaRPr kumimoji="1" lang="en-US" altLang="ja-JP" sz="2200" dirty="0">
              <a:latin typeface="Meiryo" panose="020B0604030504040204" pitchFamily="34" charset="-128"/>
              <a:ea typeface="Meiryo" panose="020B0604030504040204" pitchFamily="34" charset="-128"/>
            </a:endParaRPr>
          </a:p>
          <a:p>
            <a:pPr marL="1200150" lvl="2" indent="-285750">
              <a:buFont typeface="Wingdings" pitchFamily="2" charset="2"/>
              <a:buChar char="Ø"/>
            </a:pPr>
            <a:r>
              <a:rPr kumimoji="1" lang="ja-JP" altLang="en-US">
                <a:latin typeface="Meiryo" panose="020B0604030504040204" pitchFamily="34" charset="-128"/>
                <a:ea typeface="Meiryo" panose="020B0604030504040204" pitchFamily="34" charset="-128"/>
              </a:rPr>
              <a:t>ウィンドウサイズを</a:t>
            </a:r>
            <a:r>
              <a:rPr kumimoji="1" lang="en-US" altLang="ja-JP" dirty="0">
                <a:latin typeface="Meiryo" panose="020B0604030504040204" pitchFamily="34" charset="-128"/>
                <a:ea typeface="Meiryo" panose="020B0604030504040204" pitchFamily="34" charset="-128"/>
              </a:rPr>
              <a:t>{128, 256, 512}, </a:t>
            </a:r>
            <a:r>
              <a:rPr kumimoji="1" lang="ja-JP" altLang="en-US">
                <a:latin typeface="Meiryo" panose="020B0604030504040204" pitchFamily="34" charset="-128"/>
                <a:ea typeface="Meiryo" panose="020B0604030504040204" pitchFamily="34" charset="-128"/>
              </a:rPr>
              <a:t>ステップサイズを</a:t>
            </a:r>
            <a:r>
              <a:rPr kumimoji="1" lang="en-US" altLang="ja-JP" dirty="0">
                <a:latin typeface="Meiryo" panose="020B0604030504040204" pitchFamily="34" charset="-128"/>
                <a:ea typeface="Meiryo" panose="020B0604030504040204" pitchFamily="34" charset="-128"/>
              </a:rPr>
              <a:t>{25, 50, 75, 100}</a:t>
            </a:r>
            <a:r>
              <a:rPr kumimoji="1" lang="ja-JP" altLang="en-US">
                <a:latin typeface="Meiryo" panose="020B0604030504040204" pitchFamily="34" charset="-128"/>
                <a:ea typeface="Meiryo" panose="020B0604030504040204" pitchFamily="34" charset="-128"/>
              </a:rPr>
              <a:t>でグリッドサーチ</a:t>
            </a:r>
            <a:endParaRPr kumimoji="1" lang="en-US" altLang="ja-JP" dirty="0">
              <a:latin typeface="Meiryo" panose="020B0604030504040204" pitchFamily="34" charset="-128"/>
              <a:ea typeface="Meiryo" panose="020B0604030504040204" pitchFamily="34" charset="-128"/>
            </a:endParaRPr>
          </a:p>
          <a:p>
            <a:pPr marL="1200150" lvl="2" indent="-285750">
              <a:buFont typeface="Wingdings" pitchFamily="2" charset="2"/>
              <a:buChar char="Ø"/>
            </a:pPr>
            <a:r>
              <a:rPr kumimoji="1" lang="ja-JP" altLang="en-US">
                <a:latin typeface="Meiryo" panose="020B0604030504040204" pitchFamily="34" charset="-128"/>
                <a:ea typeface="Meiryo" panose="020B0604030504040204" pitchFamily="34" charset="-128"/>
              </a:rPr>
              <a:t>データセットごとの精度の平均値を算出し</a:t>
            </a:r>
            <a:r>
              <a:rPr kumimoji="1" lang="en-US" altLang="ja-JP" dirty="0">
                <a:latin typeface="Meiryo" panose="020B0604030504040204" pitchFamily="34" charset="-128"/>
                <a:ea typeface="Meiryo" panose="020B0604030504040204" pitchFamily="34" charset="-128"/>
              </a:rPr>
              <a:t>, </a:t>
            </a:r>
            <a:r>
              <a:rPr kumimoji="1" lang="ja-JP" altLang="en-US">
                <a:latin typeface="Meiryo" panose="020B0604030504040204" pitchFamily="34" charset="-128"/>
                <a:ea typeface="Meiryo" panose="020B0604030504040204" pitchFamily="34" charset="-128"/>
              </a:rPr>
              <a:t>シード値を５回変更</a:t>
            </a:r>
            <a:endParaRPr kumimoji="1" lang="en-US" altLang="ja-JP" dirty="0">
              <a:latin typeface="Meiryo" panose="020B0604030504040204" pitchFamily="34" charset="-128"/>
              <a:ea typeface="Meiryo" panose="020B0604030504040204" pitchFamily="34" charset="-128"/>
            </a:endParaRPr>
          </a:p>
          <a:p>
            <a:pPr marL="742950" lvl="1" indent="-285750">
              <a:buFont typeface="Arial" panose="020B0604020202020204" pitchFamily="34" charset="0"/>
              <a:buChar char="•"/>
            </a:pPr>
            <a:r>
              <a:rPr kumimoji="1" lang="ja-JP" altLang="en-US" sz="2200">
                <a:latin typeface="Meiryo" panose="020B0604030504040204" pitchFamily="34" charset="-128"/>
                <a:ea typeface="Meiryo" panose="020B0604030504040204" pitchFamily="34" charset="-128"/>
              </a:rPr>
              <a:t>状態数の自動推定クラスタリング手法</a:t>
            </a:r>
            <a:endParaRPr kumimoji="1" lang="en-US" altLang="ja-JP" sz="2200" dirty="0">
              <a:latin typeface="Meiryo" panose="020B0604030504040204" pitchFamily="34" charset="-128"/>
              <a:ea typeface="Meiryo" panose="020B0604030504040204" pitchFamily="34" charset="-128"/>
            </a:endParaRPr>
          </a:p>
          <a:p>
            <a:pPr marL="1200150" lvl="2" indent="-285750">
              <a:buFont typeface="Wingdings" pitchFamily="2" charset="2"/>
              <a:buChar char="Ø"/>
            </a:pPr>
            <a:r>
              <a:rPr kumimoji="1" lang="en-US" altLang="ja-JP" dirty="0">
                <a:latin typeface="Meiryo" panose="020B0604030504040204" pitchFamily="34" charset="-128"/>
                <a:ea typeface="Meiryo" panose="020B0604030504040204" pitchFamily="34" charset="-128"/>
              </a:rPr>
              <a:t>DPGMM(</a:t>
            </a:r>
            <a:r>
              <a:rPr kumimoji="1" lang="ja-JP" altLang="en-US">
                <a:latin typeface="Meiryo" panose="020B0604030504040204" pitchFamily="34" charset="-128"/>
                <a:ea typeface="Meiryo" panose="020B0604030504040204" pitchFamily="34" charset="-128"/>
              </a:rPr>
              <a:t>ノンパラメトリック法</a:t>
            </a:r>
            <a:r>
              <a:rPr kumimoji="1" lang="en-US" altLang="ja-JP" dirty="0">
                <a:latin typeface="Meiryo" panose="020B0604030504040204" pitchFamily="34" charset="-128"/>
                <a:ea typeface="Meiryo" panose="020B0604030504040204" pitchFamily="34" charset="-128"/>
              </a:rPr>
              <a:t>), </a:t>
            </a:r>
            <a:r>
              <a:rPr kumimoji="1" lang="en-US" altLang="ja-JP" dirty="0" err="1">
                <a:latin typeface="Meiryo" panose="020B0604030504040204" pitchFamily="34" charset="-128"/>
                <a:ea typeface="Meiryo" panose="020B0604030504040204" pitchFamily="34" charset="-128"/>
              </a:rPr>
              <a:t>MeanShift</a:t>
            </a:r>
            <a:r>
              <a:rPr kumimoji="1" lang="en-US" altLang="ja-JP" dirty="0">
                <a:latin typeface="Meiryo" panose="020B0604030504040204" pitchFamily="34" charset="-128"/>
                <a:ea typeface="Meiryo" panose="020B0604030504040204" pitchFamily="34" charset="-128"/>
              </a:rPr>
              <a:t>(</a:t>
            </a:r>
            <a:r>
              <a:rPr kumimoji="1" lang="ja-JP" altLang="en-US">
                <a:latin typeface="Meiryo" panose="020B0604030504040204" pitchFamily="34" charset="-128"/>
                <a:ea typeface="Meiryo" panose="020B0604030504040204" pitchFamily="34" charset="-128"/>
              </a:rPr>
              <a:t>カーネル密度推定</a:t>
            </a:r>
            <a:r>
              <a:rPr kumimoji="1" lang="en-US" altLang="ja-JP" dirty="0">
                <a:latin typeface="Meiryo" panose="020B0604030504040204" pitchFamily="34" charset="-128"/>
                <a:ea typeface="Meiryo" panose="020B0604030504040204" pitchFamily="34" charset="-128"/>
              </a:rPr>
              <a:t>), DBSCAN(</a:t>
            </a:r>
            <a:r>
              <a:rPr lang="ja-JP" altLang="en-US" sz="1800">
                <a:effectLst/>
                <a:latin typeface="Meiryo" panose="020B0604030504040204" pitchFamily="34" charset="-128"/>
                <a:ea typeface="Meiryo" panose="020B0604030504040204" pitchFamily="34" charset="-128"/>
              </a:rPr>
              <a:t>密度ベース</a:t>
            </a:r>
            <a:r>
              <a:rPr kumimoji="1" lang="en-US" altLang="ja-JP" dirty="0">
                <a:latin typeface="Meiryo" panose="020B0604030504040204" pitchFamily="34" charset="-128"/>
                <a:ea typeface="Meiryo" panose="020B0604030504040204" pitchFamily="34" charset="-128"/>
              </a:rPr>
              <a:t>)</a:t>
            </a:r>
          </a:p>
        </p:txBody>
      </p:sp>
      <p:sp>
        <p:nvSpPr>
          <p:cNvPr id="11" name="Date Placeholder 10">
            <a:extLst>
              <a:ext uri="{FF2B5EF4-FFF2-40B4-BE49-F238E27FC236}">
                <a16:creationId xmlns:a16="http://schemas.microsoft.com/office/drawing/2014/main" id="{6F94A84B-3276-2E30-182D-477175A46DED}"/>
              </a:ext>
            </a:extLst>
          </p:cNvPr>
          <p:cNvSpPr>
            <a:spLocks noGrp="1"/>
          </p:cNvSpPr>
          <p:nvPr>
            <p:ph type="dt" sz="half" idx="10"/>
          </p:nvPr>
        </p:nvSpPr>
        <p:spPr>
          <a:xfrm>
            <a:off x="838200" y="6553200"/>
            <a:ext cx="2743200" cy="365125"/>
          </a:xfrm>
        </p:spPr>
        <p:txBody>
          <a:bodyPr/>
          <a:lstStyle/>
          <a:p>
            <a:r>
              <a:rPr lang="en-US" altLang="ja-JP" dirty="0"/>
              <a:t>2025/2/27</a:t>
            </a:r>
            <a:endParaRPr lang="en-US" dirty="0"/>
          </a:p>
        </p:txBody>
      </p:sp>
      <p:sp>
        <p:nvSpPr>
          <p:cNvPr id="12" name="フッター プレースホルダー 4">
            <a:extLst>
              <a:ext uri="{FF2B5EF4-FFF2-40B4-BE49-F238E27FC236}">
                <a16:creationId xmlns:a16="http://schemas.microsoft.com/office/drawing/2014/main" id="{0E931419-1389-8FDE-1BBE-F3AC37EFB084}"/>
              </a:ext>
            </a:extLst>
          </p:cNvPr>
          <p:cNvSpPr>
            <a:spLocks noGrp="1"/>
          </p:cNvSpPr>
          <p:nvPr>
            <p:ph type="ftr" sz="quarter" idx="11"/>
          </p:nvPr>
        </p:nvSpPr>
        <p:spPr>
          <a:xfrm>
            <a:off x="4038600" y="6553200"/>
            <a:ext cx="4114800" cy="365125"/>
          </a:xfrm>
        </p:spPr>
        <p:txBody>
          <a:bodyPr/>
          <a:lstStyle/>
          <a:p>
            <a:r>
              <a:rPr lang="fi-FI" dirty="0" err="1"/>
              <a:t>Tsubasa</a:t>
            </a:r>
            <a:r>
              <a:rPr lang="fi-FI" dirty="0"/>
              <a:t> Kato @ </a:t>
            </a:r>
            <a:r>
              <a:rPr lang="fi-FI" dirty="0" err="1"/>
              <a:t>Sakurai</a:t>
            </a:r>
            <a:r>
              <a:rPr lang="fi-FI" dirty="0"/>
              <a:t> </a:t>
            </a:r>
            <a:r>
              <a:rPr lang="fi-FI" dirty="0" err="1"/>
              <a:t>Lab</a:t>
            </a:r>
            <a:r>
              <a:rPr lang="fi-FI" dirty="0"/>
              <a:t>.</a:t>
            </a:r>
            <a:endParaRPr lang="en-US" dirty="0"/>
          </a:p>
        </p:txBody>
      </p:sp>
    </p:spTree>
    <p:extLst>
      <p:ext uri="{BB962C8B-B14F-4D97-AF65-F5344CB8AC3E}">
        <p14:creationId xmlns:p14="http://schemas.microsoft.com/office/powerpoint/2010/main" val="27632043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86C9AB-49B3-DEF7-9C9A-9C18F40E6C3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76BE201-0355-E614-32B9-FEA7AD8D27A4}"/>
              </a:ext>
            </a:extLst>
          </p:cNvPr>
          <p:cNvSpPr>
            <a:spLocks noGrp="1"/>
          </p:cNvSpPr>
          <p:nvPr>
            <p:ph type="title"/>
          </p:nvPr>
        </p:nvSpPr>
        <p:spPr>
          <a:xfrm>
            <a:off x="548268" y="284244"/>
            <a:ext cx="10515600" cy="727695"/>
          </a:xfrm>
        </p:spPr>
        <p:txBody>
          <a:bodyPr>
            <a:normAutofit/>
          </a:bodyPr>
          <a:lstStyle/>
          <a:p>
            <a:pPr algn="l"/>
            <a:r>
              <a:rPr kumimoji="1" lang="ja-JP" altLang="en-US" sz="3200">
                <a:latin typeface="Meiryo" panose="020B0604030504040204" pitchFamily="34" charset="-128"/>
                <a:ea typeface="Meiryo" panose="020B0604030504040204" pitchFamily="34" charset="-128"/>
              </a:rPr>
              <a:t>実験結果</a:t>
            </a:r>
            <a:endParaRPr kumimoji="1" lang="ja-JP" altLang="en-US" sz="3200" b="0">
              <a:solidFill>
                <a:schemeClr val="tx1"/>
              </a:solidFill>
              <a:latin typeface="Meiryo" panose="020B0604030504040204" pitchFamily="34" charset="-128"/>
              <a:ea typeface="Meiryo" panose="020B0604030504040204" pitchFamily="34" charset="-128"/>
            </a:endParaRPr>
          </a:p>
        </p:txBody>
      </p:sp>
      <p:cxnSp>
        <p:nvCxnSpPr>
          <p:cNvPr id="7" name="Straight Connector 6">
            <a:extLst>
              <a:ext uri="{FF2B5EF4-FFF2-40B4-BE49-F238E27FC236}">
                <a16:creationId xmlns:a16="http://schemas.microsoft.com/office/drawing/2014/main" id="{8C943708-D6C0-36D1-12F0-28FE3784BF9D}"/>
              </a:ext>
            </a:extLst>
          </p:cNvPr>
          <p:cNvCxnSpPr>
            <a:cxnSpLocks/>
          </p:cNvCxnSpPr>
          <p:nvPr/>
        </p:nvCxnSpPr>
        <p:spPr>
          <a:xfrm>
            <a:off x="646043" y="874643"/>
            <a:ext cx="10694505"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5ADAEB8A-7A70-2C8E-7C96-82EE01196106}"/>
              </a:ext>
            </a:extLst>
          </p:cNvPr>
          <p:cNvSpPr>
            <a:spLocks noGrp="1"/>
          </p:cNvSpPr>
          <p:nvPr>
            <p:ph type="sldNum" sz="quarter" idx="12"/>
          </p:nvPr>
        </p:nvSpPr>
        <p:spPr/>
        <p:txBody>
          <a:bodyPr/>
          <a:lstStyle/>
          <a:p>
            <a:fld id="{6675BFCB-789E-5945-84C6-0973649846BB}" type="slidenum">
              <a:rPr lang="en-US" smtClean="0"/>
              <a:pPr/>
              <a:t>24</a:t>
            </a:fld>
            <a:endParaRPr lang="en-US" dirty="0"/>
          </a:p>
        </p:txBody>
      </p:sp>
      <p:pic>
        <p:nvPicPr>
          <p:cNvPr id="13" name="図 12">
            <a:extLst>
              <a:ext uri="{FF2B5EF4-FFF2-40B4-BE49-F238E27FC236}">
                <a16:creationId xmlns:a16="http://schemas.microsoft.com/office/drawing/2014/main" id="{28B524B4-810D-39F5-FF55-D484FE92C2CD}"/>
              </a:ext>
            </a:extLst>
          </p:cNvPr>
          <p:cNvPicPr>
            <a:picLocks noChangeAspect="1"/>
          </p:cNvPicPr>
          <p:nvPr/>
        </p:nvPicPr>
        <p:blipFill>
          <a:blip r:embed="rId3"/>
          <a:stretch>
            <a:fillRect/>
          </a:stretch>
        </p:blipFill>
        <p:spPr>
          <a:xfrm>
            <a:off x="1981200" y="1001270"/>
            <a:ext cx="7772400" cy="3886200"/>
          </a:xfrm>
          <a:prstGeom prst="rect">
            <a:avLst/>
          </a:prstGeom>
        </p:spPr>
      </p:pic>
      <p:sp>
        <p:nvSpPr>
          <p:cNvPr id="14" name="テキスト ボックス 13">
            <a:extLst>
              <a:ext uri="{FF2B5EF4-FFF2-40B4-BE49-F238E27FC236}">
                <a16:creationId xmlns:a16="http://schemas.microsoft.com/office/drawing/2014/main" id="{A3462072-6DB1-9C1A-6564-E5A0D196E01B}"/>
              </a:ext>
            </a:extLst>
          </p:cNvPr>
          <p:cNvSpPr txBox="1"/>
          <p:nvPr/>
        </p:nvSpPr>
        <p:spPr>
          <a:xfrm>
            <a:off x="1689652" y="4768096"/>
            <a:ext cx="9587948" cy="1785104"/>
          </a:xfrm>
          <a:prstGeom prst="rect">
            <a:avLst/>
          </a:prstGeom>
          <a:noFill/>
        </p:spPr>
        <p:txBody>
          <a:bodyPr wrap="square" rtlCol="0">
            <a:spAutoFit/>
          </a:bodyPr>
          <a:lstStyle/>
          <a:p>
            <a:pPr marL="342900" indent="-342900">
              <a:buFont typeface="Wingdings" pitchFamily="2" charset="2"/>
              <a:buChar char="ü"/>
            </a:pPr>
            <a:r>
              <a:rPr kumimoji="1" lang="ja-JP" altLang="en-US" sz="2200">
                <a:latin typeface="Meiryo" panose="020B0604030504040204" pitchFamily="34" charset="-128"/>
                <a:ea typeface="Meiryo" panose="020B0604030504040204" pitchFamily="34" charset="-128"/>
              </a:rPr>
              <a:t>合成データと</a:t>
            </a:r>
            <a:r>
              <a:rPr kumimoji="1" lang="en-US" altLang="ja-JP" sz="2200" dirty="0">
                <a:latin typeface="Meiryo" panose="020B0604030504040204" pitchFamily="34" charset="-128"/>
                <a:ea typeface="Meiryo" panose="020B0604030504040204" pitchFamily="34" charset="-128"/>
              </a:rPr>
              <a:t>USC-HAD</a:t>
            </a:r>
            <a:r>
              <a:rPr kumimoji="1" lang="ja-JP" altLang="en-US" sz="2200">
                <a:latin typeface="Meiryo" panose="020B0604030504040204" pitchFamily="34" charset="-128"/>
                <a:ea typeface="Meiryo" panose="020B0604030504040204" pitchFamily="34" charset="-128"/>
              </a:rPr>
              <a:t>において最も良い精度を達成</a:t>
            </a:r>
            <a:endParaRPr kumimoji="1" lang="en-US" altLang="ja-JP" sz="2200" dirty="0">
              <a:latin typeface="Meiryo" panose="020B0604030504040204" pitchFamily="34" charset="-128"/>
              <a:ea typeface="Meiryo" panose="020B0604030504040204" pitchFamily="34" charset="-128"/>
            </a:endParaRPr>
          </a:p>
          <a:p>
            <a:pPr marL="342900" indent="-342900">
              <a:buFont typeface="Wingdings" pitchFamily="2" charset="2"/>
              <a:buChar char="ü"/>
            </a:pPr>
            <a:r>
              <a:rPr kumimoji="1" lang="ja-JP" altLang="en-US" sz="2200">
                <a:latin typeface="Meiryo" panose="020B0604030504040204" pitchFamily="34" charset="-128"/>
                <a:ea typeface="Meiryo" panose="020B0604030504040204" pitchFamily="34" charset="-128"/>
              </a:rPr>
              <a:t>合成データはガウシアンノイズを加えて生成しているため</a:t>
            </a:r>
            <a:r>
              <a:rPr kumimoji="1" lang="en-US" altLang="ja-JP" sz="2200" dirty="0">
                <a:latin typeface="Meiryo" panose="020B0604030504040204" pitchFamily="34" charset="-128"/>
                <a:ea typeface="Meiryo" panose="020B0604030504040204" pitchFamily="34" charset="-128"/>
              </a:rPr>
              <a:t>, </a:t>
            </a:r>
            <a:br>
              <a:rPr kumimoji="1" lang="en-US" altLang="ja-JP" sz="2200" dirty="0">
                <a:latin typeface="Meiryo" panose="020B0604030504040204" pitchFamily="34" charset="-128"/>
                <a:ea typeface="Meiryo" panose="020B0604030504040204" pitchFamily="34" charset="-128"/>
              </a:rPr>
            </a:br>
            <a:r>
              <a:rPr kumimoji="1" lang="ja-JP" altLang="en-US" sz="2200">
                <a:latin typeface="Meiryo" panose="020B0604030504040204" pitchFamily="34" charset="-128"/>
                <a:ea typeface="Meiryo" panose="020B0604030504040204" pitchFamily="34" charset="-128"/>
              </a:rPr>
              <a:t>提案手法のノイズ除去モジュールによって精度が向上した</a:t>
            </a:r>
            <a:endParaRPr kumimoji="1" lang="en-US" altLang="ja-JP" sz="2200" dirty="0">
              <a:latin typeface="Meiryo" panose="020B0604030504040204" pitchFamily="34" charset="-128"/>
              <a:ea typeface="Meiryo" panose="020B0604030504040204" pitchFamily="34" charset="-128"/>
            </a:endParaRPr>
          </a:p>
          <a:p>
            <a:pPr marL="342900" indent="-342900">
              <a:buFont typeface="Wingdings" pitchFamily="2" charset="2"/>
              <a:buChar char="ü"/>
            </a:pPr>
            <a:r>
              <a:rPr kumimoji="1" lang="en-US" altLang="ja-JP" sz="2200" dirty="0">
                <a:latin typeface="Meiryo" panose="020B0604030504040204" pitchFamily="34" charset="-128"/>
                <a:ea typeface="Meiryo" panose="020B0604030504040204" pitchFamily="34" charset="-128"/>
              </a:rPr>
              <a:t>USC-HAD</a:t>
            </a:r>
            <a:r>
              <a:rPr kumimoji="1" lang="ja-JP" altLang="en-US" sz="2200">
                <a:latin typeface="Meiryo" panose="020B0604030504040204" pitchFamily="34" charset="-128"/>
                <a:ea typeface="Meiryo" panose="020B0604030504040204" pitchFamily="34" charset="-128"/>
              </a:rPr>
              <a:t>はデータセットの中で状態数が一番多く</a:t>
            </a:r>
            <a:r>
              <a:rPr kumimoji="1" lang="en-US" altLang="ja-JP" sz="2200" dirty="0">
                <a:latin typeface="Meiryo" panose="020B0604030504040204" pitchFamily="34" charset="-128"/>
                <a:ea typeface="Meiryo" panose="020B0604030504040204" pitchFamily="34" charset="-128"/>
              </a:rPr>
              <a:t>, </a:t>
            </a:r>
            <a:br>
              <a:rPr kumimoji="1" lang="en-US" altLang="ja-JP" sz="2200" dirty="0">
                <a:latin typeface="Meiryo" panose="020B0604030504040204" pitchFamily="34" charset="-128"/>
                <a:ea typeface="Meiryo" panose="020B0604030504040204" pitchFamily="34" charset="-128"/>
              </a:rPr>
            </a:br>
            <a:r>
              <a:rPr kumimoji="1" lang="ja-JP" altLang="en-US" sz="2200">
                <a:latin typeface="Meiryo" panose="020B0604030504040204" pitchFamily="34" charset="-128"/>
                <a:ea typeface="Meiryo" panose="020B0604030504040204" pitchFamily="34" charset="-128"/>
              </a:rPr>
              <a:t>提案手法で識別可能な特徴空間に分離されたため</a:t>
            </a:r>
            <a:r>
              <a:rPr kumimoji="1" lang="en-US" altLang="ja-JP" sz="2200" dirty="0">
                <a:latin typeface="Meiryo" panose="020B0604030504040204" pitchFamily="34" charset="-128"/>
                <a:ea typeface="Meiryo" panose="020B0604030504040204" pitchFamily="34" charset="-128"/>
              </a:rPr>
              <a:t>, </a:t>
            </a:r>
            <a:r>
              <a:rPr kumimoji="1" lang="ja-JP" altLang="en-US" sz="2200">
                <a:latin typeface="Meiryo" panose="020B0604030504040204" pitchFamily="34" charset="-128"/>
                <a:ea typeface="Meiryo" panose="020B0604030504040204" pitchFamily="34" charset="-128"/>
              </a:rPr>
              <a:t>精度が向上した</a:t>
            </a:r>
          </a:p>
        </p:txBody>
      </p:sp>
      <p:sp>
        <p:nvSpPr>
          <p:cNvPr id="15" name="Left Bracket 31">
            <a:extLst>
              <a:ext uri="{FF2B5EF4-FFF2-40B4-BE49-F238E27FC236}">
                <a16:creationId xmlns:a16="http://schemas.microsoft.com/office/drawing/2014/main" id="{951BF92C-B86B-233C-B3C1-353F5FDD8D85}"/>
              </a:ext>
            </a:extLst>
          </p:cNvPr>
          <p:cNvSpPr/>
          <p:nvPr/>
        </p:nvSpPr>
        <p:spPr>
          <a:xfrm rot="5400000">
            <a:off x="3528271" y="1082131"/>
            <a:ext cx="119865" cy="775607"/>
          </a:xfrm>
          <a:prstGeom prst="leftBracket">
            <a:avLst>
              <a:gd name="adj" fmla="val 0"/>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JP"/>
          </a:p>
        </p:txBody>
      </p:sp>
      <p:sp>
        <p:nvSpPr>
          <p:cNvPr id="16" name="TextBox 28">
            <a:extLst>
              <a:ext uri="{FF2B5EF4-FFF2-40B4-BE49-F238E27FC236}">
                <a16:creationId xmlns:a16="http://schemas.microsoft.com/office/drawing/2014/main" id="{A4410DA9-CF05-E36F-B324-0D5E5192EF6B}"/>
              </a:ext>
            </a:extLst>
          </p:cNvPr>
          <p:cNvSpPr txBox="1"/>
          <p:nvPr/>
        </p:nvSpPr>
        <p:spPr>
          <a:xfrm>
            <a:off x="2971800" y="1033046"/>
            <a:ext cx="1005403" cy="338554"/>
          </a:xfrm>
          <a:prstGeom prst="rect">
            <a:avLst/>
          </a:prstGeom>
          <a:noFill/>
        </p:spPr>
        <p:txBody>
          <a:bodyPr wrap="none" rtlCol="0">
            <a:spAutoFit/>
          </a:bodyPr>
          <a:lstStyle/>
          <a:p>
            <a:r>
              <a:rPr lang="en-JP" sz="1600" dirty="0">
                <a:latin typeface="Meiryo" panose="020B0604030504040204" pitchFamily="34" charset="-128"/>
                <a:ea typeface="Meiryo" panose="020B0604030504040204" pitchFamily="34" charset="-128"/>
              </a:rPr>
              <a:t>比較手法</a:t>
            </a:r>
            <a:endParaRPr lang="en-JP" dirty="0">
              <a:latin typeface="Meiryo" panose="020B0604030504040204" pitchFamily="34" charset="-128"/>
              <a:ea typeface="Meiryo" panose="020B0604030504040204" pitchFamily="34" charset="-128"/>
            </a:endParaRPr>
          </a:p>
        </p:txBody>
      </p:sp>
      <p:sp>
        <p:nvSpPr>
          <p:cNvPr id="17" name="Left Bracket 33">
            <a:extLst>
              <a:ext uri="{FF2B5EF4-FFF2-40B4-BE49-F238E27FC236}">
                <a16:creationId xmlns:a16="http://schemas.microsoft.com/office/drawing/2014/main" id="{E550920D-58FF-A83F-A4BC-CC55E49DA7C7}"/>
              </a:ext>
            </a:extLst>
          </p:cNvPr>
          <p:cNvSpPr/>
          <p:nvPr/>
        </p:nvSpPr>
        <p:spPr>
          <a:xfrm rot="5400000">
            <a:off x="4042470" y="1367730"/>
            <a:ext cx="158266" cy="166007"/>
          </a:xfrm>
          <a:prstGeom prst="leftBracket">
            <a:avLst>
              <a:gd name="adj" fmla="val 0"/>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JP"/>
          </a:p>
        </p:txBody>
      </p:sp>
      <p:sp>
        <p:nvSpPr>
          <p:cNvPr id="18" name="TextBox 34">
            <a:extLst>
              <a:ext uri="{FF2B5EF4-FFF2-40B4-BE49-F238E27FC236}">
                <a16:creationId xmlns:a16="http://schemas.microsoft.com/office/drawing/2014/main" id="{1A52DA02-E12E-D5C7-0D9A-FF2361A84287}"/>
              </a:ext>
            </a:extLst>
          </p:cNvPr>
          <p:cNvSpPr txBox="1"/>
          <p:nvPr/>
        </p:nvSpPr>
        <p:spPr>
          <a:xfrm>
            <a:off x="3949810" y="1033046"/>
            <a:ext cx="1005403" cy="338554"/>
          </a:xfrm>
          <a:prstGeom prst="rect">
            <a:avLst/>
          </a:prstGeom>
          <a:noFill/>
        </p:spPr>
        <p:txBody>
          <a:bodyPr wrap="none" rtlCol="0">
            <a:spAutoFit/>
          </a:bodyPr>
          <a:lstStyle/>
          <a:p>
            <a:r>
              <a:rPr lang="en-JP" sz="1600" dirty="0">
                <a:solidFill>
                  <a:srgbClr val="FF0000"/>
                </a:solidFill>
                <a:latin typeface="Meiryo" panose="020B0604030504040204" pitchFamily="34" charset="-128"/>
                <a:ea typeface="Meiryo" panose="020B0604030504040204" pitchFamily="34" charset="-128"/>
              </a:rPr>
              <a:t>提案手法</a:t>
            </a:r>
          </a:p>
        </p:txBody>
      </p:sp>
      <p:sp>
        <p:nvSpPr>
          <p:cNvPr id="19" name="Date Placeholder 10">
            <a:extLst>
              <a:ext uri="{FF2B5EF4-FFF2-40B4-BE49-F238E27FC236}">
                <a16:creationId xmlns:a16="http://schemas.microsoft.com/office/drawing/2014/main" id="{7ED26511-A2A4-6BB6-E9D9-661AD66CC378}"/>
              </a:ext>
            </a:extLst>
          </p:cNvPr>
          <p:cNvSpPr>
            <a:spLocks noGrp="1"/>
          </p:cNvSpPr>
          <p:nvPr>
            <p:ph type="dt" sz="half" idx="10"/>
          </p:nvPr>
        </p:nvSpPr>
        <p:spPr>
          <a:xfrm>
            <a:off x="838200" y="6553200"/>
            <a:ext cx="2743200" cy="365125"/>
          </a:xfrm>
        </p:spPr>
        <p:txBody>
          <a:bodyPr/>
          <a:lstStyle/>
          <a:p>
            <a:r>
              <a:rPr lang="en-US" altLang="ja-JP" dirty="0"/>
              <a:t>2025/2/27</a:t>
            </a:r>
            <a:endParaRPr lang="en-US" dirty="0"/>
          </a:p>
        </p:txBody>
      </p:sp>
      <p:sp>
        <p:nvSpPr>
          <p:cNvPr id="20" name="フッター プレースホルダー 4">
            <a:extLst>
              <a:ext uri="{FF2B5EF4-FFF2-40B4-BE49-F238E27FC236}">
                <a16:creationId xmlns:a16="http://schemas.microsoft.com/office/drawing/2014/main" id="{75505B66-B5D1-B89C-ED60-EBB1E29204D2}"/>
              </a:ext>
            </a:extLst>
          </p:cNvPr>
          <p:cNvSpPr>
            <a:spLocks noGrp="1"/>
          </p:cNvSpPr>
          <p:nvPr>
            <p:ph type="ftr" sz="quarter" idx="11"/>
          </p:nvPr>
        </p:nvSpPr>
        <p:spPr>
          <a:xfrm>
            <a:off x="4038600" y="6553200"/>
            <a:ext cx="4114800" cy="365125"/>
          </a:xfrm>
        </p:spPr>
        <p:txBody>
          <a:bodyPr/>
          <a:lstStyle/>
          <a:p>
            <a:r>
              <a:rPr lang="fi-FI"/>
              <a:t>Tsubasa Kato @ Sakurai Lab.</a:t>
            </a:r>
            <a:endParaRPr lang="en-US" dirty="0"/>
          </a:p>
        </p:txBody>
      </p:sp>
      <p:sp>
        <p:nvSpPr>
          <p:cNvPr id="3" name="Down Arrow 449">
            <a:extLst>
              <a:ext uri="{FF2B5EF4-FFF2-40B4-BE49-F238E27FC236}">
                <a16:creationId xmlns:a16="http://schemas.microsoft.com/office/drawing/2014/main" id="{C3A23EC3-F314-00CB-8E9E-8BB00FC1BABF}"/>
              </a:ext>
            </a:extLst>
          </p:cNvPr>
          <p:cNvSpPr/>
          <p:nvPr/>
        </p:nvSpPr>
        <p:spPr>
          <a:xfrm rot="19330171">
            <a:off x="4905669" y="1459674"/>
            <a:ext cx="276332" cy="437311"/>
          </a:xfrm>
          <a:prstGeom prst="downArrow">
            <a:avLst>
              <a:gd name="adj1" fmla="val 50000"/>
              <a:gd name="adj2" fmla="val 67612"/>
            </a:avLst>
          </a:prstGeom>
          <a:solidFill>
            <a:srgbClr val="9BF7F7"/>
          </a:solidFill>
          <a:ln w="22225">
            <a:solidFill>
              <a:srgbClr val="4472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4" name="Down Arrow 449">
            <a:extLst>
              <a:ext uri="{FF2B5EF4-FFF2-40B4-BE49-F238E27FC236}">
                <a16:creationId xmlns:a16="http://schemas.microsoft.com/office/drawing/2014/main" id="{C434DD70-23FD-EBFB-0CFA-FD3C2C98369F}"/>
              </a:ext>
            </a:extLst>
          </p:cNvPr>
          <p:cNvSpPr/>
          <p:nvPr/>
        </p:nvSpPr>
        <p:spPr>
          <a:xfrm rot="19330171">
            <a:off x="6082718" y="1568653"/>
            <a:ext cx="276332" cy="437311"/>
          </a:xfrm>
          <a:prstGeom prst="downArrow">
            <a:avLst>
              <a:gd name="adj1" fmla="val 50000"/>
              <a:gd name="adj2" fmla="val 67612"/>
            </a:avLst>
          </a:prstGeom>
          <a:solidFill>
            <a:srgbClr val="9BF7F7"/>
          </a:solidFill>
          <a:ln w="22225">
            <a:solidFill>
              <a:srgbClr val="4472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b="1"/>
          </a:p>
        </p:txBody>
      </p:sp>
      <p:sp>
        <p:nvSpPr>
          <p:cNvPr id="5" name="Down Arrow 449">
            <a:extLst>
              <a:ext uri="{FF2B5EF4-FFF2-40B4-BE49-F238E27FC236}">
                <a16:creationId xmlns:a16="http://schemas.microsoft.com/office/drawing/2014/main" id="{ECC30665-9AA2-C4F9-B704-2A77C83F7F2A}"/>
              </a:ext>
            </a:extLst>
          </p:cNvPr>
          <p:cNvSpPr/>
          <p:nvPr/>
        </p:nvSpPr>
        <p:spPr>
          <a:xfrm rot="19330171">
            <a:off x="7259768" y="2048871"/>
            <a:ext cx="276332" cy="437311"/>
          </a:xfrm>
          <a:prstGeom prst="downArrow">
            <a:avLst>
              <a:gd name="adj1" fmla="val 50000"/>
              <a:gd name="adj2" fmla="val 67612"/>
            </a:avLst>
          </a:prstGeom>
          <a:solidFill>
            <a:srgbClr val="9BF7F7"/>
          </a:solidFill>
          <a:ln w="22225">
            <a:solidFill>
              <a:srgbClr val="4472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8" name="Down Arrow 449">
            <a:extLst>
              <a:ext uri="{FF2B5EF4-FFF2-40B4-BE49-F238E27FC236}">
                <a16:creationId xmlns:a16="http://schemas.microsoft.com/office/drawing/2014/main" id="{6D4474F8-5BD1-439F-CAC4-8E63B3BF4DA1}"/>
              </a:ext>
            </a:extLst>
          </p:cNvPr>
          <p:cNvSpPr/>
          <p:nvPr/>
        </p:nvSpPr>
        <p:spPr>
          <a:xfrm rot="19330171">
            <a:off x="8335394" y="1202232"/>
            <a:ext cx="276332" cy="437311"/>
          </a:xfrm>
          <a:prstGeom prst="downArrow">
            <a:avLst>
              <a:gd name="adj1" fmla="val 50000"/>
              <a:gd name="adj2" fmla="val 67612"/>
            </a:avLst>
          </a:prstGeom>
          <a:solidFill>
            <a:srgbClr val="9BF7F7"/>
          </a:solidFill>
          <a:ln w="22225">
            <a:solidFill>
              <a:srgbClr val="4472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Tree>
    <p:extLst>
      <p:ext uri="{BB962C8B-B14F-4D97-AF65-F5344CB8AC3E}">
        <p14:creationId xmlns:p14="http://schemas.microsoft.com/office/powerpoint/2010/main" val="8825553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FAD604-F99C-E541-9432-361C9402E16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3954911-6849-A4AE-0BC0-A478FEDB0E6D}"/>
              </a:ext>
            </a:extLst>
          </p:cNvPr>
          <p:cNvSpPr>
            <a:spLocks noGrp="1"/>
          </p:cNvSpPr>
          <p:nvPr>
            <p:ph type="title"/>
          </p:nvPr>
        </p:nvSpPr>
        <p:spPr>
          <a:xfrm>
            <a:off x="548268" y="284244"/>
            <a:ext cx="10515600" cy="727695"/>
          </a:xfrm>
        </p:spPr>
        <p:txBody>
          <a:bodyPr>
            <a:normAutofit/>
          </a:bodyPr>
          <a:lstStyle/>
          <a:p>
            <a:pPr algn="l"/>
            <a:r>
              <a:rPr kumimoji="1" lang="ja-JP" altLang="en-US" sz="3200">
                <a:latin typeface="Meiryo" panose="020B0604030504040204" pitchFamily="34" charset="-128"/>
                <a:ea typeface="Meiryo" panose="020B0604030504040204" pitchFamily="34" charset="-128"/>
              </a:rPr>
              <a:t>実験結果</a:t>
            </a:r>
            <a:endParaRPr kumimoji="1" lang="ja-JP" altLang="en-US" sz="3200" b="0">
              <a:solidFill>
                <a:schemeClr val="tx1"/>
              </a:solidFill>
              <a:latin typeface="Meiryo" panose="020B0604030504040204" pitchFamily="34" charset="-128"/>
              <a:ea typeface="Meiryo" panose="020B0604030504040204" pitchFamily="34" charset="-128"/>
            </a:endParaRPr>
          </a:p>
        </p:txBody>
      </p:sp>
      <p:cxnSp>
        <p:nvCxnSpPr>
          <p:cNvPr id="7" name="Straight Connector 6">
            <a:extLst>
              <a:ext uri="{FF2B5EF4-FFF2-40B4-BE49-F238E27FC236}">
                <a16:creationId xmlns:a16="http://schemas.microsoft.com/office/drawing/2014/main" id="{1446925E-CFE7-4F92-F5AD-2269BC22F498}"/>
              </a:ext>
            </a:extLst>
          </p:cNvPr>
          <p:cNvCxnSpPr>
            <a:cxnSpLocks/>
          </p:cNvCxnSpPr>
          <p:nvPr/>
        </p:nvCxnSpPr>
        <p:spPr>
          <a:xfrm>
            <a:off x="646043" y="874643"/>
            <a:ext cx="10694505"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A5667854-24AA-33ED-00CF-01D096D48EDF}"/>
              </a:ext>
            </a:extLst>
          </p:cNvPr>
          <p:cNvSpPr>
            <a:spLocks noGrp="1"/>
          </p:cNvSpPr>
          <p:nvPr>
            <p:ph type="sldNum" sz="quarter" idx="12"/>
          </p:nvPr>
        </p:nvSpPr>
        <p:spPr/>
        <p:txBody>
          <a:bodyPr/>
          <a:lstStyle/>
          <a:p>
            <a:fld id="{6675BFCB-789E-5945-84C6-0973649846BB}" type="slidenum">
              <a:rPr lang="en-US" smtClean="0"/>
              <a:pPr/>
              <a:t>25</a:t>
            </a:fld>
            <a:endParaRPr lang="en-US" dirty="0"/>
          </a:p>
        </p:txBody>
      </p:sp>
      <p:pic>
        <p:nvPicPr>
          <p:cNvPr id="4" name="図 3" descr="グラフ, 折れ線グラフ&#10;&#10;AI によって生成されたコンテンツは間違っている可能性があります。">
            <a:extLst>
              <a:ext uri="{FF2B5EF4-FFF2-40B4-BE49-F238E27FC236}">
                <a16:creationId xmlns:a16="http://schemas.microsoft.com/office/drawing/2014/main" id="{93F7188F-BF29-87FF-42F5-B8603BFA90BF}"/>
              </a:ext>
            </a:extLst>
          </p:cNvPr>
          <p:cNvPicPr>
            <a:picLocks noChangeAspect="1"/>
          </p:cNvPicPr>
          <p:nvPr/>
        </p:nvPicPr>
        <p:blipFill>
          <a:blip r:embed="rId3"/>
          <a:stretch>
            <a:fillRect/>
          </a:stretch>
        </p:blipFill>
        <p:spPr>
          <a:xfrm>
            <a:off x="523751" y="2773101"/>
            <a:ext cx="5943600" cy="3714750"/>
          </a:xfrm>
          <a:prstGeom prst="rect">
            <a:avLst/>
          </a:prstGeom>
        </p:spPr>
      </p:pic>
      <p:pic>
        <p:nvPicPr>
          <p:cNvPr id="5" name="図 4">
            <a:extLst>
              <a:ext uri="{FF2B5EF4-FFF2-40B4-BE49-F238E27FC236}">
                <a16:creationId xmlns:a16="http://schemas.microsoft.com/office/drawing/2014/main" id="{C9FCF43B-1BD0-DB9E-A5A5-1236C77767C5}"/>
              </a:ext>
            </a:extLst>
          </p:cNvPr>
          <p:cNvPicPr>
            <a:picLocks noChangeAspect="1"/>
          </p:cNvPicPr>
          <p:nvPr/>
        </p:nvPicPr>
        <p:blipFill>
          <a:blip r:embed="rId4"/>
          <a:stretch>
            <a:fillRect/>
          </a:stretch>
        </p:blipFill>
        <p:spPr>
          <a:xfrm>
            <a:off x="548268" y="1400306"/>
            <a:ext cx="10334736" cy="827219"/>
          </a:xfrm>
          <a:prstGeom prst="rect">
            <a:avLst/>
          </a:prstGeom>
        </p:spPr>
      </p:pic>
      <p:sp>
        <p:nvSpPr>
          <p:cNvPr id="8" name="テキスト ボックス 7">
            <a:extLst>
              <a:ext uri="{FF2B5EF4-FFF2-40B4-BE49-F238E27FC236}">
                <a16:creationId xmlns:a16="http://schemas.microsoft.com/office/drawing/2014/main" id="{337B26D6-DC68-2D22-7840-F1199C0AE6AF}"/>
              </a:ext>
            </a:extLst>
          </p:cNvPr>
          <p:cNvSpPr txBox="1"/>
          <p:nvPr/>
        </p:nvSpPr>
        <p:spPr>
          <a:xfrm>
            <a:off x="685800" y="1030974"/>
            <a:ext cx="8153400" cy="430887"/>
          </a:xfrm>
          <a:prstGeom prst="rect">
            <a:avLst/>
          </a:prstGeom>
          <a:noFill/>
        </p:spPr>
        <p:txBody>
          <a:bodyPr wrap="square" rtlCol="0">
            <a:spAutoFit/>
          </a:bodyPr>
          <a:lstStyle/>
          <a:p>
            <a:pPr marL="285750" indent="-285750">
              <a:buFont typeface="Arial" panose="020B0604020202020204" pitchFamily="34" charset="0"/>
              <a:buChar char="•"/>
            </a:pPr>
            <a:r>
              <a:rPr kumimoji="1" lang="ja-JP" altLang="en-US" sz="2200">
                <a:latin typeface="Meiryo" panose="020B0604030504040204" pitchFamily="34" charset="-128"/>
                <a:ea typeface="Meiryo" panose="020B0604030504040204" pitchFamily="34" charset="-128"/>
              </a:rPr>
              <a:t>提案手法のモジュールに対するアブレーションスタディ</a:t>
            </a:r>
          </a:p>
        </p:txBody>
      </p:sp>
      <p:sp>
        <p:nvSpPr>
          <p:cNvPr id="9" name="テキスト ボックス 8">
            <a:extLst>
              <a:ext uri="{FF2B5EF4-FFF2-40B4-BE49-F238E27FC236}">
                <a16:creationId xmlns:a16="http://schemas.microsoft.com/office/drawing/2014/main" id="{3C8D794E-0AC2-500D-CAF2-A1185183D69C}"/>
              </a:ext>
            </a:extLst>
          </p:cNvPr>
          <p:cNvSpPr txBox="1"/>
          <p:nvPr/>
        </p:nvSpPr>
        <p:spPr>
          <a:xfrm>
            <a:off x="705678" y="2305045"/>
            <a:ext cx="8153400" cy="430887"/>
          </a:xfrm>
          <a:prstGeom prst="rect">
            <a:avLst/>
          </a:prstGeom>
          <a:noFill/>
        </p:spPr>
        <p:txBody>
          <a:bodyPr wrap="square" rtlCol="0">
            <a:spAutoFit/>
          </a:bodyPr>
          <a:lstStyle/>
          <a:p>
            <a:pPr marL="285750" indent="-285750">
              <a:buFont typeface="Arial" panose="020B0604020202020204" pitchFamily="34" charset="0"/>
              <a:buChar char="•"/>
            </a:pPr>
            <a:r>
              <a:rPr kumimoji="1" lang="ja-JP" altLang="en-US" sz="2200">
                <a:latin typeface="Meiryo" panose="020B0604030504040204" pitchFamily="34" charset="-128"/>
                <a:ea typeface="Meiryo" panose="020B0604030504040204" pitchFamily="34" charset="-128"/>
              </a:rPr>
              <a:t>分割推論と一括推論の精度の違い</a:t>
            </a:r>
          </a:p>
        </p:txBody>
      </p:sp>
      <p:sp>
        <p:nvSpPr>
          <p:cNvPr id="10" name="テキスト ボックス 9">
            <a:extLst>
              <a:ext uri="{FF2B5EF4-FFF2-40B4-BE49-F238E27FC236}">
                <a16:creationId xmlns:a16="http://schemas.microsoft.com/office/drawing/2014/main" id="{BC516409-C86D-B8E9-78B6-676DA7D5D5AD}"/>
              </a:ext>
            </a:extLst>
          </p:cNvPr>
          <p:cNvSpPr txBox="1"/>
          <p:nvPr/>
        </p:nvSpPr>
        <p:spPr>
          <a:xfrm>
            <a:off x="6553200" y="3124200"/>
            <a:ext cx="5410200" cy="2862322"/>
          </a:xfrm>
          <a:prstGeom prst="rect">
            <a:avLst/>
          </a:prstGeom>
          <a:noFill/>
        </p:spPr>
        <p:txBody>
          <a:bodyPr wrap="square" rtlCol="0">
            <a:spAutoFit/>
          </a:bodyPr>
          <a:lstStyle/>
          <a:p>
            <a:pPr marL="285750" indent="-285750">
              <a:buFont typeface="Wingdings" pitchFamily="2" charset="2"/>
              <a:buChar char="Ø"/>
            </a:pPr>
            <a:r>
              <a:rPr kumimoji="1" lang="ja-JP" altLang="en-US" sz="2000">
                <a:latin typeface="Meiryo" panose="020B0604030504040204" pitchFamily="34" charset="-128"/>
                <a:ea typeface="Meiryo" panose="020B0604030504040204" pitchFamily="34" charset="-128"/>
              </a:rPr>
              <a:t>ノイズ除去モジュール</a:t>
            </a:r>
            <a:r>
              <a:rPr kumimoji="1" lang="en-US" altLang="ja-JP" sz="2000" dirty="0">
                <a:latin typeface="Meiryo" panose="020B0604030504040204" pitchFamily="34" charset="-128"/>
                <a:ea typeface="Meiryo" panose="020B0604030504040204" pitchFamily="34" charset="-128"/>
              </a:rPr>
              <a:t>I/O</a:t>
            </a:r>
            <a:r>
              <a:rPr kumimoji="1" lang="ja-JP" altLang="en-US" sz="2000">
                <a:latin typeface="Meiryo" panose="020B0604030504040204" pitchFamily="34" charset="-128"/>
                <a:ea typeface="Meiryo" panose="020B0604030504040204" pitchFamily="34" charset="-128"/>
              </a:rPr>
              <a:t>が最も精度が落ちていることからノイズ除去が有効に働いている</a:t>
            </a:r>
            <a:br>
              <a:rPr kumimoji="1" lang="en-US" altLang="ja-JP" sz="2000" dirty="0">
                <a:latin typeface="Meiryo" panose="020B0604030504040204" pitchFamily="34" charset="-128"/>
                <a:ea typeface="Meiryo" panose="020B0604030504040204" pitchFamily="34" charset="-128"/>
              </a:rPr>
            </a:br>
            <a:endParaRPr kumimoji="1" lang="en-US" altLang="ja-JP" sz="2000" dirty="0">
              <a:latin typeface="Meiryo" panose="020B0604030504040204" pitchFamily="34" charset="-128"/>
              <a:ea typeface="Meiryo" panose="020B0604030504040204" pitchFamily="34" charset="-128"/>
            </a:endParaRPr>
          </a:p>
          <a:p>
            <a:pPr marL="285750" indent="-285750">
              <a:buFont typeface="Wingdings" pitchFamily="2" charset="2"/>
              <a:buChar char="Ø"/>
            </a:pPr>
            <a:r>
              <a:rPr kumimoji="1" lang="ja-JP" altLang="en-US" sz="2000">
                <a:latin typeface="Meiryo" panose="020B0604030504040204" pitchFamily="34" charset="-128"/>
                <a:ea typeface="Meiryo" panose="020B0604030504040204" pitchFamily="34" charset="-128"/>
              </a:rPr>
              <a:t>一括推論に比べて</a:t>
            </a:r>
            <a:r>
              <a:rPr kumimoji="1" lang="en-US" altLang="ja-JP" sz="2000" dirty="0">
                <a:latin typeface="Meiryo" panose="020B0604030504040204" pitchFamily="34" charset="-128"/>
                <a:ea typeface="Meiryo" panose="020B0604030504040204" pitchFamily="34" charset="-128"/>
              </a:rPr>
              <a:t>, </a:t>
            </a:r>
            <a:r>
              <a:rPr kumimoji="1" lang="ja-JP" altLang="en-US" sz="2000">
                <a:latin typeface="Meiryo" panose="020B0604030504040204" pitchFamily="34" charset="-128"/>
                <a:ea typeface="Meiryo" panose="020B0604030504040204" pitchFamily="34" charset="-128"/>
              </a:rPr>
              <a:t>分割推論は２倍以上の精度</a:t>
            </a:r>
            <a:br>
              <a:rPr kumimoji="1" lang="en-US" altLang="ja-JP" sz="2000" dirty="0">
                <a:latin typeface="Meiryo" panose="020B0604030504040204" pitchFamily="34" charset="-128"/>
                <a:ea typeface="Meiryo" panose="020B0604030504040204" pitchFamily="34" charset="-128"/>
              </a:rPr>
            </a:br>
            <a:endParaRPr kumimoji="1" lang="en-US" altLang="ja-JP" sz="2000" dirty="0">
              <a:latin typeface="Meiryo" panose="020B0604030504040204" pitchFamily="34" charset="-128"/>
              <a:ea typeface="Meiryo" panose="020B0604030504040204" pitchFamily="34" charset="-128"/>
            </a:endParaRPr>
          </a:p>
          <a:p>
            <a:pPr marL="285750" indent="-285750">
              <a:buFont typeface="Wingdings" pitchFamily="2" charset="2"/>
              <a:buChar char="Ø"/>
            </a:pPr>
            <a:r>
              <a:rPr kumimoji="1" lang="ja-JP" altLang="en-US" sz="2000">
                <a:latin typeface="Meiryo" panose="020B0604030504040204" pitchFamily="34" charset="-128"/>
                <a:ea typeface="Meiryo" panose="020B0604030504040204" pitchFamily="34" charset="-128"/>
              </a:rPr>
              <a:t>分割推論の最多割り当て機構によって</a:t>
            </a:r>
            <a:r>
              <a:rPr kumimoji="1" lang="en-US" altLang="ja-JP" sz="2000" dirty="0">
                <a:latin typeface="Meiryo" panose="020B0604030504040204" pitchFamily="34" charset="-128"/>
                <a:ea typeface="Meiryo" panose="020B0604030504040204" pitchFamily="34" charset="-128"/>
              </a:rPr>
              <a:t>, </a:t>
            </a:r>
            <a:br>
              <a:rPr kumimoji="1" lang="en-US" altLang="ja-JP" sz="2000" dirty="0">
                <a:latin typeface="Meiryo" panose="020B0604030504040204" pitchFamily="34" charset="-128"/>
                <a:ea typeface="Meiryo" panose="020B0604030504040204" pitchFamily="34" charset="-128"/>
              </a:rPr>
            </a:br>
            <a:r>
              <a:rPr kumimoji="1" lang="ja-JP" altLang="en-US" sz="2000">
                <a:latin typeface="Meiryo" panose="020B0604030504040204" pitchFamily="34" charset="-128"/>
                <a:ea typeface="Meiryo" panose="020B0604030504040204" pitchFamily="34" charset="-128"/>
              </a:rPr>
              <a:t>適切なラベルへの修正が行われている</a:t>
            </a:r>
          </a:p>
        </p:txBody>
      </p:sp>
      <p:sp>
        <p:nvSpPr>
          <p:cNvPr id="11" name="正方形/長方形 10">
            <a:extLst>
              <a:ext uri="{FF2B5EF4-FFF2-40B4-BE49-F238E27FC236}">
                <a16:creationId xmlns:a16="http://schemas.microsoft.com/office/drawing/2014/main" id="{7A72321D-9D6E-3C48-7F78-5F270F287EAF}"/>
              </a:ext>
            </a:extLst>
          </p:cNvPr>
          <p:cNvSpPr/>
          <p:nvPr/>
        </p:nvSpPr>
        <p:spPr>
          <a:xfrm>
            <a:off x="4979366" y="6096000"/>
            <a:ext cx="1472540" cy="28500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12" name="テキスト ボックス 11">
            <a:extLst>
              <a:ext uri="{FF2B5EF4-FFF2-40B4-BE49-F238E27FC236}">
                <a16:creationId xmlns:a16="http://schemas.microsoft.com/office/drawing/2014/main" id="{EBDF2FB6-297B-5BCB-6EF9-C5C4E20B4054}"/>
              </a:ext>
            </a:extLst>
          </p:cNvPr>
          <p:cNvSpPr txBox="1"/>
          <p:nvPr/>
        </p:nvSpPr>
        <p:spPr>
          <a:xfrm>
            <a:off x="5943600" y="6093023"/>
            <a:ext cx="403761" cy="307777"/>
          </a:xfrm>
          <a:prstGeom prst="rect">
            <a:avLst/>
          </a:prstGeom>
          <a:noFill/>
        </p:spPr>
        <p:txBody>
          <a:bodyPr wrap="square" rtlCol="0">
            <a:spAutoFit/>
          </a:bodyPr>
          <a:lstStyle/>
          <a:p>
            <a:r>
              <a:rPr lang="ja-JP" altLang="en-US" sz="1400" b="1"/>
              <a:t>♾️</a:t>
            </a:r>
            <a:endParaRPr kumimoji="1" lang="ja-JP" altLang="en-US" sz="1400" b="1"/>
          </a:p>
        </p:txBody>
      </p:sp>
      <p:sp>
        <p:nvSpPr>
          <p:cNvPr id="13" name="Date Placeholder 10">
            <a:extLst>
              <a:ext uri="{FF2B5EF4-FFF2-40B4-BE49-F238E27FC236}">
                <a16:creationId xmlns:a16="http://schemas.microsoft.com/office/drawing/2014/main" id="{2B582FDC-4ABC-4C75-707A-F3E16EE613EC}"/>
              </a:ext>
            </a:extLst>
          </p:cNvPr>
          <p:cNvSpPr>
            <a:spLocks noGrp="1"/>
          </p:cNvSpPr>
          <p:nvPr>
            <p:ph type="dt" sz="half" idx="10"/>
          </p:nvPr>
        </p:nvSpPr>
        <p:spPr>
          <a:xfrm>
            <a:off x="838200" y="6553200"/>
            <a:ext cx="2743200" cy="365125"/>
          </a:xfrm>
        </p:spPr>
        <p:txBody>
          <a:bodyPr/>
          <a:lstStyle/>
          <a:p>
            <a:r>
              <a:rPr lang="en-US" altLang="ja-JP" dirty="0"/>
              <a:t>2025/2/27</a:t>
            </a:r>
            <a:endParaRPr lang="en-US" dirty="0"/>
          </a:p>
        </p:txBody>
      </p:sp>
      <p:sp>
        <p:nvSpPr>
          <p:cNvPr id="14" name="フッター プレースホルダー 4">
            <a:extLst>
              <a:ext uri="{FF2B5EF4-FFF2-40B4-BE49-F238E27FC236}">
                <a16:creationId xmlns:a16="http://schemas.microsoft.com/office/drawing/2014/main" id="{D072F845-733B-5EA4-B7CD-83410CCA2E45}"/>
              </a:ext>
            </a:extLst>
          </p:cNvPr>
          <p:cNvSpPr>
            <a:spLocks noGrp="1"/>
          </p:cNvSpPr>
          <p:nvPr>
            <p:ph type="ftr" sz="quarter" idx="11"/>
          </p:nvPr>
        </p:nvSpPr>
        <p:spPr>
          <a:xfrm>
            <a:off x="4038600" y="6553200"/>
            <a:ext cx="4114800" cy="365125"/>
          </a:xfrm>
        </p:spPr>
        <p:txBody>
          <a:bodyPr/>
          <a:lstStyle/>
          <a:p>
            <a:r>
              <a:rPr lang="fi-FI"/>
              <a:t>Tsubasa Kato @ Sakurai Lab.</a:t>
            </a:r>
            <a:endParaRPr lang="en-US" dirty="0"/>
          </a:p>
        </p:txBody>
      </p:sp>
      <p:sp>
        <p:nvSpPr>
          <p:cNvPr id="15" name="テキスト ボックス 14">
            <a:extLst>
              <a:ext uri="{FF2B5EF4-FFF2-40B4-BE49-F238E27FC236}">
                <a16:creationId xmlns:a16="http://schemas.microsoft.com/office/drawing/2014/main" id="{E2E13871-77C2-6661-22F4-4843308501D6}"/>
              </a:ext>
            </a:extLst>
          </p:cNvPr>
          <p:cNvSpPr txBox="1"/>
          <p:nvPr/>
        </p:nvSpPr>
        <p:spPr>
          <a:xfrm>
            <a:off x="5334000" y="3059668"/>
            <a:ext cx="1192834" cy="369332"/>
          </a:xfrm>
          <a:prstGeom prst="rect">
            <a:avLst/>
          </a:prstGeom>
          <a:noFill/>
        </p:spPr>
        <p:txBody>
          <a:bodyPr wrap="square" rtlCol="0">
            <a:spAutoFit/>
          </a:bodyPr>
          <a:lstStyle/>
          <a:p>
            <a:r>
              <a:rPr kumimoji="1" lang="en-US" altLang="ja-JP" dirty="0">
                <a:solidFill>
                  <a:srgbClr val="FF0000"/>
                </a:solidFill>
              </a:rPr>
              <a:t>Proposed</a:t>
            </a:r>
            <a:endParaRPr kumimoji="1" lang="ja-JP" altLang="en-US">
              <a:solidFill>
                <a:srgbClr val="FF0000"/>
              </a:solidFill>
            </a:endParaRPr>
          </a:p>
        </p:txBody>
      </p:sp>
    </p:spTree>
    <p:extLst>
      <p:ext uri="{BB962C8B-B14F-4D97-AF65-F5344CB8AC3E}">
        <p14:creationId xmlns:p14="http://schemas.microsoft.com/office/powerpoint/2010/main" val="6750362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付プレースホルダー 3">
            <a:extLst>
              <a:ext uri="{FF2B5EF4-FFF2-40B4-BE49-F238E27FC236}">
                <a16:creationId xmlns:a16="http://schemas.microsoft.com/office/drawing/2014/main" id="{CE324B26-ECD6-5980-2F91-7D17F88A4D98}"/>
              </a:ext>
            </a:extLst>
          </p:cNvPr>
          <p:cNvSpPr>
            <a:spLocks noGrp="1"/>
          </p:cNvSpPr>
          <p:nvPr>
            <p:ph type="dt" sz="half" idx="10"/>
          </p:nvPr>
        </p:nvSpPr>
        <p:spPr/>
        <p:txBody>
          <a:bodyPr/>
          <a:lstStyle/>
          <a:p>
            <a:r>
              <a:rPr lang="en-US" altLang="ja-JP" dirty="0"/>
              <a:t>2025/2/27</a:t>
            </a:r>
            <a:endParaRPr lang="en-US" dirty="0"/>
          </a:p>
        </p:txBody>
      </p:sp>
      <p:sp>
        <p:nvSpPr>
          <p:cNvPr id="5" name="フッター プレースホルダー 4">
            <a:extLst>
              <a:ext uri="{FF2B5EF4-FFF2-40B4-BE49-F238E27FC236}">
                <a16:creationId xmlns:a16="http://schemas.microsoft.com/office/drawing/2014/main" id="{C2F58670-B4BC-FF89-0923-8A53849039CA}"/>
              </a:ext>
            </a:extLst>
          </p:cNvPr>
          <p:cNvSpPr>
            <a:spLocks noGrp="1"/>
          </p:cNvSpPr>
          <p:nvPr>
            <p:ph type="ftr" sz="quarter" idx="11"/>
          </p:nvPr>
        </p:nvSpPr>
        <p:spPr/>
        <p:txBody>
          <a:bodyPr/>
          <a:lstStyle/>
          <a:p>
            <a:r>
              <a:rPr lang="fi-FI"/>
              <a:t>Tsubasa Kato @ Sakurai Lab.</a:t>
            </a:r>
            <a:endParaRPr lang="en-US" dirty="0"/>
          </a:p>
        </p:txBody>
      </p:sp>
      <p:sp>
        <p:nvSpPr>
          <p:cNvPr id="6" name="スライド番号プレースホルダー 5">
            <a:extLst>
              <a:ext uri="{FF2B5EF4-FFF2-40B4-BE49-F238E27FC236}">
                <a16:creationId xmlns:a16="http://schemas.microsoft.com/office/drawing/2014/main" id="{E6C4574F-F970-4010-1262-F3E48B692294}"/>
              </a:ext>
            </a:extLst>
          </p:cNvPr>
          <p:cNvSpPr>
            <a:spLocks noGrp="1"/>
          </p:cNvSpPr>
          <p:nvPr>
            <p:ph type="sldNum" sz="quarter" idx="12"/>
          </p:nvPr>
        </p:nvSpPr>
        <p:spPr/>
        <p:txBody>
          <a:bodyPr/>
          <a:lstStyle/>
          <a:p>
            <a:fld id="{6675BFCB-789E-5945-84C6-0973649846BB}" type="slidenum">
              <a:rPr lang="en-US" smtClean="0"/>
              <a:pPr/>
              <a:t>26</a:t>
            </a:fld>
            <a:endParaRPr lang="en-US" dirty="0"/>
          </a:p>
        </p:txBody>
      </p:sp>
      <p:pic>
        <p:nvPicPr>
          <p:cNvPr id="7" name="図 6">
            <a:extLst>
              <a:ext uri="{FF2B5EF4-FFF2-40B4-BE49-F238E27FC236}">
                <a16:creationId xmlns:a16="http://schemas.microsoft.com/office/drawing/2014/main" id="{B540A383-F768-A883-6CAB-20BD37B88CB3}"/>
              </a:ext>
            </a:extLst>
          </p:cNvPr>
          <p:cNvPicPr>
            <a:picLocks noChangeAspect="1"/>
          </p:cNvPicPr>
          <p:nvPr/>
        </p:nvPicPr>
        <p:blipFill>
          <a:blip r:embed="rId2"/>
          <a:stretch>
            <a:fillRect/>
          </a:stretch>
        </p:blipFill>
        <p:spPr>
          <a:xfrm>
            <a:off x="142160" y="1492683"/>
            <a:ext cx="5820634" cy="4002833"/>
          </a:xfrm>
          <a:prstGeom prst="rect">
            <a:avLst/>
          </a:prstGeom>
          <a:ln w="25400">
            <a:solidFill>
              <a:schemeClr val="tx1"/>
            </a:solidFill>
          </a:ln>
        </p:spPr>
      </p:pic>
      <p:pic>
        <p:nvPicPr>
          <p:cNvPr id="8" name="図 7">
            <a:extLst>
              <a:ext uri="{FF2B5EF4-FFF2-40B4-BE49-F238E27FC236}">
                <a16:creationId xmlns:a16="http://schemas.microsoft.com/office/drawing/2014/main" id="{A8F931E2-6767-0782-A90B-00A3E2F152D6}"/>
              </a:ext>
            </a:extLst>
          </p:cNvPr>
          <p:cNvPicPr>
            <a:picLocks noChangeAspect="1"/>
          </p:cNvPicPr>
          <p:nvPr/>
        </p:nvPicPr>
        <p:blipFill>
          <a:blip r:embed="rId3"/>
          <a:stretch>
            <a:fillRect/>
          </a:stretch>
        </p:blipFill>
        <p:spPr>
          <a:xfrm>
            <a:off x="6202207" y="1492683"/>
            <a:ext cx="5761193" cy="4069917"/>
          </a:xfrm>
          <a:prstGeom prst="rect">
            <a:avLst/>
          </a:prstGeom>
          <a:ln w="25400">
            <a:solidFill>
              <a:schemeClr val="tx1"/>
            </a:solidFill>
          </a:ln>
        </p:spPr>
      </p:pic>
      <p:sp>
        <p:nvSpPr>
          <p:cNvPr id="9" name="テキスト ボックス 8">
            <a:extLst>
              <a:ext uri="{FF2B5EF4-FFF2-40B4-BE49-F238E27FC236}">
                <a16:creationId xmlns:a16="http://schemas.microsoft.com/office/drawing/2014/main" id="{B24E4D7B-32B0-D228-B489-7F27C497E3CA}"/>
              </a:ext>
            </a:extLst>
          </p:cNvPr>
          <p:cNvSpPr txBox="1"/>
          <p:nvPr/>
        </p:nvSpPr>
        <p:spPr>
          <a:xfrm>
            <a:off x="2176177" y="5655026"/>
            <a:ext cx="1752600" cy="369332"/>
          </a:xfrm>
          <a:prstGeom prst="rect">
            <a:avLst/>
          </a:prstGeom>
          <a:noFill/>
        </p:spPr>
        <p:txBody>
          <a:bodyPr wrap="square" rtlCol="0">
            <a:spAutoFit/>
          </a:bodyPr>
          <a:lstStyle/>
          <a:p>
            <a:r>
              <a:rPr kumimoji="1" lang="ja-JP" altLang="en-US">
                <a:latin typeface="Meiryo" panose="020B0604030504040204" pitchFamily="34" charset="-128"/>
                <a:ea typeface="Meiryo" panose="020B0604030504040204" pitchFamily="34" charset="-128"/>
              </a:rPr>
              <a:t>分割推論</a:t>
            </a:r>
          </a:p>
        </p:txBody>
      </p:sp>
      <p:sp>
        <p:nvSpPr>
          <p:cNvPr id="10" name="タイトル 1">
            <a:extLst>
              <a:ext uri="{FF2B5EF4-FFF2-40B4-BE49-F238E27FC236}">
                <a16:creationId xmlns:a16="http://schemas.microsoft.com/office/drawing/2014/main" id="{8E89330D-B999-768F-D612-C49304F5D688}"/>
              </a:ext>
            </a:extLst>
          </p:cNvPr>
          <p:cNvSpPr>
            <a:spLocks noGrp="1"/>
          </p:cNvSpPr>
          <p:nvPr>
            <p:ph type="title"/>
          </p:nvPr>
        </p:nvSpPr>
        <p:spPr>
          <a:xfrm>
            <a:off x="548268" y="284244"/>
            <a:ext cx="10515600" cy="727695"/>
          </a:xfrm>
        </p:spPr>
        <p:txBody>
          <a:bodyPr>
            <a:normAutofit/>
          </a:bodyPr>
          <a:lstStyle/>
          <a:p>
            <a:pPr algn="l"/>
            <a:r>
              <a:rPr kumimoji="1" lang="ja-JP" altLang="en-US" sz="3200">
                <a:latin typeface="Meiryo" panose="020B0604030504040204" pitchFamily="34" charset="-128"/>
                <a:ea typeface="Meiryo" panose="020B0604030504040204" pitchFamily="34" charset="-128"/>
              </a:rPr>
              <a:t>実験結果</a:t>
            </a:r>
            <a:endParaRPr kumimoji="1" lang="ja-JP" altLang="en-US" sz="3200" b="0">
              <a:solidFill>
                <a:schemeClr val="tx1"/>
              </a:solidFill>
              <a:latin typeface="Meiryo" panose="020B0604030504040204" pitchFamily="34" charset="-128"/>
              <a:ea typeface="Meiryo" panose="020B0604030504040204" pitchFamily="34" charset="-128"/>
            </a:endParaRPr>
          </a:p>
        </p:txBody>
      </p:sp>
      <p:cxnSp>
        <p:nvCxnSpPr>
          <p:cNvPr id="11" name="Straight Connector 6">
            <a:extLst>
              <a:ext uri="{FF2B5EF4-FFF2-40B4-BE49-F238E27FC236}">
                <a16:creationId xmlns:a16="http://schemas.microsoft.com/office/drawing/2014/main" id="{D92CBB03-DB60-904D-B12B-014665916757}"/>
              </a:ext>
            </a:extLst>
          </p:cNvPr>
          <p:cNvCxnSpPr>
            <a:cxnSpLocks/>
          </p:cNvCxnSpPr>
          <p:nvPr/>
        </p:nvCxnSpPr>
        <p:spPr>
          <a:xfrm>
            <a:off x="646043" y="874643"/>
            <a:ext cx="10694505"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2" name="テキスト ボックス 11">
            <a:extLst>
              <a:ext uri="{FF2B5EF4-FFF2-40B4-BE49-F238E27FC236}">
                <a16:creationId xmlns:a16="http://schemas.microsoft.com/office/drawing/2014/main" id="{5238E791-5782-71C7-F1AD-6928CB191E39}"/>
              </a:ext>
            </a:extLst>
          </p:cNvPr>
          <p:cNvSpPr txBox="1"/>
          <p:nvPr/>
        </p:nvSpPr>
        <p:spPr>
          <a:xfrm>
            <a:off x="8539843" y="5688568"/>
            <a:ext cx="1752600" cy="369332"/>
          </a:xfrm>
          <a:prstGeom prst="rect">
            <a:avLst/>
          </a:prstGeom>
          <a:noFill/>
        </p:spPr>
        <p:txBody>
          <a:bodyPr wrap="square" rtlCol="0">
            <a:spAutoFit/>
          </a:bodyPr>
          <a:lstStyle/>
          <a:p>
            <a:r>
              <a:rPr kumimoji="1" lang="ja-JP" altLang="en-US">
                <a:latin typeface="Meiryo" panose="020B0604030504040204" pitchFamily="34" charset="-128"/>
                <a:ea typeface="Meiryo" panose="020B0604030504040204" pitchFamily="34" charset="-128"/>
              </a:rPr>
              <a:t>一括推論</a:t>
            </a:r>
          </a:p>
        </p:txBody>
      </p:sp>
    </p:spTree>
    <p:extLst>
      <p:ext uri="{BB962C8B-B14F-4D97-AF65-F5344CB8AC3E}">
        <p14:creationId xmlns:p14="http://schemas.microsoft.com/office/powerpoint/2010/main" val="33826105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D1AE9-2974-7FBE-8684-03F9DC01E66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544B981-13CB-8176-FDE7-7F1EEA771D2C}"/>
              </a:ext>
            </a:extLst>
          </p:cNvPr>
          <p:cNvSpPr>
            <a:spLocks noGrp="1"/>
          </p:cNvSpPr>
          <p:nvPr>
            <p:ph type="title"/>
          </p:nvPr>
        </p:nvSpPr>
        <p:spPr>
          <a:xfrm>
            <a:off x="548268" y="284244"/>
            <a:ext cx="10515600" cy="727695"/>
          </a:xfrm>
        </p:spPr>
        <p:txBody>
          <a:bodyPr>
            <a:normAutofit/>
          </a:bodyPr>
          <a:lstStyle/>
          <a:p>
            <a:pPr algn="l"/>
            <a:r>
              <a:rPr kumimoji="1" lang="ja-JP" altLang="en-US" sz="3200">
                <a:latin typeface="Meiryo" panose="020B0604030504040204" pitchFamily="34" charset="-128"/>
                <a:ea typeface="Meiryo" panose="020B0604030504040204" pitchFamily="34" charset="-128"/>
              </a:rPr>
              <a:t>実験結果</a:t>
            </a:r>
            <a:endParaRPr kumimoji="1" lang="ja-JP" altLang="en-US" sz="3200" b="0">
              <a:solidFill>
                <a:schemeClr val="tx1"/>
              </a:solidFill>
              <a:latin typeface="Meiryo" panose="020B0604030504040204" pitchFamily="34" charset="-128"/>
              <a:ea typeface="Meiryo" panose="020B0604030504040204" pitchFamily="34" charset="-128"/>
            </a:endParaRPr>
          </a:p>
        </p:txBody>
      </p:sp>
      <p:cxnSp>
        <p:nvCxnSpPr>
          <p:cNvPr id="7" name="Straight Connector 6">
            <a:extLst>
              <a:ext uri="{FF2B5EF4-FFF2-40B4-BE49-F238E27FC236}">
                <a16:creationId xmlns:a16="http://schemas.microsoft.com/office/drawing/2014/main" id="{97BBCC6C-0817-8D64-2DA4-199F884B7A20}"/>
              </a:ext>
            </a:extLst>
          </p:cNvPr>
          <p:cNvCxnSpPr>
            <a:cxnSpLocks/>
          </p:cNvCxnSpPr>
          <p:nvPr/>
        </p:nvCxnSpPr>
        <p:spPr>
          <a:xfrm>
            <a:off x="646043" y="874643"/>
            <a:ext cx="10694505"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4D8CB9B3-6629-3648-FF8D-0868194C2A81}"/>
              </a:ext>
            </a:extLst>
          </p:cNvPr>
          <p:cNvSpPr>
            <a:spLocks noGrp="1"/>
          </p:cNvSpPr>
          <p:nvPr>
            <p:ph type="sldNum" sz="quarter" idx="12"/>
          </p:nvPr>
        </p:nvSpPr>
        <p:spPr/>
        <p:txBody>
          <a:bodyPr/>
          <a:lstStyle/>
          <a:p>
            <a:fld id="{6675BFCB-789E-5945-84C6-0973649846BB}" type="slidenum">
              <a:rPr lang="en-US" smtClean="0"/>
              <a:pPr/>
              <a:t>27</a:t>
            </a:fld>
            <a:endParaRPr lang="en-US" dirty="0"/>
          </a:p>
        </p:txBody>
      </p:sp>
      <p:pic>
        <p:nvPicPr>
          <p:cNvPr id="3" name="図 2">
            <a:extLst>
              <a:ext uri="{FF2B5EF4-FFF2-40B4-BE49-F238E27FC236}">
                <a16:creationId xmlns:a16="http://schemas.microsoft.com/office/drawing/2014/main" id="{6ACD3B8E-A804-761F-5B40-64A4377CCFE5}"/>
              </a:ext>
            </a:extLst>
          </p:cNvPr>
          <p:cNvPicPr>
            <a:picLocks noChangeAspect="1"/>
          </p:cNvPicPr>
          <p:nvPr/>
        </p:nvPicPr>
        <p:blipFill>
          <a:blip r:embed="rId3"/>
          <a:stretch>
            <a:fillRect/>
          </a:stretch>
        </p:blipFill>
        <p:spPr>
          <a:xfrm>
            <a:off x="1371600" y="1047720"/>
            <a:ext cx="8774076" cy="3764586"/>
          </a:xfrm>
          <a:prstGeom prst="rect">
            <a:avLst/>
          </a:prstGeom>
        </p:spPr>
      </p:pic>
      <p:sp>
        <p:nvSpPr>
          <p:cNvPr id="5" name="テキスト ボックス 4">
            <a:extLst>
              <a:ext uri="{FF2B5EF4-FFF2-40B4-BE49-F238E27FC236}">
                <a16:creationId xmlns:a16="http://schemas.microsoft.com/office/drawing/2014/main" id="{ADA520CF-1374-8BA2-0AA0-93023536535A}"/>
              </a:ext>
            </a:extLst>
          </p:cNvPr>
          <p:cNvSpPr txBox="1"/>
          <p:nvPr/>
        </p:nvSpPr>
        <p:spPr>
          <a:xfrm>
            <a:off x="1524000" y="4896668"/>
            <a:ext cx="8305800" cy="1107996"/>
          </a:xfrm>
          <a:prstGeom prst="rect">
            <a:avLst/>
          </a:prstGeom>
          <a:noFill/>
        </p:spPr>
        <p:txBody>
          <a:bodyPr wrap="square" rtlCol="0">
            <a:spAutoFit/>
          </a:bodyPr>
          <a:lstStyle/>
          <a:p>
            <a:pPr marL="285750" indent="-285750">
              <a:buFont typeface="Arial" panose="020B0604020202020204" pitchFamily="34" charset="0"/>
              <a:buChar char="•"/>
            </a:pPr>
            <a:r>
              <a:rPr kumimoji="1" lang="ja-JP" altLang="en-US" sz="2200">
                <a:latin typeface="Meiryo" panose="020B0604030504040204" pitchFamily="34" charset="-128"/>
                <a:ea typeface="Meiryo" panose="020B0604030504040204" pitchFamily="34" charset="-128"/>
              </a:rPr>
              <a:t>高次元データを低次元空間に圧縮する</a:t>
            </a:r>
            <a:r>
              <a:rPr kumimoji="1" lang="en-US" altLang="ja-JP" sz="2200" dirty="0">
                <a:latin typeface="Meiryo" panose="020B0604030504040204" pitchFamily="34" charset="-128"/>
                <a:ea typeface="Meiryo" panose="020B0604030504040204" pitchFamily="34" charset="-128"/>
              </a:rPr>
              <a:t>UMAP</a:t>
            </a:r>
            <a:r>
              <a:rPr kumimoji="1" lang="ja-JP" altLang="en-US" sz="2200">
                <a:latin typeface="Meiryo" panose="020B0604030504040204" pitchFamily="34" charset="-128"/>
                <a:ea typeface="Meiryo" panose="020B0604030504040204" pitchFamily="34" charset="-128"/>
              </a:rPr>
              <a:t>を用いて可視化</a:t>
            </a:r>
            <a:endParaRPr kumimoji="1" lang="en-US" altLang="ja-JP" sz="2200"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kumimoji="1" lang="ja-JP" altLang="en-US" sz="2200">
                <a:latin typeface="Meiryo" panose="020B0604030504040204" pitchFamily="34" charset="-128"/>
                <a:ea typeface="Meiryo" panose="020B0604030504040204" pitchFamily="34" charset="-128"/>
              </a:rPr>
              <a:t>学習が進むごとに状態の混合度が小さくなり</a:t>
            </a:r>
            <a:r>
              <a:rPr kumimoji="1" lang="en-US" altLang="ja-JP" sz="2200" dirty="0">
                <a:latin typeface="Meiryo" panose="020B0604030504040204" pitchFamily="34" charset="-128"/>
                <a:ea typeface="Meiryo" panose="020B0604030504040204" pitchFamily="34" charset="-128"/>
              </a:rPr>
              <a:t>, </a:t>
            </a:r>
            <a:r>
              <a:rPr kumimoji="1" lang="ja-JP" altLang="en-US" sz="2200">
                <a:latin typeface="Meiryo" panose="020B0604030504040204" pitchFamily="34" charset="-128"/>
                <a:ea typeface="Meiryo" panose="020B0604030504040204" pitchFamily="34" charset="-128"/>
              </a:rPr>
              <a:t>クラスタが分離</a:t>
            </a:r>
            <a:endParaRPr kumimoji="1" lang="en-US" altLang="ja-JP" sz="2200"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kumimoji="1" lang="ja-JP" altLang="en-US" sz="2200">
                <a:latin typeface="Meiryo" panose="020B0604030504040204" pitchFamily="34" charset="-128"/>
                <a:ea typeface="Meiryo" panose="020B0604030504040204" pitchFamily="34" charset="-128"/>
              </a:rPr>
              <a:t>視覚的な情報を保持</a:t>
            </a:r>
          </a:p>
        </p:txBody>
      </p:sp>
      <p:sp>
        <p:nvSpPr>
          <p:cNvPr id="8" name="Date Placeholder 10">
            <a:extLst>
              <a:ext uri="{FF2B5EF4-FFF2-40B4-BE49-F238E27FC236}">
                <a16:creationId xmlns:a16="http://schemas.microsoft.com/office/drawing/2014/main" id="{C6D7E2A8-E8CD-D3E1-4614-D83FF4388BA7}"/>
              </a:ext>
            </a:extLst>
          </p:cNvPr>
          <p:cNvSpPr>
            <a:spLocks noGrp="1"/>
          </p:cNvSpPr>
          <p:nvPr>
            <p:ph type="dt" sz="half" idx="10"/>
          </p:nvPr>
        </p:nvSpPr>
        <p:spPr>
          <a:xfrm>
            <a:off x="838200" y="6553200"/>
            <a:ext cx="2743200" cy="365125"/>
          </a:xfrm>
        </p:spPr>
        <p:txBody>
          <a:bodyPr/>
          <a:lstStyle/>
          <a:p>
            <a:r>
              <a:rPr lang="en-US" altLang="ja-JP" dirty="0"/>
              <a:t>2025/2/27</a:t>
            </a:r>
            <a:endParaRPr lang="en-US" dirty="0"/>
          </a:p>
        </p:txBody>
      </p:sp>
      <p:sp>
        <p:nvSpPr>
          <p:cNvPr id="9" name="フッター プレースホルダー 4">
            <a:extLst>
              <a:ext uri="{FF2B5EF4-FFF2-40B4-BE49-F238E27FC236}">
                <a16:creationId xmlns:a16="http://schemas.microsoft.com/office/drawing/2014/main" id="{A0C4C8A1-DE5C-8266-50C7-5FF4295CD6CF}"/>
              </a:ext>
            </a:extLst>
          </p:cNvPr>
          <p:cNvSpPr>
            <a:spLocks noGrp="1"/>
          </p:cNvSpPr>
          <p:nvPr>
            <p:ph type="ftr" sz="quarter" idx="11"/>
          </p:nvPr>
        </p:nvSpPr>
        <p:spPr>
          <a:xfrm>
            <a:off x="4038600" y="6553200"/>
            <a:ext cx="4114800" cy="365125"/>
          </a:xfrm>
        </p:spPr>
        <p:txBody>
          <a:bodyPr/>
          <a:lstStyle/>
          <a:p>
            <a:r>
              <a:rPr lang="fi-FI"/>
              <a:t>Tsubasa Kato @ Sakurai Lab.</a:t>
            </a:r>
            <a:endParaRPr lang="en-US" dirty="0"/>
          </a:p>
        </p:txBody>
      </p:sp>
    </p:spTree>
    <p:extLst>
      <p:ext uri="{BB962C8B-B14F-4D97-AF65-F5344CB8AC3E}">
        <p14:creationId xmlns:p14="http://schemas.microsoft.com/office/powerpoint/2010/main" val="6570782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73F43FC-D398-AC44-8566-8C5A8625A3F8}"/>
              </a:ext>
            </a:extLst>
          </p:cNvPr>
          <p:cNvSpPr>
            <a:spLocks noGrp="1"/>
          </p:cNvSpPr>
          <p:nvPr>
            <p:ph type="title"/>
          </p:nvPr>
        </p:nvSpPr>
        <p:spPr>
          <a:xfrm>
            <a:off x="548268" y="284244"/>
            <a:ext cx="10515600" cy="727695"/>
          </a:xfrm>
        </p:spPr>
        <p:txBody>
          <a:bodyPr>
            <a:normAutofit/>
          </a:bodyPr>
          <a:lstStyle/>
          <a:p>
            <a:pPr algn="l"/>
            <a:r>
              <a:rPr lang="ja-JP" altLang="en-US" sz="3200" b="0">
                <a:solidFill>
                  <a:schemeClr val="tx1"/>
                </a:solidFill>
                <a:latin typeface="Meiryo" panose="020B0604030504040204" pitchFamily="34" charset="-128"/>
                <a:ea typeface="Meiryo" panose="020B0604030504040204" pitchFamily="34" charset="-128"/>
              </a:rPr>
              <a:t>目次</a:t>
            </a:r>
            <a:endParaRPr kumimoji="1" lang="ja-JP" altLang="en-US" sz="3200" b="0">
              <a:solidFill>
                <a:schemeClr val="tx1"/>
              </a:solidFill>
              <a:latin typeface="Meiryo" panose="020B0604030504040204" pitchFamily="34" charset="-128"/>
              <a:ea typeface="Meiryo" panose="020B0604030504040204" pitchFamily="34" charset="-128"/>
            </a:endParaRPr>
          </a:p>
        </p:txBody>
      </p:sp>
      <p:sp>
        <p:nvSpPr>
          <p:cNvPr id="3" name="コンテンツ プレースホルダー 2">
            <a:extLst>
              <a:ext uri="{FF2B5EF4-FFF2-40B4-BE49-F238E27FC236}">
                <a16:creationId xmlns:a16="http://schemas.microsoft.com/office/drawing/2014/main" id="{C9EF43C5-3BF4-1245-8E9B-EF744E11B7DF}"/>
              </a:ext>
            </a:extLst>
          </p:cNvPr>
          <p:cNvSpPr>
            <a:spLocks noGrp="1"/>
          </p:cNvSpPr>
          <p:nvPr>
            <p:ph idx="1"/>
          </p:nvPr>
        </p:nvSpPr>
        <p:spPr>
          <a:xfrm>
            <a:off x="548267" y="1156551"/>
            <a:ext cx="10939539" cy="5015648"/>
          </a:xfrm>
        </p:spPr>
        <p:txBody>
          <a:bodyPr>
            <a:normAutofit/>
          </a:bodyPr>
          <a:lstStyle/>
          <a:p>
            <a:pPr marL="514350" indent="-514350">
              <a:buFont typeface="+mj-lt"/>
              <a:buAutoNum type="arabicPeriod"/>
            </a:pPr>
            <a:r>
              <a:rPr lang="ja-JP" altLang="en-US" sz="2800">
                <a:solidFill>
                  <a:schemeClr val="bg1">
                    <a:lumMod val="65000"/>
                  </a:schemeClr>
                </a:solidFill>
                <a:latin typeface="Meiryo" panose="020B0604030504040204" pitchFamily="34" charset="-128"/>
                <a:ea typeface="Meiryo" panose="020B0604030504040204" pitchFamily="34" charset="-128"/>
              </a:rPr>
              <a:t>研究背景</a:t>
            </a:r>
            <a:endParaRPr lang="en-US" altLang="ja-JP" dirty="0">
              <a:solidFill>
                <a:schemeClr val="bg1">
                  <a:lumMod val="65000"/>
                </a:schemeClr>
              </a:solidFill>
              <a:latin typeface="Meiryo" panose="020B0604030504040204" pitchFamily="34" charset="-128"/>
              <a:ea typeface="Meiryo" panose="020B0604030504040204" pitchFamily="34" charset="-128"/>
            </a:endParaRPr>
          </a:p>
          <a:p>
            <a:pPr marL="514350" indent="-514350">
              <a:buFont typeface="+mj-lt"/>
              <a:buAutoNum type="arabicPeriod"/>
            </a:pPr>
            <a:endParaRPr lang="en-US" altLang="ja-JP" sz="2800" dirty="0">
              <a:latin typeface="Meiryo" panose="020B0604030504040204" pitchFamily="34" charset="-128"/>
              <a:ea typeface="Meiryo" panose="020B0604030504040204" pitchFamily="34" charset="-128"/>
            </a:endParaRPr>
          </a:p>
          <a:p>
            <a:pPr marL="514350" indent="-514350">
              <a:buFont typeface="+mj-lt"/>
              <a:buAutoNum type="arabicPeriod"/>
            </a:pPr>
            <a:r>
              <a:rPr lang="ja-JP" altLang="en-US" sz="2800">
                <a:solidFill>
                  <a:schemeClr val="bg1">
                    <a:lumMod val="65000"/>
                  </a:schemeClr>
                </a:solidFill>
                <a:latin typeface="Meiryo" panose="020B0604030504040204" pitchFamily="34" charset="-128"/>
                <a:ea typeface="Meiryo" panose="020B0604030504040204" pitchFamily="34" charset="-128"/>
              </a:rPr>
              <a:t>提案手法</a:t>
            </a:r>
            <a:endParaRPr lang="en-US" altLang="ja-JP" sz="2800" dirty="0">
              <a:solidFill>
                <a:schemeClr val="bg1">
                  <a:lumMod val="65000"/>
                </a:schemeClr>
              </a:solidFill>
              <a:latin typeface="Meiryo" panose="020B0604030504040204" pitchFamily="34" charset="-128"/>
              <a:ea typeface="Meiryo" panose="020B0604030504040204" pitchFamily="34" charset="-128"/>
            </a:endParaRPr>
          </a:p>
          <a:p>
            <a:pPr marL="514350" indent="-514350">
              <a:buFont typeface="+mj-lt"/>
              <a:buAutoNum type="arabicPeriod"/>
            </a:pPr>
            <a:endParaRPr lang="en-US" altLang="ja-JP" sz="2800" dirty="0">
              <a:latin typeface="Meiryo" panose="020B0604030504040204" pitchFamily="34" charset="-128"/>
              <a:ea typeface="Meiryo" panose="020B0604030504040204" pitchFamily="34" charset="-128"/>
            </a:endParaRPr>
          </a:p>
          <a:p>
            <a:pPr marL="514350" indent="-514350">
              <a:buFont typeface="+mj-lt"/>
              <a:buAutoNum type="arabicPeriod"/>
            </a:pPr>
            <a:r>
              <a:rPr lang="ja-JP" altLang="en-US" sz="2800">
                <a:solidFill>
                  <a:schemeClr val="bg1">
                    <a:lumMod val="65000"/>
                  </a:schemeClr>
                </a:solidFill>
                <a:latin typeface="Meiryo" panose="020B0604030504040204" pitchFamily="34" charset="-128"/>
                <a:ea typeface="Meiryo" panose="020B0604030504040204" pitchFamily="34" charset="-128"/>
              </a:rPr>
              <a:t>実験</a:t>
            </a:r>
            <a:endParaRPr lang="en-US" altLang="ja-JP" sz="2800" dirty="0">
              <a:solidFill>
                <a:schemeClr val="bg1">
                  <a:lumMod val="65000"/>
                </a:schemeClr>
              </a:solidFill>
              <a:latin typeface="Meiryo" panose="020B0604030504040204" pitchFamily="34" charset="-128"/>
              <a:ea typeface="Meiryo" panose="020B0604030504040204" pitchFamily="34" charset="-128"/>
            </a:endParaRPr>
          </a:p>
          <a:p>
            <a:pPr marL="514350" indent="-514350">
              <a:buFont typeface="+mj-lt"/>
              <a:buAutoNum type="arabicPeriod"/>
            </a:pPr>
            <a:endParaRPr lang="en-US" altLang="ja-JP" sz="2800" dirty="0">
              <a:latin typeface="Meiryo" panose="020B0604030504040204" pitchFamily="34" charset="-128"/>
              <a:ea typeface="Meiryo" panose="020B0604030504040204" pitchFamily="34" charset="-128"/>
            </a:endParaRPr>
          </a:p>
          <a:p>
            <a:pPr marL="514350" indent="-514350">
              <a:buFont typeface="+mj-lt"/>
              <a:buAutoNum type="arabicPeriod"/>
            </a:pPr>
            <a:r>
              <a:rPr lang="ja-JP" altLang="en-US" sz="2800" b="1">
                <a:solidFill>
                  <a:schemeClr val="accent1"/>
                </a:solidFill>
                <a:latin typeface="Meiryo" panose="020B0604030504040204" pitchFamily="34" charset="-128"/>
                <a:ea typeface="Meiryo" panose="020B0604030504040204" pitchFamily="34" charset="-128"/>
              </a:rPr>
              <a:t>まとめ</a:t>
            </a:r>
            <a:endParaRPr lang="en-US" altLang="ja-JP" b="1" dirty="0">
              <a:solidFill>
                <a:schemeClr val="accent1"/>
              </a:solidFill>
              <a:latin typeface="Meiryo" panose="020B0604030504040204" pitchFamily="34" charset="-128"/>
              <a:ea typeface="Meiryo" panose="020B0604030504040204" pitchFamily="34" charset="-128"/>
            </a:endParaRPr>
          </a:p>
        </p:txBody>
      </p:sp>
      <p:cxnSp>
        <p:nvCxnSpPr>
          <p:cNvPr id="7" name="Straight Connector 6">
            <a:extLst>
              <a:ext uri="{FF2B5EF4-FFF2-40B4-BE49-F238E27FC236}">
                <a16:creationId xmlns:a16="http://schemas.microsoft.com/office/drawing/2014/main" id="{BB3800FB-FE81-61B1-706C-CDEC701D78C2}"/>
              </a:ext>
            </a:extLst>
          </p:cNvPr>
          <p:cNvCxnSpPr>
            <a:cxnSpLocks/>
          </p:cNvCxnSpPr>
          <p:nvPr/>
        </p:nvCxnSpPr>
        <p:spPr>
          <a:xfrm>
            <a:off x="646043" y="874643"/>
            <a:ext cx="10694505"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75CD2F55-0B3D-C95C-4824-765D81D7CB10}"/>
              </a:ext>
            </a:extLst>
          </p:cNvPr>
          <p:cNvSpPr>
            <a:spLocks noGrp="1"/>
          </p:cNvSpPr>
          <p:nvPr>
            <p:ph type="sldNum" sz="quarter" idx="12"/>
          </p:nvPr>
        </p:nvSpPr>
        <p:spPr/>
        <p:txBody>
          <a:bodyPr/>
          <a:lstStyle/>
          <a:p>
            <a:fld id="{6675BFCB-789E-5945-84C6-0973649846BB}" type="slidenum">
              <a:rPr lang="en-US" smtClean="0"/>
              <a:pPr/>
              <a:t>28</a:t>
            </a:fld>
            <a:endParaRPr lang="en-US" dirty="0"/>
          </a:p>
        </p:txBody>
      </p:sp>
      <p:sp>
        <p:nvSpPr>
          <p:cNvPr id="4" name="Date Placeholder 10">
            <a:extLst>
              <a:ext uri="{FF2B5EF4-FFF2-40B4-BE49-F238E27FC236}">
                <a16:creationId xmlns:a16="http://schemas.microsoft.com/office/drawing/2014/main" id="{66333193-EEA7-9BB4-C44B-EBA74B054374}"/>
              </a:ext>
            </a:extLst>
          </p:cNvPr>
          <p:cNvSpPr>
            <a:spLocks noGrp="1"/>
          </p:cNvSpPr>
          <p:nvPr>
            <p:ph type="dt" sz="half" idx="10"/>
          </p:nvPr>
        </p:nvSpPr>
        <p:spPr>
          <a:xfrm>
            <a:off x="838200" y="6553200"/>
            <a:ext cx="2743200" cy="365125"/>
          </a:xfrm>
        </p:spPr>
        <p:txBody>
          <a:bodyPr/>
          <a:lstStyle/>
          <a:p>
            <a:r>
              <a:rPr lang="en-US" altLang="ja-JP" dirty="0"/>
              <a:t>2025/2/27</a:t>
            </a:r>
            <a:endParaRPr lang="en-US" dirty="0"/>
          </a:p>
        </p:txBody>
      </p:sp>
      <p:sp>
        <p:nvSpPr>
          <p:cNvPr id="5" name="フッター プレースホルダー 4">
            <a:extLst>
              <a:ext uri="{FF2B5EF4-FFF2-40B4-BE49-F238E27FC236}">
                <a16:creationId xmlns:a16="http://schemas.microsoft.com/office/drawing/2014/main" id="{EE090B61-3426-97F7-2E11-6ED4DB7E3267}"/>
              </a:ext>
            </a:extLst>
          </p:cNvPr>
          <p:cNvSpPr>
            <a:spLocks noGrp="1"/>
          </p:cNvSpPr>
          <p:nvPr>
            <p:ph type="ftr" sz="quarter" idx="11"/>
          </p:nvPr>
        </p:nvSpPr>
        <p:spPr>
          <a:xfrm>
            <a:off x="4038600" y="6553200"/>
            <a:ext cx="4114800" cy="365125"/>
          </a:xfrm>
        </p:spPr>
        <p:txBody>
          <a:bodyPr/>
          <a:lstStyle/>
          <a:p>
            <a:r>
              <a:rPr lang="fi-FI"/>
              <a:t>Tsubasa Kato @ Sakurai Lab.</a:t>
            </a:r>
            <a:endParaRPr lang="en-US" dirty="0"/>
          </a:p>
        </p:txBody>
      </p:sp>
    </p:spTree>
    <p:extLst>
      <p:ext uri="{BB962C8B-B14F-4D97-AF65-F5344CB8AC3E}">
        <p14:creationId xmlns:p14="http://schemas.microsoft.com/office/powerpoint/2010/main" val="38442913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73F43FC-D398-AC44-8566-8C5A8625A3F8}"/>
              </a:ext>
            </a:extLst>
          </p:cNvPr>
          <p:cNvSpPr>
            <a:spLocks noGrp="1"/>
          </p:cNvSpPr>
          <p:nvPr>
            <p:ph type="title"/>
          </p:nvPr>
        </p:nvSpPr>
        <p:spPr>
          <a:xfrm>
            <a:off x="548268" y="284244"/>
            <a:ext cx="10515600" cy="727695"/>
          </a:xfrm>
        </p:spPr>
        <p:txBody>
          <a:bodyPr>
            <a:normAutofit/>
          </a:bodyPr>
          <a:lstStyle/>
          <a:p>
            <a:pPr algn="l"/>
            <a:r>
              <a:rPr kumimoji="1" lang="ja-JP" altLang="en-US" sz="3200" b="0">
                <a:solidFill>
                  <a:schemeClr val="tx1"/>
                </a:solidFill>
                <a:latin typeface="Meiryo" panose="020B0604030504040204" pitchFamily="34" charset="-128"/>
                <a:ea typeface="Meiryo" panose="020B0604030504040204" pitchFamily="34" charset="-128"/>
              </a:rPr>
              <a:t>まとめ</a:t>
            </a:r>
          </a:p>
        </p:txBody>
      </p:sp>
      <p:sp>
        <p:nvSpPr>
          <p:cNvPr id="3" name="コンテンツ プレースホルダー 2">
            <a:extLst>
              <a:ext uri="{FF2B5EF4-FFF2-40B4-BE49-F238E27FC236}">
                <a16:creationId xmlns:a16="http://schemas.microsoft.com/office/drawing/2014/main" id="{C9EF43C5-3BF4-1245-8E9B-EF744E11B7DF}"/>
              </a:ext>
            </a:extLst>
          </p:cNvPr>
          <p:cNvSpPr>
            <a:spLocks noGrp="1"/>
          </p:cNvSpPr>
          <p:nvPr>
            <p:ph idx="1"/>
          </p:nvPr>
        </p:nvSpPr>
        <p:spPr>
          <a:xfrm>
            <a:off x="548267" y="609600"/>
            <a:ext cx="10939539" cy="5417205"/>
          </a:xfrm>
        </p:spPr>
        <p:txBody>
          <a:bodyPr>
            <a:normAutofit/>
          </a:bodyPr>
          <a:lstStyle/>
          <a:p>
            <a:pPr marL="0" indent="0">
              <a:buNone/>
            </a:pPr>
            <a:endParaRPr lang="en-JP" altLang="ja-JP" sz="2800" dirty="0">
              <a:latin typeface="Meiryo" panose="020B0604030504040204" pitchFamily="34" charset="-128"/>
              <a:ea typeface="Meiryo" panose="020B0604030504040204" pitchFamily="34" charset="-128"/>
            </a:endParaRPr>
          </a:p>
          <a:p>
            <a:pPr marL="0" indent="-460375">
              <a:lnSpc>
                <a:spcPct val="150000"/>
              </a:lnSpc>
              <a:spcBef>
                <a:spcPts val="1600"/>
              </a:spcBef>
              <a:buFont typeface="Wingdings" pitchFamily="2" charset="2"/>
              <a:buChar char="Ø"/>
            </a:pPr>
            <a:r>
              <a:rPr lang="ja-JP" altLang="en-US">
                <a:latin typeface="Meiryo" panose="020B0604030504040204" pitchFamily="34" charset="-128"/>
                <a:ea typeface="Meiryo" panose="020B0604030504040204" pitchFamily="34" charset="-128"/>
              </a:rPr>
              <a:t>時系列データの状態パターンを検出する手法を提案</a:t>
            </a:r>
            <a:endParaRPr lang="en-US" altLang="ja-JP" sz="2800" dirty="0">
              <a:latin typeface="Meiryo" panose="020B0604030504040204" pitchFamily="34" charset="-128"/>
              <a:ea typeface="Meiryo" panose="020B0604030504040204" pitchFamily="34" charset="-128"/>
            </a:endParaRPr>
          </a:p>
          <a:p>
            <a:pPr marL="0" indent="-460375">
              <a:lnSpc>
                <a:spcPct val="150000"/>
              </a:lnSpc>
              <a:spcBef>
                <a:spcPts val="1600"/>
              </a:spcBef>
              <a:buFont typeface="Wingdings" pitchFamily="2" charset="2"/>
              <a:buChar char="Ø"/>
            </a:pPr>
            <a:r>
              <a:rPr lang="ja-JP" altLang="en-US">
                <a:latin typeface="Meiryo" panose="020B0604030504040204" pitchFamily="34" charset="-128"/>
                <a:ea typeface="Meiryo" panose="020B0604030504040204" pitchFamily="34" charset="-128"/>
              </a:rPr>
              <a:t>ノイズ除去やパターンの類似度による効率的な対照学習</a:t>
            </a:r>
            <a:endParaRPr lang="en-US" altLang="ja-JP" dirty="0">
              <a:latin typeface="Meiryo" panose="020B0604030504040204" pitchFamily="34" charset="-128"/>
              <a:ea typeface="Meiryo" panose="020B0604030504040204" pitchFamily="34" charset="-128"/>
            </a:endParaRPr>
          </a:p>
          <a:p>
            <a:pPr marL="0" indent="-460375">
              <a:lnSpc>
                <a:spcPct val="150000"/>
              </a:lnSpc>
              <a:spcBef>
                <a:spcPts val="1600"/>
              </a:spcBef>
              <a:buFont typeface="Wingdings" pitchFamily="2" charset="2"/>
              <a:buChar char="Ø"/>
            </a:pPr>
            <a:r>
              <a:rPr lang="ja-JP" altLang="en-US" sz="2800">
                <a:latin typeface="Meiryo" panose="020B0604030504040204" pitchFamily="34" charset="-128"/>
                <a:ea typeface="Meiryo" panose="020B0604030504040204" pitchFamily="34" charset="-128"/>
              </a:rPr>
              <a:t>実データを用いた実験の結果，比較手法よりも</a:t>
            </a:r>
            <a:br>
              <a:rPr lang="en-US" altLang="ja-JP" sz="2800" dirty="0">
                <a:latin typeface="Meiryo" panose="020B0604030504040204" pitchFamily="34" charset="-128"/>
                <a:ea typeface="Meiryo" panose="020B0604030504040204" pitchFamily="34" charset="-128"/>
              </a:rPr>
            </a:br>
            <a:r>
              <a:rPr lang="en-US" altLang="ja-JP" sz="2800" dirty="0">
                <a:latin typeface="Meiryo" panose="020B0604030504040204" pitchFamily="34" charset="-128"/>
                <a:ea typeface="Meiryo" panose="020B0604030504040204" pitchFamily="34" charset="-128"/>
              </a:rPr>
              <a:t>    </a:t>
            </a:r>
            <a:r>
              <a:rPr lang="ja-JP" altLang="en-US" sz="2800">
                <a:latin typeface="Meiryo" panose="020B0604030504040204" pitchFamily="34" charset="-128"/>
                <a:ea typeface="Meiryo" panose="020B0604030504040204" pitchFamily="34" charset="-128"/>
              </a:rPr>
              <a:t>高精度な</a:t>
            </a:r>
            <a:r>
              <a:rPr lang="ja-JP" altLang="en-US">
                <a:latin typeface="Meiryo" panose="020B0604030504040204" pitchFamily="34" charset="-128"/>
                <a:ea typeface="Meiryo" panose="020B0604030504040204" pitchFamily="34" charset="-128"/>
              </a:rPr>
              <a:t>状態パターン検出</a:t>
            </a:r>
            <a:r>
              <a:rPr lang="ja-JP" altLang="en-US" sz="2800">
                <a:latin typeface="Meiryo" panose="020B0604030504040204" pitchFamily="34" charset="-128"/>
                <a:ea typeface="Meiryo" panose="020B0604030504040204" pitchFamily="34" charset="-128"/>
              </a:rPr>
              <a:t>を達成</a:t>
            </a:r>
          </a:p>
          <a:p>
            <a:pPr marL="522288" indent="0">
              <a:buNone/>
            </a:pPr>
            <a:endParaRPr lang="en-US" altLang="ja-JP" sz="2800" dirty="0">
              <a:latin typeface="Meiryo" panose="020B0604030504040204" pitchFamily="34" charset="-128"/>
              <a:ea typeface="Meiryo" panose="020B0604030504040204" pitchFamily="34" charset="-128"/>
            </a:endParaRPr>
          </a:p>
        </p:txBody>
      </p:sp>
      <p:cxnSp>
        <p:nvCxnSpPr>
          <p:cNvPr id="7" name="Straight Connector 6">
            <a:extLst>
              <a:ext uri="{FF2B5EF4-FFF2-40B4-BE49-F238E27FC236}">
                <a16:creationId xmlns:a16="http://schemas.microsoft.com/office/drawing/2014/main" id="{BB3800FB-FE81-61B1-706C-CDEC701D78C2}"/>
              </a:ext>
            </a:extLst>
          </p:cNvPr>
          <p:cNvCxnSpPr>
            <a:cxnSpLocks/>
          </p:cNvCxnSpPr>
          <p:nvPr/>
        </p:nvCxnSpPr>
        <p:spPr>
          <a:xfrm>
            <a:off x="646043" y="874643"/>
            <a:ext cx="10694505"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7D8D5298-13C6-9409-7634-D21FF9786B1C}"/>
              </a:ext>
            </a:extLst>
          </p:cNvPr>
          <p:cNvSpPr>
            <a:spLocks noGrp="1"/>
          </p:cNvSpPr>
          <p:nvPr>
            <p:ph type="sldNum" sz="quarter" idx="12"/>
          </p:nvPr>
        </p:nvSpPr>
        <p:spPr/>
        <p:txBody>
          <a:bodyPr/>
          <a:lstStyle/>
          <a:p>
            <a:fld id="{6675BFCB-789E-5945-84C6-0973649846BB}" type="slidenum">
              <a:rPr lang="en-US" smtClean="0"/>
              <a:pPr/>
              <a:t>29</a:t>
            </a:fld>
            <a:endParaRPr lang="en-US" dirty="0"/>
          </a:p>
        </p:txBody>
      </p:sp>
      <p:sp>
        <p:nvSpPr>
          <p:cNvPr id="4" name="Date Placeholder 10">
            <a:extLst>
              <a:ext uri="{FF2B5EF4-FFF2-40B4-BE49-F238E27FC236}">
                <a16:creationId xmlns:a16="http://schemas.microsoft.com/office/drawing/2014/main" id="{BE8BB0BC-B1ED-0BE4-04C2-6D75F04AFCBF}"/>
              </a:ext>
            </a:extLst>
          </p:cNvPr>
          <p:cNvSpPr>
            <a:spLocks noGrp="1"/>
          </p:cNvSpPr>
          <p:nvPr>
            <p:ph type="dt" sz="half" idx="10"/>
          </p:nvPr>
        </p:nvSpPr>
        <p:spPr>
          <a:xfrm>
            <a:off x="838200" y="6553200"/>
            <a:ext cx="2743200" cy="365125"/>
          </a:xfrm>
        </p:spPr>
        <p:txBody>
          <a:bodyPr/>
          <a:lstStyle/>
          <a:p>
            <a:r>
              <a:rPr lang="en-US" altLang="ja-JP" dirty="0"/>
              <a:t>2025/2/27</a:t>
            </a:r>
            <a:endParaRPr lang="en-US" dirty="0"/>
          </a:p>
        </p:txBody>
      </p:sp>
      <p:sp>
        <p:nvSpPr>
          <p:cNvPr id="5" name="フッター プレースホルダー 4">
            <a:extLst>
              <a:ext uri="{FF2B5EF4-FFF2-40B4-BE49-F238E27FC236}">
                <a16:creationId xmlns:a16="http://schemas.microsoft.com/office/drawing/2014/main" id="{B4821796-2460-D5E4-9D12-BBCAEF628AEC}"/>
              </a:ext>
            </a:extLst>
          </p:cNvPr>
          <p:cNvSpPr>
            <a:spLocks noGrp="1"/>
          </p:cNvSpPr>
          <p:nvPr>
            <p:ph type="ftr" sz="quarter" idx="11"/>
          </p:nvPr>
        </p:nvSpPr>
        <p:spPr>
          <a:xfrm>
            <a:off x="4038600" y="6553200"/>
            <a:ext cx="4114800" cy="365125"/>
          </a:xfrm>
        </p:spPr>
        <p:txBody>
          <a:bodyPr/>
          <a:lstStyle/>
          <a:p>
            <a:r>
              <a:rPr lang="fi-FI"/>
              <a:t>Tsubasa Kato @ Sakurai Lab.</a:t>
            </a:r>
            <a:endParaRPr lang="en-US" dirty="0"/>
          </a:p>
        </p:txBody>
      </p:sp>
    </p:spTree>
    <p:extLst>
      <p:ext uri="{BB962C8B-B14F-4D97-AF65-F5344CB8AC3E}">
        <p14:creationId xmlns:p14="http://schemas.microsoft.com/office/powerpoint/2010/main" val="298946251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789A7885-97F6-821A-7DF7-3CF1AF2603E2}"/>
              </a:ext>
            </a:extLst>
          </p:cNvPr>
          <p:cNvSpPr>
            <a:spLocks noGrp="1"/>
          </p:cNvSpPr>
          <p:nvPr>
            <p:ph idx="1"/>
          </p:nvPr>
        </p:nvSpPr>
        <p:spPr>
          <a:xfrm>
            <a:off x="1981200" y="2633096"/>
            <a:ext cx="8490857" cy="1591808"/>
          </a:xfrm>
        </p:spPr>
        <p:txBody>
          <a:bodyPr>
            <a:normAutofit/>
          </a:bodyPr>
          <a:lstStyle/>
          <a:p>
            <a:pPr marL="0" indent="0">
              <a:buNone/>
            </a:pPr>
            <a:r>
              <a:rPr kumimoji="1" lang="ja-JP" altLang="en-US" sz="4000"/>
              <a:t>ご清聴ありがとうございました。</a:t>
            </a:r>
          </a:p>
        </p:txBody>
      </p:sp>
      <p:sp>
        <p:nvSpPr>
          <p:cNvPr id="4" name="日付プレースホルダー 3">
            <a:extLst>
              <a:ext uri="{FF2B5EF4-FFF2-40B4-BE49-F238E27FC236}">
                <a16:creationId xmlns:a16="http://schemas.microsoft.com/office/drawing/2014/main" id="{E3DDEA9F-EFFE-767F-0883-CB56D4A9416E}"/>
              </a:ext>
            </a:extLst>
          </p:cNvPr>
          <p:cNvSpPr>
            <a:spLocks noGrp="1"/>
          </p:cNvSpPr>
          <p:nvPr>
            <p:ph type="dt" sz="half" idx="10"/>
          </p:nvPr>
        </p:nvSpPr>
        <p:spPr/>
        <p:txBody>
          <a:bodyPr/>
          <a:lstStyle/>
          <a:p>
            <a:r>
              <a:rPr lang="en-US" altLang="ja-JP"/>
              <a:t>2025/2/7</a:t>
            </a:r>
            <a:endParaRPr lang="en-US" dirty="0"/>
          </a:p>
        </p:txBody>
      </p:sp>
      <p:sp>
        <p:nvSpPr>
          <p:cNvPr id="5" name="フッター プレースホルダー 4">
            <a:extLst>
              <a:ext uri="{FF2B5EF4-FFF2-40B4-BE49-F238E27FC236}">
                <a16:creationId xmlns:a16="http://schemas.microsoft.com/office/drawing/2014/main" id="{921A7AEA-962D-DAEC-7681-4417B43E6AF4}"/>
              </a:ext>
            </a:extLst>
          </p:cNvPr>
          <p:cNvSpPr>
            <a:spLocks noGrp="1"/>
          </p:cNvSpPr>
          <p:nvPr>
            <p:ph type="ftr" sz="quarter" idx="11"/>
          </p:nvPr>
        </p:nvSpPr>
        <p:spPr/>
        <p:txBody>
          <a:bodyPr/>
          <a:lstStyle/>
          <a:p>
            <a:r>
              <a:rPr lang="fi-FI"/>
              <a:t>Tsubasa Kato @ Sakurai Lab.</a:t>
            </a:r>
            <a:endParaRPr lang="en-US" dirty="0"/>
          </a:p>
        </p:txBody>
      </p:sp>
      <p:sp>
        <p:nvSpPr>
          <p:cNvPr id="6" name="スライド番号プレースホルダー 5">
            <a:extLst>
              <a:ext uri="{FF2B5EF4-FFF2-40B4-BE49-F238E27FC236}">
                <a16:creationId xmlns:a16="http://schemas.microsoft.com/office/drawing/2014/main" id="{DD86B3A4-1DD3-36C3-4CC9-6F6F2EA3081F}"/>
              </a:ext>
            </a:extLst>
          </p:cNvPr>
          <p:cNvSpPr>
            <a:spLocks noGrp="1"/>
          </p:cNvSpPr>
          <p:nvPr>
            <p:ph type="sldNum" sz="quarter" idx="12"/>
          </p:nvPr>
        </p:nvSpPr>
        <p:spPr/>
        <p:txBody>
          <a:bodyPr/>
          <a:lstStyle/>
          <a:p>
            <a:fld id="{6675BFCB-789E-5945-84C6-0973649846BB}" type="slidenum">
              <a:rPr lang="en-US" smtClean="0"/>
              <a:pPr/>
              <a:t>30</a:t>
            </a:fld>
            <a:endParaRPr lang="en-US" dirty="0"/>
          </a:p>
        </p:txBody>
      </p:sp>
    </p:spTree>
    <p:extLst>
      <p:ext uri="{BB962C8B-B14F-4D97-AF65-F5344CB8AC3E}">
        <p14:creationId xmlns:p14="http://schemas.microsoft.com/office/powerpoint/2010/main" val="21514746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73F43FC-D398-AC44-8566-8C5A8625A3F8}"/>
              </a:ext>
            </a:extLst>
          </p:cNvPr>
          <p:cNvSpPr>
            <a:spLocks noGrp="1"/>
          </p:cNvSpPr>
          <p:nvPr>
            <p:ph type="title"/>
          </p:nvPr>
        </p:nvSpPr>
        <p:spPr>
          <a:xfrm>
            <a:off x="548268" y="284244"/>
            <a:ext cx="10515600" cy="727695"/>
          </a:xfrm>
        </p:spPr>
        <p:txBody>
          <a:bodyPr>
            <a:normAutofit/>
          </a:bodyPr>
          <a:lstStyle/>
          <a:p>
            <a:pPr algn="l"/>
            <a:r>
              <a:rPr kumimoji="1" lang="ja-JP" altLang="en-US" sz="3200" b="0">
                <a:solidFill>
                  <a:schemeClr val="tx1"/>
                </a:solidFill>
                <a:latin typeface="Meiryo" panose="020B0604030504040204" pitchFamily="34" charset="-128"/>
                <a:ea typeface="Meiryo" panose="020B0604030504040204" pitchFamily="34" charset="-128"/>
              </a:rPr>
              <a:t>参考文献</a:t>
            </a:r>
          </a:p>
        </p:txBody>
      </p:sp>
      <p:sp>
        <p:nvSpPr>
          <p:cNvPr id="3" name="コンテンツ プレースホルダー 2">
            <a:extLst>
              <a:ext uri="{FF2B5EF4-FFF2-40B4-BE49-F238E27FC236}">
                <a16:creationId xmlns:a16="http://schemas.microsoft.com/office/drawing/2014/main" id="{C9EF43C5-3BF4-1245-8E9B-EF744E11B7DF}"/>
              </a:ext>
            </a:extLst>
          </p:cNvPr>
          <p:cNvSpPr>
            <a:spLocks noGrp="1"/>
          </p:cNvSpPr>
          <p:nvPr>
            <p:ph idx="1"/>
          </p:nvPr>
        </p:nvSpPr>
        <p:spPr>
          <a:xfrm>
            <a:off x="548267" y="1156550"/>
            <a:ext cx="11110333" cy="5259354"/>
          </a:xfrm>
        </p:spPr>
        <p:txBody>
          <a:bodyPr>
            <a:normAutofit fontScale="92500" lnSpcReduction="10000"/>
          </a:bodyPr>
          <a:lstStyle/>
          <a:p>
            <a:pPr marL="0" indent="0">
              <a:buNone/>
            </a:pPr>
            <a:r>
              <a:rPr lang="en-US" sz="1600" dirty="0">
                <a:solidFill>
                  <a:srgbClr val="222222"/>
                </a:solidFill>
                <a:latin typeface="Meiryo" panose="020B0604030504040204" pitchFamily="34" charset="-128"/>
                <a:ea typeface="Meiryo" panose="020B0604030504040204" pitchFamily="34" charset="-128"/>
              </a:rPr>
              <a:t>[1]</a:t>
            </a:r>
            <a:r>
              <a:rPr lang="en-US" sz="1600" b="0" i="0" dirty="0">
                <a:solidFill>
                  <a:srgbClr val="222222"/>
                </a:solidFill>
                <a:effectLst/>
                <a:latin typeface="Arial" panose="020B0604020202020204" pitchFamily="34" charset="0"/>
              </a:rPr>
              <a:t> </a:t>
            </a:r>
            <a:r>
              <a:rPr lang="en-US" sz="1600" b="0" i="0" dirty="0" err="1">
                <a:solidFill>
                  <a:srgbClr val="222222"/>
                </a:solidFill>
                <a:effectLst/>
                <a:latin typeface="Arial" panose="020B0604020202020204" pitchFamily="34" charset="0"/>
              </a:rPr>
              <a:t>Wentao</a:t>
            </a:r>
            <a:r>
              <a:rPr lang="en-US" sz="1600" b="0" i="0" dirty="0">
                <a:solidFill>
                  <a:srgbClr val="222222"/>
                </a:solidFill>
                <a:effectLst/>
                <a:latin typeface="Arial" panose="020B0604020202020204" pitchFamily="34" charset="0"/>
              </a:rPr>
              <a:t> Mao, Huadong Shi, </a:t>
            </a:r>
            <a:r>
              <a:rPr lang="en-US" sz="1600" b="0" i="0" dirty="0" err="1">
                <a:solidFill>
                  <a:srgbClr val="222222"/>
                </a:solidFill>
                <a:effectLst/>
                <a:latin typeface="Arial" panose="020B0604020202020204" pitchFamily="34" charset="0"/>
              </a:rPr>
              <a:t>Gangsheng</a:t>
            </a:r>
            <a:r>
              <a:rPr lang="en-US" sz="1600" b="0" i="0" dirty="0">
                <a:solidFill>
                  <a:srgbClr val="222222"/>
                </a:solidFill>
                <a:effectLst/>
                <a:latin typeface="Arial" panose="020B0604020202020204" pitchFamily="34" charset="0"/>
              </a:rPr>
              <a:t> Wang, and </a:t>
            </a:r>
            <a:r>
              <a:rPr lang="en-US" sz="1600" b="0" i="0" dirty="0" err="1">
                <a:solidFill>
                  <a:srgbClr val="222222"/>
                </a:solidFill>
                <a:effectLst/>
                <a:latin typeface="Arial" panose="020B0604020202020204" pitchFamily="34" charset="0"/>
              </a:rPr>
              <a:t>Xihui</a:t>
            </a:r>
            <a:r>
              <a:rPr lang="en-US" sz="1600" b="0" i="0" dirty="0">
                <a:solidFill>
                  <a:srgbClr val="222222"/>
                </a:solidFill>
                <a:effectLst/>
                <a:latin typeface="Arial" panose="020B0604020202020204" pitchFamily="34" charset="0"/>
              </a:rPr>
              <a:t> Liang. </a:t>
            </a:r>
            <a:r>
              <a:rPr lang="en-US" sz="1600" b="0" i="0" dirty="0" err="1">
                <a:solidFill>
                  <a:srgbClr val="222222"/>
                </a:solidFill>
                <a:effectLst/>
                <a:latin typeface="Arial" panose="020B0604020202020204" pitchFamily="34" charset="0"/>
              </a:rPr>
              <a:t>Carnegie-mellon</a:t>
            </a:r>
            <a:r>
              <a:rPr lang="en-US" sz="1600" b="0" i="0" dirty="0">
                <a:solidFill>
                  <a:srgbClr val="222222"/>
                </a:solidFill>
                <a:effectLst/>
                <a:latin typeface="Arial" panose="020B0604020202020204" pitchFamily="34" charset="0"/>
              </a:rPr>
              <a:t> mocap database. Carnegie Mellon Univ. Pittsburgh, PA, USA,, 2007. </a:t>
            </a:r>
            <a:endParaRPr lang="en-US" sz="1600" b="0" i="0" dirty="0">
              <a:solidFill>
                <a:srgbClr val="222222"/>
              </a:solidFill>
              <a:effectLst/>
              <a:latin typeface="Meiryo" panose="020B0604030504040204" pitchFamily="34" charset="-128"/>
              <a:ea typeface="Meiryo" panose="020B0604030504040204" pitchFamily="34" charset="-128"/>
            </a:endParaRPr>
          </a:p>
          <a:p>
            <a:pPr marL="0" indent="0">
              <a:buNone/>
            </a:pPr>
            <a:r>
              <a:rPr lang="en-US" sz="1600" dirty="0">
                <a:solidFill>
                  <a:srgbClr val="222222"/>
                </a:solidFill>
                <a:latin typeface="Meiryo" panose="020B0604030504040204" pitchFamily="34" charset="-128"/>
                <a:ea typeface="Meiryo" panose="020B0604030504040204" pitchFamily="34" charset="-128"/>
              </a:rPr>
              <a:t>[2] Yasuko Matsubara, Yasushi Sakurai, and Christos </a:t>
            </a:r>
            <a:r>
              <a:rPr lang="en-US" sz="1600" dirty="0" err="1">
                <a:solidFill>
                  <a:srgbClr val="222222"/>
                </a:solidFill>
                <a:latin typeface="Meiryo" panose="020B0604030504040204" pitchFamily="34" charset="-128"/>
                <a:ea typeface="Meiryo" panose="020B0604030504040204" pitchFamily="34" charset="-128"/>
              </a:rPr>
              <a:t>Faloutsos</a:t>
            </a:r>
            <a:r>
              <a:rPr lang="en-US" sz="1600" dirty="0">
                <a:solidFill>
                  <a:srgbClr val="222222"/>
                </a:solidFill>
                <a:latin typeface="Meiryo" panose="020B0604030504040204" pitchFamily="34" charset="-128"/>
                <a:ea typeface="Meiryo" panose="020B0604030504040204" pitchFamily="34" charset="-128"/>
              </a:rPr>
              <a:t>. </a:t>
            </a:r>
            <a:r>
              <a:rPr lang="en-US" sz="1600" dirty="0" err="1">
                <a:solidFill>
                  <a:srgbClr val="222222"/>
                </a:solidFill>
                <a:latin typeface="Meiryo" panose="020B0604030504040204" pitchFamily="34" charset="-128"/>
                <a:ea typeface="Meiryo" panose="020B0604030504040204" pitchFamily="34" charset="-128"/>
              </a:rPr>
              <a:t>Autoplait</a:t>
            </a:r>
            <a:r>
              <a:rPr lang="en-US" sz="1600" dirty="0">
                <a:solidFill>
                  <a:srgbClr val="222222"/>
                </a:solidFill>
                <a:latin typeface="Meiryo" panose="020B0604030504040204" pitchFamily="34" charset="-128"/>
                <a:ea typeface="Meiryo" panose="020B0604030504040204" pitchFamily="34" charset="-128"/>
              </a:rPr>
              <a:t>: automatic mining of co-evolving time sequences. In Curtis E. </a:t>
            </a:r>
            <a:r>
              <a:rPr lang="en-US" sz="1600" dirty="0" err="1">
                <a:solidFill>
                  <a:srgbClr val="222222"/>
                </a:solidFill>
                <a:latin typeface="Meiryo" panose="020B0604030504040204" pitchFamily="34" charset="-128"/>
                <a:ea typeface="Meiryo" panose="020B0604030504040204" pitchFamily="34" charset="-128"/>
              </a:rPr>
              <a:t>Dyreson</a:t>
            </a:r>
            <a:r>
              <a:rPr lang="en-US" sz="1600" dirty="0">
                <a:solidFill>
                  <a:srgbClr val="222222"/>
                </a:solidFill>
                <a:latin typeface="Meiryo" panose="020B0604030504040204" pitchFamily="34" charset="-128"/>
                <a:ea typeface="Meiryo" panose="020B0604030504040204" pitchFamily="34" charset="-128"/>
              </a:rPr>
              <a:t>, </a:t>
            </a:r>
            <a:r>
              <a:rPr lang="en-US" sz="1600" dirty="0" err="1">
                <a:solidFill>
                  <a:srgbClr val="222222"/>
                </a:solidFill>
                <a:latin typeface="Meiryo" panose="020B0604030504040204" pitchFamily="34" charset="-128"/>
                <a:ea typeface="Meiryo" panose="020B0604030504040204" pitchFamily="34" charset="-128"/>
              </a:rPr>
              <a:t>Feifei</a:t>
            </a:r>
            <a:r>
              <a:rPr lang="en-US" sz="1600" dirty="0">
                <a:solidFill>
                  <a:srgbClr val="222222"/>
                </a:solidFill>
                <a:latin typeface="Meiryo" panose="020B0604030504040204" pitchFamily="34" charset="-128"/>
                <a:ea typeface="Meiryo" panose="020B0604030504040204" pitchFamily="34" charset="-128"/>
              </a:rPr>
              <a:t> Li, and M. Tamer O ̈</a:t>
            </a:r>
            <a:r>
              <a:rPr lang="en-US" sz="1600" dirty="0" err="1">
                <a:solidFill>
                  <a:srgbClr val="222222"/>
                </a:solidFill>
                <a:latin typeface="Meiryo" panose="020B0604030504040204" pitchFamily="34" charset="-128"/>
                <a:ea typeface="Meiryo" panose="020B0604030504040204" pitchFamily="34" charset="-128"/>
              </a:rPr>
              <a:t>zsu</a:t>
            </a:r>
            <a:r>
              <a:rPr lang="en-US" sz="1600" dirty="0">
                <a:solidFill>
                  <a:srgbClr val="222222"/>
                </a:solidFill>
                <a:latin typeface="Meiryo" panose="020B0604030504040204" pitchFamily="34" charset="-128"/>
                <a:ea typeface="Meiryo" panose="020B0604030504040204" pitchFamily="34" charset="-128"/>
              </a:rPr>
              <a:t>, editors, International Conference on Management of Data, SIGMOD 2014, Snowbird, UT, USA, June 22-27, 2014, pages 193–204. ACM, 2014. </a:t>
            </a:r>
          </a:p>
          <a:p>
            <a:pPr marL="0" indent="0">
              <a:buNone/>
            </a:pPr>
            <a:r>
              <a:rPr lang="en-JP" altLang="ja-JP" sz="1600">
                <a:latin typeface="Meiryo" panose="020B0604030504040204" pitchFamily="34" charset="-128"/>
                <a:ea typeface="Meiryo" panose="020B0604030504040204" pitchFamily="34" charset="-128"/>
              </a:rPr>
              <a:t>[</a:t>
            </a:r>
            <a:r>
              <a:rPr lang="en-US" altLang="ja-JP" sz="1600" dirty="0">
                <a:latin typeface="Meiryo" panose="020B0604030504040204" pitchFamily="34" charset="-128"/>
                <a:ea typeface="Meiryo" panose="020B0604030504040204" pitchFamily="34" charset="-128"/>
              </a:rPr>
              <a:t>3</a:t>
            </a:r>
            <a:r>
              <a:rPr lang="en-JP" altLang="ja-JP" sz="1600">
                <a:latin typeface="Meiryo" panose="020B0604030504040204" pitchFamily="34" charset="-128"/>
                <a:ea typeface="Meiryo" panose="020B0604030504040204" pitchFamily="34" charset="-128"/>
              </a:rPr>
              <a:t>]</a:t>
            </a:r>
            <a:r>
              <a:rPr lang="en-US" altLang="ja-JP" sz="1600" b="0" i="0" dirty="0">
                <a:effectLst/>
                <a:latin typeface="Meiryo" panose="020B0604030504040204" pitchFamily="34" charset="-128"/>
                <a:ea typeface="Meiryo" panose="020B0604030504040204" pitchFamily="34" charset="-128"/>
              </a:rPr>
              <a:t> </a:t>
            </a:r>
            <a:r>
              <a:rPr lang="en-US" sz="1600" b="0" i="0" dirty="0" err="1">
                <a:solidFill>
                  <a:srgbClr val="222222"/>
                </a:solidFill>
                <a:effectLst/>
                <a:latin typeface="Meiryo" panose="020B0604030504040204" pitchFamily="34" charset="-128"/>
                <a:ea typeface="Meiryo" panose="020B0604030504040204" pitchFamily="34" charset="-128"/>
              </a:rPr>
              <a:t>Zhihan</a:t>
            </a:r>
            <a:r>
              <a:rPr lang="en-US" sz="1600" b="0" i="0" dirty="0">
                <a:solidFill>
                  <a:srgbClr val="222222"/>
                </a:solidFill>
                <a:effectLst/>
                <a:latin typeface="Meiryo" panose="020B0604030504040204" pitchFamily="34" charset="-128"/>
                <a:ea typeface="Meiryo" panose="020B0604030504040204" pitchFamily="34" charset="-128"/>
              </a:rPr>
              <a:t> Yue, </a:t>
            </a:r>
            <a:r>
              <a:rPr lang="en-US" sz="1600" b="0" i="0" dirty="0" err="1">
                <a:solidFill>
                  <a:srgbClr val="222222"/>
                </a:solidFill>
                <a:effectLst/>
                <a:latin typeface="Meiryo" panose="020B0604030504040204" pitchFamily="34" charset="-128"/>
                <a:ea typeface="Meiryo" panose="020B0604030504040204" pitchFamily="34" charset="-128"/>
              </a:rPr>
              <a:t>Yujing</a:t>
            </a:r>
            <a:r>
              <a:rPr lang="en-US" sz="1600" b="0" i="0" dirty="0">
                <a:solidFill>
                  <a:srgbClr val="222222"/>
                </a:solidFill>
                <a:effectLst/>
                <a:latin typeface="Meiryo" panose="020B0604030504040204" pitchFamily="34" charset="-128"/>
                <a:ea typeface="Meiryo" panose="020B0604030504040204" pitchFamily="34" charset="-128"/>
              </a:rPr>
              <a:t> Wang, </a:t>
            </a:r>
            <a:r>
              <a:rPr lang="en-US" sz="1600" b="0" i="0" dirty="0" err="1">
                <a:solidFill>
                  <a:srgbClr val="222222"/>
                </a:solidFill>
                <a:effectLst/>
                <a:latin typeface="Meiryo" panose="020B0604030504040204" pitchFamily="34" charset="-128"/>
                <a:ea typeface="Meiryo" panose="020B0604030504040204" pitchFamily="34" charset="-128"/>
              </a:rPr>
              <a:t>Juanyong</a:t>
            </a:r>
            <a:r>
              <a:rPr lang="en-US" sz="1600" b="0" i="0" dirty="0">
                <a:solidFill>
                  <a:srgbClr val="222222"/>
                </a:solidFill>
                <a:effectLst/>
                <a:latin typeface="Meiryo" panose="020B0604030504040204" pitchFamily="34" charset="-128"/>
                <a:ea typeface="Meiryo" panose="020B0604030504040204" pitchFamily="34" charset="-128"/>
              </a:rPr>
              <a:t> Duan, </a:t>
            </a:r>
            <a:r>
              <a:rPr lang="en-US" sz="1600" b="0" i="0" dirty="0" err="1">
                <a:solidFill>
                  <a:srgbClr val="222222"/>
                </a:solidFill>
                <a:effectLst/>
                <a:latin typeface="Meiryo" panose="020B0604030504040204" pitchFamily="34" charset="-128"/>
                <a:ea typeface="Meiryo" panose="020B0604030504040204" pitchFamily="34" charset="-128"/>
              </a:rPr>
              <a:t>Tianmeng</a:t>
            </a:r>
            <a:r>
              <a:rPr lang="en-US" sz="1600" b="0" i="0" dirty="0">
                <a:solidFill>
                  <a:srgbClr val="222222"/>
                </a:solidFill>
                <a:effectLst/>
                <a:latin typeface="Meiryo" panose="020B0604030504040204" pitchFamily="34" charset="-128"/>
                <a:ea typeface="Meiryo" panose="020B0604030504040204" pitchFamily="34" charset="-128"/>
              </a:rPr>
              <a:t> Yang, </a:t>
            </a:r>
            <a:r>
              <a:rPr lang="en-US" sz="1600" b="0" i="0" dirty="0" err="1">
                <a:solidFill>
                  <a:srgbClr val="222222"/>
                </a:solidFill>
                <a:effectLst/>
                <a:latin typeface="Meiryo" panose="020B0604030504040204" pitchFamily="34" charset="-128"/>
                <a:ea typeface="Meiryo" panose="020B0604030504040204" pitchFamily="34" charset="-128"/>
              </a:rPr>
              <a:t>Congrui</a:t>
            </a:r>
            <a:r>
              <a:rPr lang="en-US" sz="1600" b="0" i="0" dirty="0">
                <a:solidFill>
                  <a:srgbClr val="222222"/>
                </a:solidFill>
                <a:effectLst/>
                <a:latin typeface="Meiryo" panose="020B0604030504040204" pitchFamily="34" charset="-128"/>
                <a:ea typeface="Meiryo" panose="020B0604030504040204" pitchFamily="34" charset="-128"/>
              </a:rPr>
              <a:t> Huang, </a:t>
            </a:r>
            <a:r>
              <a:rPr lang="en-US" sz="1600" b="0" i="0" dirty="0" err="1">
                <a:solidFill>
                  <a:srgbClr val="222222"/>
                </a:solidFill>
                <a:effectLst/>
                <a:latin typeface="Meiryo" panose="020B0604030504040204" pitchFamily="34" charset="-128"/>
                <a:ea typeface="Meiryo" panose="020B0604030504040204" pitchFamily="34" charset="-128"/>
              </a:rPr>
              <a:t>Yunhai</a:t>
            </a:r>
            <a:r>
              <a:rPr lang="en-US" sz="1600" b="0" i="0" dirty="0">
                <a:solidFill>
                  <a:srgbClr val="222222"/>
                </a:solidFill>
                <a:effectLst/>
                <a:latin typeface="Meiryo" panose="020B0604030504040204" pitchFamily="34" charset="-128"/>
                <a:ea typeface="Meiryo" panose="020B0604030504040204" pitchFamily="34" charset="-128"/>
              </a:rPr>
              <a:t> Tong, and </a:t>
            </a:r>
            <a:r>
              <a:rPr lang="en-US" sz="1600" b="0" i="0" dirty="0" err="1">
                <a:solidFill>
                  <a:srgbClr val="222222"/>
                </a:solidFill>
                <a:effectLst/>
                <a:latin typeface="Meiryo" panose="020B0604030504040204" pitchFamily="34" charset="-128"/>
                <a:ea typeface="Meiryo" panose="020B0604030504040204" pitchFamily="34" charset="-128"/>
              </a:rPr>
              <a:t>Bixiong</a:t>
            </a:r>
            <a:r>
              <a:rPr lang="en-US" sz="1600" b="0" i="0" dirty="0">
                <a:solidFill>
                  <a:srgbClr val="222222"/>
                </a:solidFill>
                <a:effectLst/>
                <a:latin typeface="Meiryo" panose="020B0604030504040204" pitchFamily="34" charset="-128"/>
                <a:ea typeface="Meiryo" panose="020B0604030504040204" pitchFamily="34" charset="-128"/>
              </a:rPr>
              <a:t> Xu. Ts2vec: Towards universal representation of time series. In Proceedings of the AAAI Conference on Artificial Intelligence, volume 36, pages 8980–8987, 2022. </a:t>
            </a:r>
          </a:p>
          <a:p>
            <a:pPr marL="0" indent="0">
              <a:buNone/>
            </a:pPr>
            <a:r>
              <a:rPr lang="en-US" sz="1600" dirty="0">
                <a:solidFill>
                  <a:srgbClr val="222222"/>
                </a:solidFill>
                <a:latin typeface="Meiryo" panose="020B0604030504040204" pitchFamily="34" charset="-128"/>
                <a:ea typeface="Meiryo" panose="020B0604030504040204" pitchFamily="34" charset="-128"/>
              </a:rPr>
              <a:t>[4] Masatoshi Nagano, </a:t>
            </a:r>
            <a:r>
              <a:rPr lang="en-US" sz="1600" dirty="0" err="1">
                <a:solidFill>
                  <a:srgbClr val="222222"/>
                </a:solidFill>
                <a:latin typeface="Meiryo" panose="020B0604030504040204" pitchFamily="34" charset="-128"/>
                <a:ea typeface="Meiryo" panose="020B0604030504040204" pitchFamily="34" charset="-128"/>
              </a:rPr>
              <a:t>Tomoaki</a:t>
            </a:r>
            <a:r>
              <a:rPr lang="en-US" sz="1600" dirty="0">
                <a:solidFill>
                  <a:srgbClr val="222222"/>
                </a:solidFill>
                <a:latin typeface="Meiryo" panose="020B0604030504040204" pitchFamily="34" charset="-128"/>
                <a:ea typeface="Meiryo" panose="020B0604030504040204" pitchFamily="34" charset="-128"/>
              </a:rPr>
              <a:t> Nakamura, Takayuki Nagai, Daichi </a:t>
            </a:r>
            <a:r>
              <a:rPr lang="en-US" sz="1600" dirty="0" err="1">
                <a:solidFill>
                  <a:srgbClr val="222222"/>
                </a:solidFill>
                <a:latin typeface="Meiryo" panose="020B0604030504040204" pitchFamily="34" charset="-128"/>
                <a:ea typeface="Meiryo" panose="020B0604030504040204" pitchFamily="34" charset="-128"/>
              </a:rPr>
              <a:t>Mochihashi</a:t>
            </a:r>
            <a:r>
              <a:rPr lang="en-US" sz="1600" dirty="0">
                <a:solidFill>
                  <a:srgbClr val="222222"/>
                </a:solidFill>
                <a:latin typeface="Meiryo" panose="020B0604030504040204" pitchFamily="34" charset="-128"/>
                <a:ea typeface="Meiryo" panose="020B0604030504040204" pitchFamily="34" charset="-128"/>
              </a:rPr>
              <a:t>, Ichiro Kobayashi, and Wataru Takano. </a:t>
            </a:r>
            <a:r>
              <a:rPr lang="en-US" sz="1600" dirty="0" err="1">
                <a:solidFill>
                  <a:srgbClr val="222222"/>
                </a:solidFill>
                <a:latin typeface="Meiryo" panose="020B0604030504040204" pitchFamily="34" charset="-128"/>
                <a:ea typeface="Meiryo" panose="020B0604030504040204" pitchFamily="34" charset="-128"/>
              </a:rPr>
              <a:t>Hvgh</a:t>
            </a:r>
            <a:r>
              <a:rPr lang="en-US" sz="1600" dirty="0">
                <a:solidFill>
                  <a:srgbClr val="222222"/>
                </a:solidFill>
                <a:latin typeface="Meiryo" panose="020B0604030504040204" pitchFamily="34" charset="-128"/>
                <a:ea typeface="Meiryo" panose="020B0604030504040204" pitchFamily="34" charset="-128"/>
              </a:rPr>
              <a:t>: unsupervised segmentation for high-dimensional time series using deep neural compression and statistical generative model. Frontiers in Robotics and AI, 6:115, 2019. </a:t>
            </a:r>
            <a:endParaRPr lang="en-US" sz="1600" b="0" i="0" dirty="0">
              <a:solidFill>
                <a:srgbClr val="222222"/>
              </a:solidFill>
              <a:effectLst/>
              <a:latin typeface="Meiryo" panose="020B0604030504040204" pitchFamily="34" charset="-128"/>
              <a:ea typeface="Meiryo" panose="020B0604030504040204" pitchFamily="34" charset="-128"/>
            </a:endParaRPr>
          </a:p>
          <a:p>
            <a:pPr marL="0" indent="0">
              <a:buNone/>
            </a:pPr>
            <a:r>
              <a:rPr lang="en-US" sz="1600" dirty="0">
                <a:solidFill>
                  <a:srgbClr val="222222"/>
                </a:solidFill>
                <a:latin typeface="Meiryo" panose="020B0604030504040204" pitchFamily="34" charset="-128"/>
                <a:ea typeface="Meiryo" panose="020B0604030504040204" pitchFamily="34" charset="-128"/>
              </a:rPr>
              <a:t>[5] </a:t>
            </a:r>
            <a:r>
              <a:rPr lang="en-US" sz="1600" dirty="0" err="1">
                <a:solidFill>
                  <a:srgbClr val="222222"/>
                </a:solidFill>
                <a:latin typeface="Meiryo" panose="020B0604030504040204" pitchFamily="34" charset="-128"/>
                <a:ea typeface="Meiryo" panose="020B0604030504040204" pitchFamily="34" charset="-128"/>
              </a:rPr>
              <a:t>Zhihan</a:t>
            </a:r>
            <a:r>
              <a:rPr lang="en-US" sz="1600" dirty="0">
                <a:solidFill>
                  <a:srgbClr val="222222"/>
                </a:solidFill>
                <a:latin typeface="Meiryo" panose="020B0604030504040204" pitchFamily="34" charset="-128"/>
                <a:ea typeface="Meiryo" panose="020B0604030504040204" pitchFamily="34" charset="-128"/>
              </a:rPr>
              <a:t> Yue, </a:t>
            </a:r>
            <a:r>
              <a:rPr lang="en-US" sz="1600" dirty="0" err="1">
                <a:solidFill>
                  <a:srgbClr val="222222"/>
                </a:solidFill>
                <a:latin typeface="Meiryo" panose="020B0604030504040204" pitchFamily="34" charset="-128"/>
                <a:ea typeface="Meiryo" panose="020B0604030504040204" pitchFamily="34" charset="-128"/>
              </a:rPr>
              <a:t>Yujing</a:t>
            </a:r>
            <a:r>
              <a:rPr lang="en-US" sz="1600" dirty="0">
                <a:solidFill>
                  <a:srgbClr val="222222"/>
                </a:solidFill>
                <a:latin typeface="Meiryo" panose="020B0604030504040204" pitchFamily="34" charset="-128"/>
                <a:ea typeface="Meiryo" panose="020B0604030504040204" pitchFamily="34" charset="-128"/>
              </a:rPr>
              <a:t> Wang, </a:t>
            </a:r>
            <a:r>
              <a:rPr lang="en-US" sz="1600" dirty="0" err="1">
                <a:solidFill>
                  <a:srgbClr val="222222"/>
                </a:solidFill>
                <a:latin typeface="Meiryo" panose="020B0604030504040204" pitchFamily="34" charset="-128"/>
                <a:ea typeface="Meiryo" panose="020B0604030504040204" pitchFamily="34" charset="-128"/>
              </a:rPr>
              <a:t>Juanyong</a:t>
            </a:r>
            <a:r>
              <a:rPr lang="en-US" sz="1600" dirty="0">
                <a:solidFill>
                  <a:srgbClr val="222222"/>
                </a:solidFill>
                <a:latin typeface="Meiryo" panose="020B0604030504040204" pitchFamily="34" charset="-128"/>
                <a:ea typeface="Meiryo" panose="020B0604030504040204" pitchFamily="34" charset="-128"/>
              </a:rPr>
              <a:t> Duan, </a:t>
            </a:r>
            <a:r>
              <a:rPr lang="en-US" sz="1600" dirty="0" err="1">
                <a:solidFill>
                  <a:srgbClr val="222222"/>
                </a:solidFill>
                <a:latin typeface="Meiryo" panose="020B0604030504040204" pitchFamily="34" charset="-128"/>
                <a:ea typeface="Meiryo" panose="020B0604030504040204" pitchFamily="34" charset="-128"/>
              </a:rPr>
              <a:t>Tianmeng</a:t>
            </a:r>
            <a:r>
              <a:rPr lang="en-US" sz="1600" dirty="0">
                <a:solidFill>
                  <a:srgbClr val="222222"/>
                </a:solidFill>
                <a:latin typeface="Meiryo" panose="020B0604030504040204" pitchFamily="34" charset="-128"/>
                <a:ea typeface="Meiryo" panose="020B0604030504040204" pitchFamily="34" charset="-128"/>
              </a:rPr>
              <a:t> Yang, </a:t>
            </a:r>
            <a:r>
              <a:rPr lang="en-US" sz="1600" dirty="0" err="1">
                <a:solidFill>
                  <a:srgbClr val="222222"/>
                </a:solidFill>
                <a:latin typeface="Meiryo" panose="020B0604030504040204" pitchFamily="34" charset="-128"/>
                <a:ea typeface="Meiryo" panose="020B0604030504040204" pitchFamily="34" charset="-128"/>
              </a:rPr>
              <a:t>Congrui</a:t>
            </a:r>
            <a:r>
              <a:rPr lang="en-US" sz="1600" dirty="0">
                <a:solidFill>
                  <a:srgbClr val="222222"/>
                </a:solidFill>
                <a:latin typeface="Meiryo" panose="020B0604030504040204" pitchFamily="34" charset="-128"/>
                <a:ea typeface="Meiryo" panose="020B0604030504040204" pitchFamily="34" charset="-128"/>
              </a:rPr>
              <a:t> Huang, </a:t>
            </a:r>
            <a:r>
              <a:rPr lang="en-US" sz="1600" dirty="0" err="1">
                <a:solidFill>
                  <a:srgbClr val="222222"/>
                </a:solidFill>
                <a:latin typeface="Meiryo" panose="020B0604030504040204" pitchFamily="34" charset="-128"/>
                <a:ea typeface="Meiryo" panose="020B0604030504040204" pitchFamily="34" charset="-128"/>
              </a:rPr>
              <a:t>Yunhai</a:t>
            </a:r>
            <a:r>
              <a:rPr lang="en-US" sz="1600" dirty="0">
                <a:solidFill>
                  <a:srgbClr val="222222"/>
                </a:solidFill>
                <a:latin typeface="Meiryo" panose="020B0604030504040204" pitchFamily="34" charset="-128"/>
                <a:ea typeface="Meiryo" panose="020B0604030504040204" pitchFamily="34" charset="-128"/>
              </a:rPr>
              <a:t> Tong, and </a:t>
            </a:r>
            <a:r>
              <a:rPr lang="en-US" sz="1600" dirty="0" err="1">
                <a:solidFill>
                  <a:srgbClr val="222222"/>
                </a:solidFill>
                <a:latin typeface="Meiryo" panose="020B0604030504040204" pitchFamily="34" charset="-128"/>
                <a:ea typeface="Meiryo" panose="020B0604030504040204" pitchFamily="34" charset="-128"/>
              </a:rPr>
              <a:t>Bixiong</a:t>
            </a:r>
            <a:r>
              <a:rPr lang="en-US" sz="1600" dirty="0">
                <a:solidFill>
                  <a:srgbClr val="222222"/>
                </a:solidFill>
                <a:latin typeface="Meiryo" panose="020B0604030504040204" pitchFamily="34" charset="-128"/>
                <a:ea typeface="Meiryo" panose="020B0604030504040204" pitchFamily="34" charset="-128"/>
              </a:rPr>
              <a:t> Xu. Ts2vec: Towards universal representation of time series. In Proceedings of the AAAI Conference on Artificial Intelligence, volume 36, pages 8980–8987, 2022. </a:t>
            </a:r>
          </a:p>
          <a:p>
            <a:pPr marL="0" indent="-457200">
              <a:buNone/>
            </a:pPr>
            <a:r>
              <a:rPr lang="en-JP" altLang="ja-JP" sz="1600">
                <a:latin typeface="Meiryo" panose="020B0604030504040204" pitchFamily="34" charset="-128"/>
                <a:ea typeface="Meiryo" panose="020B0604030504040204" pitchFamily="34" charset="-128"/>
              </a:rPr>
              <a:t>[</a:t>
            </a:r>
            <a:r>
              <a:rPr lang="en-US" altLang="ja-JP" sz="1600" dirty="0">
                <a:latin typeface="Meiryo" panose="020B0604030504040204" pitchFamily="34" charset="-128"/>
                <a:ea typeface="Meiryo" panose="020B0604030504040204" pitchFamily="34" charset="-128"/>
              </a:rPr>
              <a:t>6</a:t>
            </a:r>
            <a:r>
              <a:rPr lang="en-JP" altLang="ja-JP" sz="1600">
                <a:latin typeface="Meiryo" panose="020B0604030504040204" pitchFamily="34" charset="-128"/>
                <a:ea typeface="Meiryo" panose="020B0604030504040204" pitchFamily="34" charset="-128"/>
              </a:rPr>
              <a:t>]</a:t>
            </a:r>
            <a:r>
              <a:rPr lang="en-US" sz="1600" b="0" i="0" dirty="0">
                <a:effectLst/>
                <a:latin typeface="Meiryo" panose="020B0604030504040204" pitchFamily="34" charset="-128"/>
                <a:ea typeface="Meiryo" panose="020B0604030504040204" pitchFamily="34" charset="-128"/>
              </a:rPr>
              <a:t>   </a:t>
            </a:r>
            <a:r>
              <a:rPr lang="en-US" sz="1600" b="0" i="0" dirty="0">
                <a:solidFill>
                  <a:srgbClr val="222222"/>
                </a:solidFill>
                <a:effectLst/>
                <a:latin typeface="Meiryo" panose="020B0604030504040204" pitchFamily="34" charset="-128"/>
                <a:ea typeface="Meiryo" panose="020B0604030504040204" pitchFamily="34" charset="-128"/>
              </a:rPr>
              <a:t>Zhai, </a:t>
            </a:r>
            <a:r>
              <a:rPr lang="en-US" sz="1600" b="0" i="0" dirty="0" err="1">
                <a:solidFill>
                  <a:srgbClr val="222222"/>
                </a:solidFill>
                <a:effectLst/>
                <a:latin typeface="Meiryo" panose="020B0604030504040204" pitchFamily="34" charset="-128"/>
                <a:ea typeface="Meiryo" panose="020B0604030504040204" pitchFamily="34" charset="-128"/>
              </a:rPr>
              <a:t>Qingqing</a:t>
            </a:r>
            <a:r>
              <a:rPr lang="en-US" sz="1600" b="0" i="0" dirty="0">
                <a:solidFill>
                  <a:srgbClr val="222222"/>
                </a:solidFill>
                <a:effectLst/>
                <a:latin typeface="Meiryo" panose="020B0604030504040204" pitchFamily="34" charset="-128"/>
                <a:ea typeface="Meiryo" panose="020B0604030504040204" pitchFamily="34" charset="-128"/>
              </a:rPr>
              <a:t>, and Zhi-Sheng Ye. “RUL prediction of deteriorating products using an adaptive Wiener </a:t>
            </a:r>
            <a:br>
              <a:rPr lang="en-US" sz="1600" b="0" i="0" dirty="0">
                <a:solidFill>
                  <a:srgbClr val="222222"/>
                </a:solidFill>
                <a:effectLst/>
                <a:latin typeface="Meiryo" panose="020B0604030504040204" pitchFamily="34" charset="-128"/>
                <a:ea typeface="Meiryo" panose="020B0604030504040204" pitchFamily="34" charset="-128"/>
              </a:rPr>
            </a:br>
            <a:r>
              <a:rPr lang="en-US" sz="1600" dirty="0">
                <a:solidFill>
                  <a:srgbClr val="222222"/>
                </a:solidFill>
                <a:latin typeface="Meiryo" panose="020B0604030504040204" pitchFamily="34" charset="-128"/>
                <a:ea typeface="Meiryo" panose="020B0604030504040204" pitchFamily="34" charset="-128"/>
              </a:rPr>
              <a:t>       </a:t>
            </a:r>
            <a:r>
              <a:rPr lang="en-US" sz="1600" b="0" i="0" dirty="0">
                <a:solidFill>
                  <a:srgbClr val="222222"/>
                </a:solidFill>
                <a:effectLst/>
                <a:latin typeface="Meiryo" panose="020B0604030504040204" pitchFamily="34" charset="-128"/>
                <a:ea typeface="Meiryo" panose="020B0604030504040204" pitchFamily="34" charset="-128"/>
              </a:rPr>
              <a:t>process model." </a:t>
            </a:r>
            <a:r>
              <a:rPr lang="en-US" sz="1600" b="0" i="1" dirty="0">
                <a:solidFill>
                  <a:srgbClr val="222222"/>
                </a:solidFill>
                <a:effectLst/>
                <a:latin typeface="Meiryo" panose="020B0604030504040204" pitchFamily="34" charset="-128"/>
                <a:ea typeface="Meiryo" panose="020B0604030504040204" pitchFamily="34" charset="-128"/>
              </a:rPr>
              <a:t>IEEE Transactions on Industrial Informatics</a:t>
            </a:r>
            <a:r>
              <a:rPr lang="en-US" sz="1600" b="0" i="0" dirty="0">
                <a:solidFill>
                  <a:srgbClr val="222222"/>
                </a:solidFill>
                <a:effectLst/>
                <a:latin typeface="Meiryo" panose="020B0604030504040204" pitchFamily="34" charset="-128"/>
                <a:ea typeface="Meiryo" panose="020B0604030504040204" pitchFamily="34" charset="-128"/>
              </a:rPr>
              <a:t> 13.6 (2017): 2911-2921.</a:t>
            </a:r>
            <a:endParaRPr lang="en-US" sz="1600" dirty="0">
              <a:latin typeface="Meiryo" panose="020B0604030504040204" pitchFamily="34" charset="-128"/>
              <a:ea typeface="Meiryo" panose="020B0604030504040204" pitchFamily="34" charset="-128"/>
            </a:endParaRPr>
          </a:p>
          <a:p>
            <a:pPr marL="0" indent="0">
              <a:buNone/>
            </a:pPr>
            <a:r>
              <a:rPr lang="en-US" sz="1600" b="0" i="0" dirty="0">
                <a:effectLst/>
                <a:latin typeface="Meiryo" panose="020B0604030504040204" pitchFamily="34" charset="-128"/>
                <a:ea typeface="Meiryo" panose="020B0604030504040204" pitchFamily="34" charset="-128"/>
              </a:rPr>
              <a:t>[7]   </a:t>
            </a:r>
            <a:r>
              <a:rPr lang="en-US" sz="1600" b="0" i="0" dirty="0">
                <a:solidFill>
                  <a:srgbClr val="222222"/>
                </a:solidFill>
                <a:effectLst/>
                <a:latin typeface="Meiryo" panose="020B0604030504040204" pitchFamily="34" charset="-128"/>
                <a:ea typeface="Meiryo" panose="020B0604030504040204" pitchFamily="34" charset="-128"/>
              </a:rPr>
              <a:t>Rai, </a:t>
            </a:r>
            <a:r>
              <a:rPr lang="en-US" sz="1600" b="0" i="0" dirty="0" err="1">
                <a:solidFill>
                  <a:srgbClr val="222222"/>
                </a:solidFill>
                <a:effectLst/>
                <a:latin typeface="Meiryo" panose="020B0604030504040204" pitchFamily="34" charset="-128"/>
                <a:ea typeface="Meiryo" panose="020B0604030504040204" pitchFamily="34" charset="-128"/>
              </a:rPr>
              <a:t>Akhand</a:t>
            </a:r>
            <a:r>
              <a:rPr lang="en-US" sz="1600" b="0" i="0" dirty="0">
                <a:solidFill>
                  <a:srgbClr val="222222"/>
                </a:solidFill>
                <a:effectLst/>
                <a:latin typeface="Meiryo" panose="020B0604030504040204" pitchFamily="34" charset="-128"/>
                <a:ea typeface="Meiryo" panose="020B0604030504040204" pitchFamily="34" charset="-128"/>
              </a:rPr>
              <a:t>, and Sanjay H. Upadhyay. "An integrated approach to bearing prognostics based on EEMD-</a:t>
            </a:r>
            <a:br>
              <a:rPr lang="en-US" sz="1600" b="0" i="0" dirty="0">
                <a:solidFill>
                  <a:srgbClr val="222222"/>
                </a:solidFill>
                <a:effectLst/>
                <a:latin typeface="Meiryo" panose="020B0604030504040204" pitchFamily="34" charset="-128"/>
                <a:ea typeface="Meiryo" panose="020B0604030504040204" pitchFamily="34" charset="-128"/>
              </a:rPr>
            </a:br>
            <a:r>
              <a:rPr lang="en-US" sz="1600" b="0" i="0" dirty="0">
                <a:solidFill>
                  <a:srgbClr val="222222"/>
                </a:solidFill>
                <a:effectLst/>
                <a:latin typeface="Meiryo" panose="020B0604030504040204" pitchFamily="34" charset="-128"/>
                <a:ea typeface="Meiryo" panose="020B0604030504040204" pitchFamily="34" charset="-128"/>
              </a:rPr>
              <a:t>       multi feature extraction, Gaussian mixture models and Jensen-</a:t>
            </a:r>
            <a:r>
              <a:rPr lang="en-US" sz="1600" b="0" i="0" dirty="0" err="1">
                <a:solidFill>
                  <a:srgbClr val="222222"/>
                </a:solidFill>
                <a:effectLst/>
                <a:latin typeface="Meiryo" panose="020B0604030504040204" pitchFamily="34" charset="-128"/>
                <a:ea typeface="Meiryo" panose="020B0604030504040204" pitchFamily="34" charset="-128"/>
              </a:rPr>
              <a:t>Rényi</a:t>
            </a:r>
            <a:r>
              <a:rPr lang="en-US" sz="1600" b="0" i="0" dirty="0">
                <a:solidFill>
                  <a:srgbClr val="222222"/>
                </a:solidFill>
                <a:effectLst/>
                <a:latin typeface="Meiryo" panose="020B0604030504040204" pitchFamily="34" charset="-128"/>
                <a:ea typeface="Meiryo" panose="020B0604030504040204" pitchFamily="34" charset="-128"/>
              </a:rPr>
              <a:t> divergence." </a:t>
            </a:r>
            <a:r>
              <a:rPr lang="en-US" sz="1600" b="0" i="1" dirty="0">
                <a:solidFill>
                  <a:srgbClr val="222222"/>
                </a:solidFill>
                <a:effectLst/>
                <a:latin typeface="Meiryo" panose="020B0604030504040204" pitchFamily="34" charset="-128"/>
                <a:ea typeface="Meiryo" panose="020B0604030504040204" pitchFamily="34" charset="-128"/>
              </a:rPr>
              <a:t>Applied Soft   </a:t>
            </a:r>
            <a:br>
              <a:rPr lang="en-US" sz="1600" b="0" i="1" dirty="0">
                <a:solidFill>
                  <a:srgbClr val="222222"/>
                </a:solidFill>
                <a:effectLst/>
                <a:latin typeface="Meiryo" panose="020B0604030504040204" pitchFamily="34" charset="-128"/>
                <a:ea typeface="Meiryo" panose="020B0604030504040204" pitchFamily="34" charset="-128"/>
              </a:rPr>
            </a:br>
            <a:r>
              <a:rPr lang="en-US" sz="1600" b="0" i="1" dirty="0">
                <a:solidFill>
                  <a:srgbClr val="222222"/>
                </a:solidFill>
                <a:effectLst/>
                <a:latin typeface="Meiryo" panose="020B0604030504040204" pitchFamily="34" charset="-128"/>
                <a:ea typeface="Meiryo" panose="020B0604030504040204" pitchFamily="34" charset="-128"/>
              </a:rPr>
              <a:t>       Computing</a:t>
            </a:r>
            <a:r>
              <a:rPr lang="en-US" sz="1600" b="0" i="0" dirty="0">
                <a:solidFill>
                  <a:srgbClr val="222222"/>
                </a:solidFill>
                <a:effectLst/>
                <a:latin typeface="Meiryo" panose="020B0604030504040204" pitchFamily="34" charset="-128"/>
                <a:ea typeface="Meiryo" panose="020B0604030504040204" pitchFamily="34" charset="-128"/>
              </a:rPr>
              <a:t> 71 (2018): 36-50.</a:t>
            </a:r>
          </a:p>
          <a:p>
            <a:pPr marL="0" indent="0">
              <a:buNone/>
            </a:pPr>
            <a:r>
              <a:rPr lang="en-US" sz="1600" dirty="0">
                <a:solidFill>
                  <a:srgbClr val="222222"/>
                </a:solidFill>
                <a:latin typeface="Meiryo" panose="020B0604030504040204" pitchFamily="34" charset="-128"/>
                <a:ea typeface="Meiryo" panose="020B0604030504040204" pitchFamily="34" charset="-128"/>
              </a:rPr>
              <a:t>[8]   </a:t>
            </a:r>
            <a:r>
              <a:rPr lang="en-US" sz="1600" b="0" i="0" dirty="0">
                <a:solidFill>
                  <a:srgbClr val="222222"/>
                </a:solidFill>
                <a:effectLst/>
                <a:latin typeface="Meiryo" panose="020B0604030504040204" pitchFamily="34" charset="-128"/>
                <a:ea typeface="Meiryo" panose="020B0604030504040204" pitchFamily="34" charset="-128"/>
              </a:rPr>
              <a:t>Ni, Qing, J. C. Ji, and </a:t>
            </a:r>
            <a:r>
              <a:rPr lang="en-US" sz="1600" b="0" i="0" dirty="0" err="1">
                <a:solidFill>
                  <a:srgbClr val="222222"/>
                </a:solidFill>
                <a:effectLst/>
                <a:latin typeface="Meiryo" panose="020B0604030504040204" pitchFamily="34" charset="-128"/>
                <a:ea typeface="Meiryo" panose="020B0604030504040204" pitchFamily="34" charset="-128"/>
              </a:rPr>
              <a:t>Ke</a:t>
            </a:r>
            <a:r>
              <a:rPr lang="en-US" sz="1600" b="0" i="0" dirty="0">
                <a:solidFill>
                  <a:srgbClr val="222222"/>
                </a:solidFill>
                <a:effectLst/>
                <a:latin typeface="Meiryo" panose="020B0604030504040204" pitchFamily="34" charset="-128"/>
                <a:ea typeface="Meiryo" panose="020B0604030504040204" pitchFamily="34" charset="-128"/>
              </a:rPr>
              <a:t> Feng. "Data-driven prognostic scheme for bearings based on a novel health </a:t>
            </a:r>
            <a:br>
              <a:rPr lang="en-US" sz="1600" b="0" i="0" dirty="0">
                <a:solidFill>
                  <a:srgbClr val="222222"/>
                </a:solidFill>
                <a:effectLst/>
                <a:latin typeface="Meiryo" panose="020B0604030504040204" pitchFamily="34" charset="-128"/>
                <a:ea typeface="Meiryo" panose="020B0604030504040204" pitchFamily="34" charset="-128"/>
              </a:rPr>
            </a:br>
            <a:r>
              <a:rPr lang="en-US" sz="1600" b="0" i="0" dirty="0">
                <a:solidFill>
                  <a:srgbClr val="222222"/>
                </a:solidFill>
                <a:effectLst/>
                <a:latin typeface="Meiryo" panose="020B0604030504040204" pitchFamily="34" charset="-128"/>
                <a:ea typeface="Meiryo" panose="020B0604030504040204" pitchFamily="34" charset="-128"/>
              </a:rPr>
              <a:t>       indicator and gated recurrent unit network." </a:t>
            </a:r>
            <a:r>
              <a:rPr lang="en-US" sz="1600" b="0" i="1" dirty="0">
                <a:solidFill>
                  <a:srgbClr val="222222"/>
                </a:solidFill>
                <a:effectLst/>
                <a:latin typeface="Meiryo" panose="020B0604030504040204" pitchFamily="34" charset="-128"/>
                <a:ea typeface="Meiryo" panose="020B0604030504040204" pitchFamily="34" charset="-128"/>
              </a:rPr>
              <a:t>IEEE Transactions on Industrial Informatics</a:t>
            </a:r>
            <a:r>
              <a:rPr lang="en-US" sz="1600" b="0" i="0" dirty="0">
                <a:solidFill>
                  <a:srgbClr val="222222"/>
                </a:solidFill>
                <a:effectLst/>
                <a:latin typeface="Meiryo" panose="020B0604030504040204" pitchFamily="34" charset="-128"/>
                <a:ea typeface="Meiryo" panose="020B0604030504040204" pitchFamily="34" charset="-128"/>
              </a:rPr>
              <a:t> 19.2 (2022): </a:t>
            </a:r>
            <a:br>
              <a:rPr lang="en-US" sz="1600" b="0" i="0" dirty="0">
                <a:solidFill>
                  <a:srgbClr val="222222"/>
                </a:solidFill>
                <a:effectLst/>
                <a:latin typeface="Meiryo" panose="020B0604030504040204" pitchFamily="34" charset="-128"/>
                <a:ea typeface="Meiryo" panose="020B0604030504040204" pitchFamily="34" charset="-128"/>
              </a:rPr>
            </a:br>
            <a:r>
              <a:rPr lang="en-US" sz="1600" b="0" i="0" dirty="0">
                <a:solidFill>
                  <a:srgbClr val="222222"/>
                </a:solidFill>
                <a:effectLst/>
                <a:latin typeface="Meiryo" panose="020B0604030504040204" pitchFamily="34" charset="-128"/>
                <a:ea typeface="Meiryo" panose="020B0604030504040204" pitchFamily="34" charset="-128"/>
              </a:rPr>
              <a:t>       1301-1311.</a:t>
            </a:r>
            <a:endParaRPr lang="en-JP" sz="1600" b="0" i="0" dirty="0">
              <a:solidFill>
                <a:srgbClr val="222222"/>
              </a:solidFill>
              <a:effectLst/>
              <a:latin typeface="Meiryo" panose="020B0604030504040204" pitchFamily="34" charset="-128"/>
              <a:ea typeface="Meiryo" panose="020B0604030504040204" pitchFamily="34" charset="-128"/>
            </a:endParaRPr>
          </a:p>
          <a:p>
            <a:pPr marL="0" indent="0">
              <a:buNone/>
            </a:pPr>
            <a:endParaRPr lang="en-US" altLang="ja-JP" sz="1600" b="0" i="0" dirty="0">
              <a:solidFill>
                <a:srgbClr val="222222"/>
              </a:solidFill>
              <a:effectLst/>
              <a:latin typeface="Meiryo" panose="020B0604030504040204" pitchFamily="34" charset="-128"/>
              <a:ea typeface="Meiryo" panose="020B0604030504040204" pitchFamily="34" charset="-128"/>
            </a:endParaRPr>
          </a:p>
        </p:txBody>
      </p:sp>
      <p:cxnSp>
        <p:nvCxnSpPr>
          <p:cNvPr id="7" name="Straight Connector 6">
            <a:extLst>
              <a:ext uri="{FF2B5EF4-FFF2-40B4-BE49-F238E27FC236}">
                <a16:creationId xmlns:a16="http://schemas.microsoft.com/office/drawing/2014/main" id="{BB3800FB-FE81-61B1-706C-CDEC701D78C2}"/>
              </a:ext>
            </a:extLst>
          </p:cNvPr>
          <p:cNvCxnSpPr>
            <a:cxnSpLocks/>
          </p:cNvCxnSpPr>
          <p:nvPr/>
        </p:nvCxnSpPr>
        <p:spPr>
          <a:xfrm>
            <a:off x="646043" y="874643"/>
            <a:ext cx="10694505"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9" name="Footer Placeholder 8">
            <a:extLst>
              <a:ext uri="{FF2B5EF4-FFF2-40B4-BE49-F238E27FC236}">
                <a16:creationId xmlns:a16="http://schemas.microsoft.com/office/drawing/2014/main" id="{FA856BA7-3297-D2D7-9155-9B9D540A1AB3}"/>
              </a:ext>
            </a:extLst>
          </p:cNvPr>
          <p:cNvSpPr>
            <a:spLocks noGrp="1"/>
          </p:cNvSpPr>
          <p:nvPr>
            <p:ph type="ftr" sz="quarter" idx="11"/>
          </p:nvPr>
        </p:nvSpPr>
        <p:spPr/>
        <p:txBody>
          <a:bodyPr/>
          <a:lstStyle/>
          <a:p>
            <a:r>
              <a:rPr lang="fi-FI"/>
              <a:t>Shuhei Tsuriya @ Sakurai Lab.</a:t>
            </a:r>
            <a:endParaRPr lang="en-US" dirty="0"/>
          </a:p>
        </p:txBody>
      </p:sp>
      <p:sp>
        <p:nvSpPr>
          <p:cNvPr id="6" name="Slide Number Placeholder 5">
            <a:extLst>
              <a:ext uri="{FF2B5EF4-FFF2-40B4-BE49-F238E27FC236}">
                <a16:creationId xmlns:a16="http://schemas.microsoft.com/office/drawing/2014/main" id="{CC31D25C-9655-0FD8-97ED-7177AE68190D}"/>
              </a:ext>
            </a:extLst>
          </p:cNvPr>
          <p:cNvSpPr>
            <a:spLocks noGrp="1"/>
          </p:cNvSpPr>
          <p:nvPr>
            <p:ph type="sldNum" sz="quarter" idx="12"/>
          </p:nvPr>
        </p:nvSpPr>
        <p:spPr/>
        <p:txBody>
          <a:bodyPr/>
          <a:lstStyle/>
          <a:p>
            <a:fld id="{6675BFCB-789E-5945-84C6-0973649846BB}" type="slidenum">
              <a:rPr lang="en-US" smtClean="0"/>
              <a:pPr/>
              <a:t>31</a:t>
            </a:fld>
            <a:endParaRPr lang="en-US" dirty="0"/>
          </a:p>
        </p:txBody>
      </p:sp>
      <p:sp>
        <p:nvSpPr>
          <p:cNvPr id="11" name="Date Placeholder 10">
            <a:extLst>
              <a:ext uri="{FF2B5EF4-FFF2-40B4-BE49-F238E27FC236}">
                <a16:creationId xmlns:a16="http://schemas.microsoft.com/office/drawing/2014/main" id="{1E466E00-3840-2645-0099-5B19DFC60261}"/>
              </a:ext>
            </a:extLst>
          </p:cNvPr>
          <p:cNvSpPr>
            <a:spLocks noGrp="1"/>
          </p:cNvSpPr>
          <p:nvPr>
            <p:ph type="dt" sz="half" idx="10"/>
          </p:nvPr>
        </p:nvSpPr>
        <p:spPr/>
        <p:txBody>
          <a:bodyPr/>
          <a:lstStyle/>
          <a:p>
            <a:r>
              <a:rPr lang="en-US" altLang="ja-JP" dirty="0"/>
              <a:t>2025/2/27</a:t>
            </a:r>
            <a:endParaRPr lang="en-US" dirty="0"/>
          </a:p>
        </p:txBody>
      </p:sp>
    </p:spTree>
    <p:extLst>
      <p:ext uri="{BB962C8B-B14F-4D97-AF65-F5344CB8AC3E}">
        <p14:creationId xmlns:p14="http://schemas.microsoft.com/office/powerpoint/2010/main" val="97356348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35B763-2FBF-D1DF-92AE-91083BA59790}"/>
            </a:ext>
          </a:extLst>
        </p:cNvPr>
        <p:cNvGrpSpPr/>
        <p:nvPr/>
      </p:nvGrpSpPr>
      <p:grpSpPr>
        <a:xfrm>
          <a:off x="0" y="0"/>
          <a:ext cx="0" cy="0"/>
          <a:chOff x="0" y="0"/>
          <a:chExt cx="0" cy="0"/>
        </a:xfrm>
      </p:grpSpPr>
      <p:pic>
        <p:nvPicPr>
          <p:cNvPr id="4" name="図 3" descr="グラフ, 棒グラフ&#10;&#10;AI によって生成されたコンテンツは間違っている可能性があります。">
            <a:extLst>
              <a:ext uri="{FF2B5EF4-FFF2-40B4-BE49-F238E27FC236}">
                <a16:creationId xmlns:a16="http://schemas.microsoft.com/office/drawing/2014/main" id="{71F05AE0-DF29-0BDE-0B81-5B5AAB2C989F}"/>
              </a:ext>
            </a:extLst>
          </p:cNvPr>
          <p:cNvPicPr>
            <a:picLocks noChangeAspect="1"/>
          </p:cNvPicPr>
          <p:nvPr/>
        </p:nvPicPr>
        <p:blipFill>
          <a:blip r:embed="rId3"/>
          <a:stretch>
            <a:fillRect/>
          </a:stretch>
        </p:blipFill>
        <p:spPr>
          <a:xfrm>
            <a:off x="2057400" y="964764"/>
            <a:ext cx="7491714" cy="3745857"/>
          </a:xfrm>
          <a:prstGeom prst="rect">
            <a:avLst/>
          </a:prstGeom>
        </p:spPr>
      </p:pic>
      <p:sp>
        <p:nvSpPr>
          <p:cNvPr id="2" name="タイトル 1">
            <a:extLst>
              <a:ext uri="{FF2B5EF4-FFF2-40B4-BE49-F238E27FC236}">
                <a16:creationId xmlns:a16="http://schemas.microsoft.com/office/drawing/2014/main" id="{5CC2B1BB-E3DD-A8D1-4139-EAF829BC5AB8}"/>
              </a:ext>
            </a:extLst>
          </p:cNvPr>
          <p:cNvSpPr>
            <a:spLocks noGrp="1"/>
          </p:cNvSpPr>
          <p:nvPr>
            <p:ph type="title"/>
          </p:nvPr>
        </p:nvSpPr>
        <p:spPr>
          <a:xfrm>
            <a:off x="548268" y="284244"/>
            <a:ext cx="10515600" cy="727695"/>
          </a:xfrm>
        </p:spPr>
        <p:txBody>
          <a:bodyPr>
            <a:normAutofit/>
          </a:bodyPr>
          <a:lstStyle/>
          <a:p>
            <a:pPr algn="l"/>
            <a:r>
              <a:rPr kumimoji="1" lang="ja-JP" altLang="en-US" sz="3200">
                <a:latin typeface="Meiryo" panose="020B0604030504040204" pitchFamily="34" charset="-128"/>
                <a:ea typeface="Meiryo" panose="020B0604030504040204" pitchFamily="34" charset="-128"/>
              </a:rPr>
              <a:t>実験結果</a:t>
            </a:r>
            <a:endParaRPr kumimoji="1" lang="ja-JP" altLang="en-US" sz="3200" b="0">
              <a:solidFill>
                <a:schemeClr val="tx1"/>
              </a:solidFill>
              <a:latin typeface="Meiryo" panose="020B0604030504040204" pitchFamily="34" charset="-128"/>
              <a:ea typeface="Meiryo" panose="020B0604030504040204" pitchFamily="34" charset="-128"/>
            </a:endParaRPr>
          </a:p>
        </p:txBody>
      </p:sp>
      <p:cxnSp>
        <p:nvCxnSpPr>
          <p:cNvPr id="7" name="Straight Connector 6">
            <a:extLst>
              <a:ext uri="{FF2B5EF4-FFF2-40B4-BE49-F238E27FC236}">
                <a16:creationId xmlns:a16="http://schemas.microsoft.com/office/drawing/2014/main" id="{48ECE459-3238-F278-6577-8993897F0BD3}"/>
              </a:ext>
            </a:extLst>
          </p:cNvPr>
          <p:cNvCxnSpPr>
            <a:cxnSpLocks/>
          </p:cNvCxnSpPr>
          <p:nvPr/>
        </p:nvCxnSpPr>
        <p:spPr>
          <a:xfrm>
            <a:off x="646043" y="874643"/>
            <a:ext cx="10694505"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15D1DF73-EC72-A6EA-E7F9-6412CB7E7661}"/>
              </a:ext>
            </a:extLst>
          </p:cNvPr>
          <p:cNvSpPr>
            <a:spLocks noGrp="1"/>
          </p:cNvSpPr>
          <p:nvPr>
            <p:ph type="sldNum" sz="quarter" idx="12"/>
          </p:nvPr>
        </p:nvSpPr>
        <p:spPr/>
        <p:txBody>
          <a:bodyPr/>
          <a:lstStyle/>
          <a:p>
            <a:fld id="{6675BFCB-789E-5945-84C6-0973649846BB}" type="slidenum">
              <a:rPr lang="en-US" smtClean="0"/>
              <a:pPr/>
              <a:t>32</a:t>
            </a:fld>
            <a:endParaRPr lang="en-US" dirty="0"/>
          </a:p>
        </p:txBody>
      </p:sp>
      <p:sp>
        <p:nvSpPr>
          <p:cNvPr id="14" name="テキスト ボックス 13">
            <a:extLst>
              <a:ext uri="{FF2B5EF4-FFF2-40B4-BE49-F238E27FC236}">
                <a16:creationId xmlns:a16="http://schemas.microsoft.com/office/drawing/2014/main" id="{AF2B04F4-E09C-D36A-EF58-B06FEB3BBC9E}"/>
              </a:ext>
            </a:extLst>
          </p:cNvPr>
          <p:cNvSpPr txBox="1"/>
          <p:nvPr/>
        </p:nvSpPr>
        <p:spPr>
          <a:xfrm>
            <a:off x="1752600" y="4876800"/>
            <a:ext cx="9587948" cy="1477328"/>
          </a:xfrm>
          <a:prstGeom prst="rect">
            <a:avLst/>
          </a:prstGeom>
          <a:noFill/>
        </p:spPr>
        <p:txBody>
          <a:bodyPr wrap="square" rtlCol="0">
            <a:spAutoFit/>
          </a:bodyPr>
          <a:lstStyle/>
          <a:p>
            <a:pPr marL="285750" indent="-285750">
              <a:buFont typeface="Arial" panose="020B0604020202020204" pitchFamily="34" charset="0"/>
              <a:buChar char="•"/>
            </a:pPr>
            <a:r>
              <a:rPr kumimoji="1" lang="ja-JP" altLang="en-US"/>
              <a:t>合成データと</a:t>
            </a:r>
            <a:r>
              <a:rPr kumimoji="1" lang="en-US" altLang="ja-JP" dirty="0"/>
              <a:t>USC-HAD</a:t>
            </a:r>
            <a:r>
              <a:rPr kumimoji="1" lang="ja-JP" altLang="en-US"/>
              <a:t>において最も良い精度を達成</a:t>
            </a:r>
            <a:endParaRPr kumimoji="1" lang="en-US" altLang="ja-JP" dirty="0"/>
          </a:p>
          <a:p>
            <a:pPr marL="285750" indent="-285750">
              <a:buFont typeface="Arial" panose="020B0604020202020204" pitchFamily="34" charset="0"/>
              <a:buChar char="•"/>
            </a:pPr>
            <a:r>
              <a:rPr kumimoji="1" lang="ja-JP" altLang="en-US"/>
              <a:t>合成データはガウシアンノイズを加えているため</a:t>
            </a:r>
            <a:r>
              <a:rPr kumimoji="1" lang="en-US" altLang="ja-JP" dirty="0"/>
              <a:t>, </a:t>
            </a:r>
            <a:br>
              <a:rPr kumimoji="1" lang="en-US" altLang="ja-JP" dirty="0"/>
            </a:br>
            <a:r>
              <a:rPr kumimoji="1" lang="ja-JP" altLang="en-US"/>
              <a:t>提案手法ではノイズ除去モジュールによって精度が向上した</a:t>
            </a:r>
            <a:endParaRPr kumimoji="1" lang="en-US" altLang="ja-JP" dirty="0"/>
          </a:p>
          <a:p>
            <a:pPr marL="285750" indent="-285750">
              <a:buFont typeface="Arial" panose="020B0604020202020204" pitchFamily="34" charset="0"/>
              <a:buChar char="•"/>
            </a:pPr>
            <a:r>
              <a:rPr kumimoji="1" lang="en-US" altLang="ja-JP" dirty="0"/>
              <a:t>USC-HAD</a:t>
            </a:r>
            <a:r>
              <a:rPr kumimoji="1" lang="ja-JP" altLang="en-US"/>
              <a:t>はデータセットの中で状態数が一番多く</a:t>
            </a:r>
            <a:r>
              <a:rPr kumimoji="1" lang="en-US" altLang="ja-JP" dirty="0"/>
              <a:t>, </a:t>
            </a:r>
            <a:br>
              <a:rPr kumimoji="1" lang="en-US" altLang="ja-JP" dirty="0"/>
            </a:br>
            <a:r>
              <a:rPr kumimoji="1" lang="ja-JP" altLang="en-US"/>
              <a:t>提案手法では識別可能な特徴空間に分離されたため</a:t>
            </a:r>
            <a:r>
              <a:rPr kumimoji="1" lang="en-US" altLang="ja-JP" dirty="0"/>
              <a:t>, </a:t>
            </a:r>
            <a:r>
              <a:rPr kumimoji="1" lang="ja-JP" altLang="en-US"/>
              <a:t>精度が向上した</a:t>
            </a:r>
          </a:p>
        </p:txBody>
      </p:sp>
      <p:sp>
        <p:nvSpPr>
          <p:cNvPr id="15" name="Left Bracket 31">
            <a:extLst>
              <a:ext uri="{FF2B5EF4-FFF2-40B4-BE49-F238E27FC236}">
                <a16:creationId xmlns:a16="http://schemas.microsoft.com/office/drawing/2014/main" id="{512E910B-305A-2894-B56C-310B20445BA7}"/>
              </a:ext>
            </a:extLst>
          </p:cNvPr>
          <p:cNvSpPr/>
          <p:nvPr/>
        </p:nvSpPr>
        <p:spPr>
          <a:xfrm rot="5400000">
            <a:off x="3528271" y="1082131"/>
            <a:ext cx="119865" cy="775607"/>
          </a:xfrm>
          <a:prstGeom prst="leftBracket">
            <a:avLst>
              <a:gd name="adj" fmla="val 0"/>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JP"/>
          </a:p>
        </p:txBody>
      </p:sp>
      <p:sp>
        <p:nvSpPr>
          <p:cNvPr id="16" name="TextBox 28">
            <a:extLst>
              <a:ext uri="{FF2B5EF4-FFF2-40B4-BE49-F238E27FC236}">
                <a16:creationId xmlns:a16="http://schemas.microsoft.com/office/drawing/2014/main" id="{677F41CD-A77E-6B41-8130-D3D226E460B7}"/>
              </a:ext>
            </a:extLst>
          </p:cNvPr>
          <p:cNvSpPr txBox="1"/>
          <p:nvPr/>
        </p:nvSpPr>
        <p:spPr>
          <a:xfrm>
            <a:off x="2971800" y="1033046"/>
            <a:ext cx="1005403" cy="338554"/>
          </a:xfrm>
          <a:prstGeom prst="rect">
            <a:avLst/>
          </a:prstGeom>
          <a:noFill/>
        </p:spPr>
        <p:txBody>
          <a:bodyPr wrap="none" rtlCol="0">
            <a:spAutoFit/>
          </a:bodyPr>
          <a:lstStyle/>
          <a:p>
            <a:r>
              <a:rPr lang="en-JP" sz="1600" dirty="0">
                <a:latin typeface="Meiryo" panose="020B0604030504040204" pitchFamily="34" charset="-128"/>
                <a:ea typeface="Meiryo" panose="020B0604030504040204" pitchFamily="34" charset="-128"/>
              </a:rPr>
              <a:t>比較手法</a:t>
            </a:r>
            <a:endParaRPr lang="en-JP" dirty="0">
              <a:latin typeface="Meiryo" panose="020B0604030504040204" pitchFamily="34" charset="-128"/>
              <a:ea typeface="Meiryo" panose="020B0604030504040204" pitchFamily="34" charset="-128"/>
            </a:endParaRPr>
          </a:p>
        </p:txBody>
      </p:sp>
      <p:sp>
        <p:nvSpPr>
          <p:cNvPr id="17" name="Left Bracket 33">
            <a:extLst>
              <a:ext uri="{FF2B5EF4-FFF2-40B4-BE49-F238E27FC236}">
                <a16:creationId xmlns:a16="http://schemas.microsoft.com/office/drawing/2014/main" id="{74EDAF5E-9253-A479-C45A-1D72099C96E0}"/>
              </a:ext>
            </a:extLst>
          </p:cNvPr>
          <p:cNvSpPr/>
          <p:nvPr/>
        </p:nvSpPr>
        <p:spPr>
          <a:xfrm rot="5400000">
            <a:off x="4042470" y="1367730"/>
            <a:ext cx="158266" cy="166007"/>
          </a:xfrm>
          <a:prstGeom prst="leftBracket">
            <a:avLst>
              <a:gd name="adj" fmla="val 0"/>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JP"/>
          </a:p>
        </p:txBody>
      </p:sp>
      <p:sp>
        <p:nvSpPr>
          <p:cNvPr id="18" name="TextBox 34">
            <a:extLst>
              <a:ext uri="{FF2B5EF4-FFF2-40B4-BE49-F238E27FC236}">
                <a16:creationId xmlns:a16="http://schemas.microsoft.com/office/drawing/2014/main" id="{E74278F3-462A-A181-B56C-F8FDDC7EC811}"/>
              </a:ext>
            </a:extLst>
          </p:cNvPr>
          <p:cNvSpPr txBox="1"/>
          <p:nvPr/>
        </p:nvSpPr>
        <p:spPr>
          <a:xfrm>
            <a:off x="3949810" y="1033046"/>
            <a:ext cx="1005403" cy="338554"/>
          </a:xfrm>
          <a:prstGeom prst="rect">
            <a:avLst/>
          </a:prstGeom>
          <a:noFill/>
        </p:spPr>
        <p:txBody>
          <a:bodyPr wrap="none" rtlCol="0">
            <a:spAutoFit/>
          </a:bodyPr>
          <a:lstStyle/>
          <a:p>
            <a:r>
              <a:rPr lang="en-JP" sz="1600" dirty="0">
                <a:solidFill>
                  <a:srgbClr val="FF0000"/>
                </a:solidFill>
                <a:latin typeface="Meiryo" panose="020B0604030504040204" pitchFamily="34" charset="-128"/>
                <a:ea typeface="Meiryo" panose="020B0604030504040204" pitchFamily="34" charset="-128"/>
              </a:rPr>
              <a:t>提案手法</a:t>
            </a:r>
          </a:p>
        </p:txBody>
      </p:sp>
    </p:spTree>
    <p:extLst>
      <p:ext uri="{BB962C8B-B14F-4D97-AF65-F5344CB8AC3E}">
        <p14:creationId xmlns:p14="http://schemas.microsoft.com/office/powerpoint/2010/main" val="47242575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86BDAF-30B9-1FB4-6472-35DA4C9DED8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43736BB-36E0-BDE3-6302-EBCF0194E53C}"/>
              </a:ext>
            </a:extLst>
          </p:cNvPr>
          <p:cNvSpPr>
            <a:spLocks noGrp="1"/>
          </p:cNvSpPr>
          <p:nvPr>
            <p:ph type="title"/>
          </p:nvPr>
        </p:nvSpPr>
        <p:spPr>
          <a:xfrm>
            <a:off x="548268" y="284244"/>
            <a:ext cx="10515600" cy="727695"/>
          </a:xfrm>
        </p:spPr>
        <p:txBody>
          <a:bodyPr>
            <a:normAutofit/>
          </a:bodyPr>
          <a:lstStyle/>
          <a:p>
            <a:pPr algn="l"/>
            <a:r>
              <a:rPr kumimoji="1" lang="ja-JP" altLang="en-US" sz="3200" b="0">
                <a:solidFill>
                  <a:schemeClr val="tx1"/>
                </a:solidFill>
                <a:latin typeface="Meiryo" panose="020B0604030504040204" pitchFamily="34" charset="-128"/>
                <a:ea typeface="Meiryo" panose="020B0604030504040204" pitchFamily="34" charset="-128"/>
              </a:rPr>
              <a:t>データセットの詳細</a:t>
            </a:r>
          </a:p>
        </p:txBody>
      </p:sp>
      <p:cxnSp>
        <p:nvCxnSpPr>
          <p:cNvPr id="7" name="Straight Connector 6">
            <a:extLst>
              <a:ext uri="{FF2B5EF4-FFF2-40B4-BE49-F238E27FC236}">
                <a16:creationId xmlns:a16="http://schemas.microsoft.com/office/drawing/2014/main" id="{6B63D78C-722F-2D4A-A486-1DFA474D8E40}"/>
              </a:ext>
            </a:extLst>
          </p:cNvPr>
          <p:cNvCxnSpPr>
            <a:cxnSpLocks/>
          </p:cNvCxnSpPr>
          <p:nvPr/>
        </p:nvCxnSpPr>
        <p:spPr>
          <a:xfrm>
            <a:off x="646043" y="874643"/>
            <a:ext cx="10694505"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D4A0A165-3342-8656-7D03-89A16D70D179}"/>
              </a:ext>
            </a:extLst>
          </p:cNvPr>
          <p:cNvSpPr>
            <a:spLocks noGrp="1"/>
          </p:cNvSpPr>
          <p:nvPr>
            <p:ph type="sldNum" sz="quarter" idx="12"/>
          </p:nvPr>
        </p:nvSpPr>
        <p:spPr/>
        <p:txBody>
          <a:bodyPr/>
          <a:lstStyle/>
          <a:p>
            <a:fld id="{6675BFCB-789E-5945-84C6-0973649846BB}" type="slidenum">
              <a:rPr lang="en-US" smtClean="0"/>
              <a:pPr/>
              <a:t>33</a:t>
            </a:fld>
            <a:endParaRPr lang="en-US" dirty="0"/>
          </a:p>
        </p:txBody>
      </p:sp>
      <p:pic>
        <p:nvPicPr>
          <p:cNvPr id="3" name="図 2">
            <a:extLst>
              <a:ext uri="{FF2B5EF4-FFF2-40B4-BE49-F238E27FC236}">
                <a16:creationId xmlns:a16="http://schemas.microsoft.com/office/drawing/2014/main" id="{34717D40-323A-A6AD-9804-421064B7B004}"/>
              </a:ext>
            </a:extLst>
          </p:cNvPr>
          <p:cNvPicPr>
            <a:picLocks noChangeAspect="1"/>
          </p:cNvPicPr>
          <p:nvPr/>
        </p:nvPicPr>
        <p:blipFill>
          <a:blip r:embed="rId3"/>
          <a:stretch>
            <a:fillRect/>
          </a:stretch>
        </p:blipFill>
        <p:spPr>
          <a:xfrm>
            <a:off x="1919868" y="1026388"/>
            <a:ext cx="7772400" cy="2794666"/>
          </a:xfrm>
          <a:prstGeom prst="rect">
            <a:avLst/>
          </a:prstGeom>
        </p:spPr>
      </p:pic>
      <p:pic>
        <p:nvPicPr>
          <p:cNvPr id="5" name="図 4">
            <a:extLst>
              <a:ext uri="{FF2B5EF4-FFF2-40B4-BE49-F238E27FC236}">
                <a16:creationId xmlns:a16="http://schemas.microsoft.com/office/drawing/2014/main" id="{5B31FAD0-1590-27DE-7708-5A23161C3026}"/>
              </a:ext>
            </a:extLst>
          </p:cNvPr>
          <p:cNvPicPr>
            <a:picLocks noChangeAspect="1"/>
          </p:cNvPicPr>
          <p:nvPr/>
        </p:nvPicPr>
        <p:blipFill>
          <a:blip r:embed="rId4"/>
          <a:stretch>
            <a:fillRect/>
          </a:stretch>
        </p:blipFill>
        <p:spPr>
          <a:xfrm>
            <a:off x="1919868" y="3763472"/>
            <a:ext cx="7772400" cy="2786985"/>
          </a:xfrm>
          <a:prstGeom prst="rect">
            <a:avLst/>
          </a:prstGeom>
        </p:spPr>
      </p:pic>
      <p:sp>
        <p:nvSpPr>
          <p:cNvPr id="8" name="正方形/長方形 7">
            <a:extLst>
              <a:ext uri="{FF2B5EF4-FFF2-40B4-BE49-F238E27FC236}">
                <a16:creationId xmlns:a16="http://schemas.microsoft.com/office/drawing/2014/main" id="{69973A11-8955-10D1-FB03-5833CDAE4A0F}"/>
              </a:ext>
            </a:extLst>
          </p:cNvPr>
          <p:cNvSpPr/>
          <p:nvPr/>
        </p:nvSpPr>
        <p:spPr>
          <a:xfrm>
            <a:off x="4114800" y="1091651"/>
            <a:ext cx="228600" cy="203749"/>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9" name="正方形/長方形 8">
            <a:extLst>
              <a:ext uri="{FF2B5EF4-FFF2-40B4-BE49-F238E27FC236}">
                <a16:creationId xmlns:a16="http://schemas.microsoft.com/office/drawing/2014/main" id="{C486423D-DA30-0C08-5A0B-D4B12D947AEF}"/>
              </a:ext>
            </a:extLst>
          </p:cNvPr>
          <p:cNvSpPr/>
          <p:nvPr/>
        </p:nvSpPr>
        <p:spPr>
          <a:xfrm>
            <a:off x="2895600" y="1828800"/>
            <a:ext cx="152400" cy="203749"/>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10" name="正方形/長方形 9">
            <a:extLst>
              <a:ext uri="{FF2B5EF4-FFF2-40B4-BE49-F238E27FC236}">
                <a16:creationId xmlns:a16="http://schemas.microsoft.com/office/drawing/2014/main" id="{06906BB5-CBA0-2F3F-71E9-9D3DF478419D}"/>
              </a:ext>
            </a:extLst>
          </p:cNvPr>
          <p:cNvSpPr/>
          <p:nvPr/>
        </p:nvSpPr>
        <p:spPr>
          <a:xfrm>
            <a:off x="3200400" y="2514599"/>
            <a:ext cx="188925" cy="228263"/>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11" name="正方形/長方形 10">
            <a:extLst>
              <a:ext uri="{FF2B5EF4-FFF2-40B4-BE49-F238E27FC236}">
                <a16:creationId xmlns:a16="http://schemas.microsoft.com/office/drawing/2014/main" id="{9B0E0C3B-93E0-D761-1953-B10DC63F5611}"/>
              </a:ext>
            </a:extLst>
          </p:cNvPr>
          <p:cNvSpPr/>
          <p:nvPr/>
        </p:nvSpPr>
        <p:spPr>
          <a:xfrm>
            <a:off x="3040380" y="3768747"/>
            <a:ext cx="167640" cy="203749"/>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12" name="正方形/長方形 11">
            <a:extLst>
              <a:ext uri="{FF2B5EF4-FFF2-40B4-BE49-F238E27FC236}">
                <a16:creationId xmlns:a16="http://schemas.microsoft.com/office/drawing/2014/main" id="{EC623540-EE2B-90ED-C62D-38C97C0A96E3}"/>
              </a:ext>
            </a:extLst>
          </p:cNvPr>
          <p:cNvSpPr/>
          <p:nvPr/>
        </p:nvSpPr>
        <p:spPr>
          <a:xfrm>
            <a:off x="3100578" y="4825451"/>
            <a:ext cx="184404" cy="203749"/>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188AAA6B-1547-887C-02EC-FA7FF3FBCF92}"/>
              </a:ext>
            </a:extLst>
          </p:cNvPr>
          <p:cNvSpPr/>
          <p:nvPr/>
        </p:nvSpPr>
        <p:spPr>
          <a:xfrm>
            <a:off x="3100578" y="5816051"/>
            <a:ext cx="184404" cy="203749"/>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Tree>
    <p:extLst>
      <p:ext uri="{BB962C8B-B14F-4D97-AF65-F5344CB8AC3E}">
        <p14:creationId xmlns:p14="http://schemas.microsoft.com/office/powerpoint/2010/main" val="31410300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B120C3-4D4A-C086-7B67-A62BEC04C43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68CD8F8-6CF7-46CF-E2E5-641F55A27395}"/>
              </a:ext>
            </a:extLst>
          </p:cNvPr>
          <p:cNvSpPr>
            <a:spLocks noGrp="1"/>
          </p:cNvSpPr>
          <p:nvPr>
            <p:ph type="title"/>
          </p:nvPr>
        </p:nvSpPr>
        <p:spPr>
          <a:xfrm>
            <a:off x="548268" y="284244"/>
            <a:ext cx="10515600" cy="727695"/>
          </a:xfrm>
        </p:spPr>
        <p:txBody>
          <a:bodyPr>
            <a:normAutofit/>
          </a:bodyPr>
          <a:lstStyle/>
          <a:p>
            <a:pPr algn="l"/>
            <a:r>
              <a:rPr kumimoji="1" lang="ja-JP" altLang="en-US" sz="3200">
                <a:latin typeface="Meiryo" panose="020B0604030504040204" pitchFamily="34" charset="-128"/>
                <a:ea typeface="Meiryo" panose="020B0604030504040204" pitchFamily="34" charset="-128"/>
              </a:rPr>
              <a:t>比較手法</a:t>
            </a:r>
            <a:r>
              <a:rPr kumimoji="1" lang="ja-JP" altLang="en-US" sz="3200" b="0">
                <a:solidFill>
                  <a:schemeClr val="tx1"/>
                </a:solidFill>
                <a:latin typeface="Meiryo" panose="020B0604030504040204" pitchFamily="34" charset="-128"/>
                <a:ea typeface="Meiryo" panose="020B0604030504040204" pitchFamily="34" charset="-128"/>
              </a:rPr>
              <a:t>の詳細</a:t>
            </a:r>
          </a:p>
        </p:txBody>
      </p:sp>
      <p:cxnSp>
        <p:nvCxnSpPr>
          <p:cNvPr id="7" name="Straight Connector 6">
            <a:extLst>
              <a:ext uri="{FF2B5EF4-FFF2-40B4-BE49-F238E27FC236}">
                <a16:creationId xmlns:a16="http://schemas.microsoft.com/office/drawing/2014/main" id="{86F4E4B9-6EC9-4CFB-53DA-8249893B00D4}"/>
              </a:ext>
            </a:extLst>
          </p:cNvPr>
          <p:cNvCxnSpPr>
            <a:cxnSpLocks/>
          </p:cNvCxnSpPr>
          <p:nvPr/>
        </p:nvCxnSpPr>
        <p:spPr>
          <a:xfrm>
            <a:off x="646043" y="874643"/>
            <a:ext cx="10694505"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297B9F29-53F8-89B3-3AB2-BFD37F53D4A0}"/>
              </a:ext>
            </a:extLst>
          </p:cNvPr>
          <p:cNvSpPr>
            <a:spLocks noGrp="1"/>
          </p:cNvSpPr>
          <p:nvPr>
            <p:ph type="sldNum" sz="quarter" idx="12"/>
          </p:nvPr>
        </p:nvSpPr>
        <p:spPr/>
        <p:txBody>
          <a:bodyPr/>
          <a:lstStyle/>
          <a:p>
            <a:fld id="{6675BFCB-789E-5945-84C6-0973649846BB}" type="slidenum">
              <a:rPr lang="en-US" smtClean="0"/>
              <a:pPr/>
              <a:t>34</a:t>
            </a:fld>
            <a:endParaRPr lang="en-US" dirty="0"/>
          </a:p>
        </p:txBody>
      </p:sp>
      <p:pic>
        <p:nvPicPr>
          <p:cNvPr id="8" name="図 7">
            <a:extLst>
              <a:ext uri="{FF2B5EF4-FFF2-40B4-BE49-F238E27FC236}">
                <a16:creationId xmlns:a16="http://schemas.microsoft.com/office/drawing/2014/main" id="{28E20A6F-565E-92B3-BCE4-424CAFA5D8A6}"/>
              </a:ext>
            </a:extLst>
          </p:cNvPr>
          <p:cNvPicPr>
            <a:picLocks noChangeAspect="1"/>
          </p:cNvPicPr>
          <p:nvPr/>
        </p:nvPicPr>
        <p:blipFill>
          <a:blip r:embed="rId3"/>
          <a:stretch>
            <a:fillRect/>
          </a:stretch>
        </p:blipFill>
        <p:spPr>
          <a:xfrm>
            <a:off x="1447800" y="1033710"/>
            <a:ext cx="7772400" cy="3295290"/>
          </a:xfrm>
          <a:prstGeom prst="rect">
            <a:avLst/>
          </a:prstGeom>
        </p:spPr>
      </p:pic>
      <p:pic>
        <p:nvPicPr>
          <p:cNvPr id="9" name="図 8">
            <a:extLst>
              <a:ext uri="{FF2B5EF4-FFF2-40B4-BE49-F238E27FC236}">
                <a16:creationId xmlns:a16="http://schemas.microsoft.com/office/drawing/2014/main" id="{3A88537F-9654-AC40-122B-961D5485D0A9}"/>
              </a:ext>
            </a:extLst>
          </p:cNvPr>
          <p:cNvPicPr>
            <a:picLocks noChangeAspect="1"/>
          </p:cNvPicPr>
          <p:nvPr/>
        </p:nvPicPr>
        <p:blipFill>
          <a:blip r:embed="rId4"/>
          <a:stretch>
            <a:fillRect/>
          </a:stretch>
        </p:blipFill>
        <p:spPr>
          <a:xfrm>
            <a:off x="1447800" y="4088631"/>
            <a:ext cx="7772400" cy="2616969"/>
          </a:xfrm>
          <a:prstGeom prst="rect">
            <a:avLst/>
          </a:prstGeom>
        </p:spPr>
      </p:pic>
      <p:sp>
        <p:nvSpPr>
          <p:cNvPr id="10" name="正方形/長方形 9">
            <a:extLst>
              <a:ext uri="{FF2B5EF4-FFF2-40B4-BE49-F238E27FC236}">
                <a16:creationId xmlns:a16="http://schemas.microsoft.com/office/drawing/2014/main" id="{60795890-5148-D24D-160B-5726802D15FF}"/>
              </a:ext>
            </a:extLst>
          </p:cNvPr>
          <p:cNvSpPr/>
          <p:nvPr/>
        </p:nvSpPr>
        <p:spPr>
          <a:xfrm>
            <a:off x="2423160" y="5282651"/>
            <a:ext cx="167640" cy="203749"/>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11" name="正方形/長方形 10">
            <a:extLst>
              <a:ext uri="{FF2B5EF4-FFF2-40B4-BE49-F238E27FC236}">
                <a16:creationId xmlns:a16="http://schemas.microsoft.com/office/drawing/2014/main" id="{C424C1E1-AFFE-3B05-0961-A0A82AA22404}"/>
              </a:ext>
            </a:extLst>
          </p:cNvPr>
          <p:cNvSpPr/>
          <p:nvPr/>
        </p:nvSpPr>
        <p:spPr>
          <a:xfrm>
            <a:off x="3352800" y="4215851"/>
            <a:ext cx="167640" cy="203749"/>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12" name="正方形/長方形 11">
            <a:extLst>
              <a:ext uri="{FF2B5EF4-FFF2-40B4-BE49-F238E27FC236}">
                <a16:creationId xmlns:a16="http://schemas.microsoft.com/office/drawing/2014/main" id="{4C3F2107-405F-D4FA-FE1D-A2B7EF4C5E29}"/>
              </a:ext>
            </a:extLst>
          </p:cNvPr>
          <p:cNvSpPr/>
          <p:nvPr/>
        </p:nvSpPr>
        <p:spPr>
          <a:xfrm>
            <a:off x="2743200" y="5968451"/>
            <a:ext cx="167640" cy="203749"/>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AE2DD1C8-04D9-44D6-E623-5C49B6046AF1}"/>
              </a:ext>
            </a:extLst>
          </p:cNvPr>
          <p:cNvSpPr/>
          <p:nvPr/>
        </p:nvSpPr>
        <p:spPr>
          <a:xfrm>
            <a:off x="2819400" y="3505200"/>
            <a:ext cx="167640" cy="203749"/>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3B81A4CC-5550-19DA-534B-E69E89A1AF59}"/>
              </a:ext>
            </a:extLst>
          </p:cNvPr>
          <p:cNvSpPr/>
          <p:nvPr/>
        </p:nvSpPr>
        <p:spPr>
          <a:xfrm>
            <a:off x="2224348" y="2743200"/>
            <a:ext cx="138545" cy="203749"/>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15" name="正方形/長方形 14">
            <a:extLst>
              <a:ext uri="{FF2B5EF4-FFF2-40B4-BE49-F238E27FC236}">
                <a16:creationId xmlns:a16="http://schemas.microsoft.com/office/drawing/2014/main" id="{80B85404-05AA-08D1-2148-B1046C1207F9}"/>
              </a:ext>
            </a:extLst>
          </p:cNvPr>
          <p:cNvSpPr/>
          <p:nvPr/>
        </p:nvSpPr>
        <p:spPr>
          <a:xfrm>
            <a:off x="2362200" y="1752600"/>
            <a:ext cx="167640" cy="203749"/>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16" name="正方形/長方形 15">
            <a:extLst>
              <a:ext uri="{FF2B5EF4-FFF2-40B4-BE49-F238E27FC236}">
                <a16:creationId xmlns:a16="http://schemas.microsoft.com/office/drawing/2014/main" id="{9999BF93-76A5-40C6-4D64-7D749C0ABA2B}"/>
              </a:ext>
            </a:extLst>
          </p:cNvPr>
          <p:cNvSpPr/>
          <p:nvPr/>
        </p:nvSpPr>
        <p:spPr>
          <a:xfrm>
            <a:off x="2590108" y="1091651"/>
            <a:ext cx="138545" cy="203749"/>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Tree>
    <p:extLst>
      <p:ext uri="{BB962C8B-B14F-4D97-AF65-F5344CB8AC3E}">
        <p14:creationId xmlns:p14="http://schemas.microsoft.com/office/powerpoint/2010/main" val="41841291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47469</TotalTime>
  <Words>4080</Words>
  <Application>Microsoft Macintosh PowerPoint</Application>
  <PresentationFormat>ワイド画面</PresentationFormat>
  <Paragraphs>441</Paragraphs>
  <Slides>35</Slides>
  <Notes>33</Notes>
  <HiddenSlides>0</HiddenSlides>
  <MMClips>0</MMClips>
  <ScaleCrop>false</ScaleCrop>
  <HeadingPairs>
    <vt:vector size="6" baseType="variant">
      <vt:variant>
        <vt:lpstr>使用されているフォント</vt:lpstr>
      </vt:variant>
      <vt:variant>
        <vt:i4>9</vt:i4>
      </vt:variant>
      <vt:variant>
        <vt:lpstr>テーマ</vt:lpstr>
      </vt:variant>
      <vt:variant>
        <vt:i4>1</vt:i4>
      </vt:variant>
      <vt:variant>
        <vt:lpstr>スライド タイトル</vt:lpstr>
      </vt:variant>
      <vt:variant>
        <vt:i4>35</vt:i4>
      </vt:variant>
    </vt:vector>
  </HeadingPairs>
  <TitlesOfParts>
    <vt:vector size="45" baseType="lpstr">
      <vt:lpstr>CMR12</vt:lpstr>
      <vt:lpstr>HaranoAjiMincho-Regular-Identity-H</vt:lpstr>
      <vt:lpstr>メイリオ</vt:lpstr>
      <vt:lpstr>メイリオ</vt:lpstr>
      <vt:lpstr>Arial</vt:lpstr>
      <vt:lpstr>Calibri</vt:lpstr>
      <vt:lpstr>Calibri Light</vt:lpstr>
      <vt:lpstr>Cambria Math</vt:lpstr>
      <vt:lpstr>Wingdings</vt:lpstr>
      <vt:lpstr>Office Theme</vt:lpstr>
      <vt:lpstr>自己教師あり対照学習を活用した 多変量時系列の部分セグメンテーション</vt:lpstr>
      <vt:lpstr>目次</vt:lpstr>
      <vt:lpstr>研究背景</vt:lpstr>
      <vt:lpstr>課題</vt:lpstr>
      <vt:lpstr>研究目的</vt:lpstr>
      <vt:lpstr>関連研究</vt:lpstr>
      <vt:lpstr>関連研究</vt:lpstr>
      <vt:lpstr>本研究の貢献</vt:lpstr>
      <vt:lpstr>目次</vt:lpstr>
      <vt:lpstr>問題定義</vt:lpstr>
      <vt:lpstr>提案手法</vt:lpstr>
      <vt:lpstr>提案手法</vt:lpstr>
      <vt:lpstr>データ拡張</vt:lpstr>
      <vt:lpstr>データ拡張</vt:lpstr>
      <vt:lpstr>特徴変換</vt:lpstr>
      <vt:lpstr>特徴変換</vt:lpstr>
      <vt:lpstr>対照学習</vt:lpstr>
      <vt:lpstr>対照学習</vt:lpstr>
      <vt:lpstr>対照学習</vt:lpstr>
      <vt:lpstr>状態パターン検出</vt:lpstr>
      <vt:lpstr>クラスタリング</vt:lpstr>
      <vt:lpstr>目次</vt:lpstr>
      <vt:lpstr>データセット</vt:lpstr>
      <vt:lpstr>実験概要</vt:lpstr>
      <vt:lpstr>実験結果</vt:lpstr>
      <vt:lpstr>実験結果</vt:lpstr>
      <vt:lpstr>実験結果</vt:lpstr>
      <vt:lpstr>実験結果</vt:lpstr>
      <vt:lpstr>目次</vt:lpstr>
      <vt:lpstr>まとめ</vt:lpstr>
      <vt:lpstr>PowerPoint プレゼンテーション</vt:lpstr>
      <vt:lpstr>参考文献</vt:lpstr>
      <vt:lpstr>実験結果</vt:lpstr>
      <vt:lpstr>データセットの詳細</vt:lpstr>
      <vt:lpstr>比較手法の詳細</vt:lpstr>
    </vt:vector>
  </TitlesOfParts>
  <Company>CMU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靖子 松原</dc:creator>
  <cp:lastModifiedBy>Katou Tsubasa</cp:lastModifiedBy>
  <cp:revision>3192</cp:revision>
  <cp:lastPrinted>2020-11-24T12:18:29Z</cp:lastPrinted>
  <dcterms:created xsi:type="dcterms:W3CDTF">2013-11-19T21:32:14Z</dcterms:created>
  <dcterms:modified xsi:type="dcterms:W3CDTF">2025-02-27T03:06:29Z</dcterms:modified>
</cp:coreProperties>
</file>