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EAA"/>
    <a:srgbClr val="3373A1"/>
    <a:srgbClr val="4977B2"/>
    <a:srgbClr val="7F7F7F"/>
    <a:srgbClr val="027B59"/>
    <a:srgbClr val="3B913B"/>
    <a:srgbClr val="C03D3E"/>
    <a:srgbClr val="E1812B"/>
    <a:srgbClr val="604878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5"/>
    <p:restoredTop sz="94574"/>
  </p:normalViewPr>
  <p:slideViewPr>
    <p:cSldViewPr snapToGrid="0">
      <p:cViewPr>
        <p:scale>
          <a:sx n="53" d="100"/>
          <a:sy n="53" d="100"/>
        </p:scale>
        <p:origin x="-552" y="-8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D0030-A64E-6546-AD5E-720E48742DE6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8A4D9-6F07-E047-B706-A35ADEF7E6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493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8A4D9-6F07-E047-B706-A35ADEF7E60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79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10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37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12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12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516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22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831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28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68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49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77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4F058-6342-594E-AD68-6950E102C90E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BD985-494E-C449-9A5E-709280D354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81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図 493">
            <a:extLst>
              <a:ext uri="{FF2B5EF4-FFF2-40B4-BE49-F238E27FC236}">
                <a16:creationId xmlns:a16="http://schemas.microsoft.com/office/drawing/2014/main" id="{D798BF2F-FDDC-74B6-7D3E-70F98B365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160" y="8167110"/>
            <a:ext cx="6692900" cy="3606800"/>
          </a:xfrm>
          <a:prstGeom prst="rect">
            <a:avLst/>
          </a:prstGeom>
        </p:spPr>
      </p:pic>
      <p:pic>
        <p:nvPicPr>
          <p:cNvPr id="477" name="図 476">
            <a:extLst>
              <a:ext uri="{FF2B5EF4-FFF2-40B4-BE49-F238E27FC236}">
                <a16:creationId xmlns:a16="http://schemas.microsoft.com/office/drawing/2014/main" id="{85520363-8DE8-7C78-9B69-EA3796E79B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72" t="5052" b="2023"/>
          <a:stretch/>
        </p:blipFill>
        <p:spPr>
          <a:xfrm>
            <a:off x="15314109" y="26184369"/>
            <a:ext cx="7833892" cy="3938085"/>
          </a:xfrm>
          <a:prstGeom prst="rect">
            <a:avLst/>
          </a:prstGeom>
        </p:spPr>
      </p:pic>
      <p:pic>
        <p:nvPicPr>
          <p:cNvPr id="480" name="図 479" descr="グラフ, 折れ線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0CF1C24-03A5-39B7-CD86-062E66311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5029" y="26043357"/>
            <a:ext cx="6958669" cy="4349168"/>
          </a:xfrm>
          <a:prstGeom prst="rect">
            <a:avLst/>
          </a:prstGeom>
        </p:spPr>
      </p:pic>
      <p:sp>
        <p:nvSpPr>
          <p:cNvPr id="201" name="Rectangle 8">
            <a:extLst>
              <a:ext uri="{FF2B5EF4-FFF2-40B4-BE49-F238E27FC236}">
                <a16:creationId xmlns:a16="http://schemas.microsoft.com/office/drawing/2014/main" id="{4992B9AF-C4B1-EBA8-7ADF-A0603397D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88" y="30620387"/>
            <a:ext cx="14869591" cy="12093443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ノイズ除去</a:t>
            </a:r>
            <a:endParaRPr lang="en-US" altLang="ja-JP" sz="5000" b="1" u="sng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5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5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5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データ拡張</a:t>
            </a:r>
            <a:endParaRPr lang="en-US" altLang="ja-JP" sz="5000" b="1" u="sng" dirty="0">
              <a:latin typeface="メイリオ"/>
              <a:ea typeface="メイリオ"/>
              <a:cs typeface="メイリオ"/>
            </a:endParaRPr>
          </a:p>
          <a:p>
            <a:pPr marL="571500" indent="-571500" defTabSz="4400550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latin typeface="メイリオ"/>
                <a:ea typeface="メイリオ"/>
              </a:rPr>
              <a:t>STL(</a:t>
            </a:r>
            <a:r>
              <a:rPr lang="en-US" sz="3600" dirty="0">
                <a:latin typeface="メイリオ"/>
                <a:ea typeface="メイリオ"/>
              </a:rPr>
              <a:t>Seasonal Decomposition Of Time Series By Loess</a:t>
            </a:r>
            <a:r>
              <a:rPr lang="en-US" sz="4000" dirty="0">
                <a:latin typeface="メイリオ"/>
                <a:ea typeface="メイリオ"/>
              </a:rPr>
              <a:t>)</a:t>
            </a:r>
            <a:r>
              <a:rPr lang="ja-JP" altLang="en-US" sz="4000">
                <a:latin typeface="メイリオ"/>
                <a:ea typeface="メイリオ"/>
              </a:rPr>
              <a:t>分解</a:t>
            </a: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sz="4000" dirty="0">
              <a:latin typeface="メイリオ"/>
              <a:ea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sz="5000" dirty="0">
              <a:latin typeface="メイリオ"/>
              <a:ea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sz="5000" dirty="0">
              <a:latin typeface="メイリオ"/>
              <a:ea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sz="5000" b="1" u="sng" dirty="0" err="1">
                <a:latin typeface="メイリオ"/>
                <a:ea typeface="メイリオ"/>
              </a:rPr>
              <a:t>特徴変換</a:t>
            </a:r>
            <a:endParaRPr lang="en-US" sz="5000" b="1" u="sng" dirty="0">
              <a:latin typeface="メイリオ"/>
              <a:ea typeface="メイリオ"/>
            </a:endParaRPr>
          </a:p>
          <a:p>
            <a:pPr marL="571500" indent="-571500" defTabSz="4400550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4000" dirty="0" err="1">
                <a:latin typeface="メイリオ"/>
                <a:ea typeface="メイリオ"/>
              </a:rPr>
              <a:t>エンコーダに</a:t>
            </a:r>
            <a:r>
              <a:rPr lang="en-US" sz="4000" i="1" dirty="0" err="1">
                <a:latin typeface="メイリオ"/>
                <a:ea typeface="メイリオ"/>
              </a:rPr>
              <a:t>Dilation機構</a:t>
            </a:r>
            <a:endParaRPr lang="en-US" sz="4000" i="1" dirty="0">
              <a:latin typeface="メイリオ"/>
              <a:ea typeface="メイリオ"/>
            </a:endParaRPr>
          </a:p>
          <a:p>
            <a:pPr marL="571500" indent="-571500" defTabSz="4400550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3800" u="sng" dirty="0" err="1">
                <a:latin typeface="メイリオ"/>
                <a:ea typeface="メイリオ"/>
              </a:rPr>
              <a:t>局所的なパターン</a:t>
            </a:r>
            <a:endParaRPr lang="en-US" sz="3800" u="sng" dirty="0">
              <a:latin typeface="メイリオ"/>
              <a:ea typeface="メイリオ"/>
            </a:endParaRPr>
          </a:p>
          <a:p>
            <a:pPr marL="571500" indent="-571500" defTabSz="4400550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3800" u="sng" dirty="0" err="1">
                <a:latin typeface="メイリオ"/>
                <a:ea typeface="メイリオ"/>
              </a:rPr>
              <a:t>周期的なパターン</a:t>
            </a:r>
            <a:endParaRPr lang="en-US" sz="3800" u="sng" dirty="0">
              <a:latin typeface="メイリオ"/>
              <a:ea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sz="4000" dirty="0">
                <a:latin typeface="メイリオ"/>
                <a:ea typeface="メイリオ"/>
              </a:rPr>
              <a:t> </a:t>
            </a:r>
          </a:p>
        </p:txBody>
      </p:sp>
      <p:sp>
        <p:nvSpPr>
          <p:cNvPr id="269" name="Rectangle 8">
            <a:extLst>
              <a:ext uri="{FF2B5EF4-FFF2-40B4-BE49-F238E27FC236}">
                <a16:creationId xmlns:a16="http://schemas.microsoft.com/office/drawing/2014/main" id="{06F1603E-3FBE-1215-578E-601414A1E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63" y="21037861"/>
            <a:ext cx="14869591" cy="9374411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100" b="1" u="sng">
                <a:latin typeface="メイリオ"/>
                <a:ea typeface="メイリオ"/>
                <a:cs typeface="メイリオ"/>
              </a:rPr>
              <a:t>対照学習を用いた状態パターン検出アルゴリズム</a:t>
            </a:r>
            <a:endParaRPr lang="en-US" altLang="ja-JP" sz="5100" u="sng" dirty="0">
              <a:latin typeface="メイリオ"/>
              <a:ea typeface="メイリオ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ja-JP" altLang="en-US" sz="42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ノイズ除去</a:t>
            </a:r>
            <a:r>
              <a:rPr lang="ja-JP" altLang="en-US" sz="42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や</a:t>
            </a:r>
            <a:r>
              <a:rPr lang="ja-JP" altLang="en-US" sz="42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トレンド・季節成分分解</a:t>
            </a:r>
            <a:r>
              <a:rPr lang="ja-JP" altLang="en-US" sz="42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によるデータ拡張</a:t>
            </a:r>
            <a:endParaRPr lang="en-US" altLang="ja-JP" sz="42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ja-JP" altLang="en-US" sz="42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エンコーダで</a:t>
            </a:r>
            <a:r>
              <a:rPr lang="ja-JP" altLang="en-US" sz="42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長期的・局所的パターンに基づく特徴変換</a:t>
            </a:r>
            <a:endParaRPr lang="en-US" altLang="ja-JP" sz="4200" b="1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ja-JP" altLang="en-US" sz="42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特徴空間で対照学習</a:t>
            </a:r>
            <a:r>
              <a:rPr lang="ja-JP" altLang="en-US" sz="42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を行い</a:t>
            </a:r>
            <a:r>
              <a:rPr lang="en-US" altLang="ja-JP" sz="42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</a:t>
            </a:r>
            <a:r>
              <a:rPr lang="en-US" altLang="ja-JP" sz="4200" b="1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  <a:r>
              <a:rPr lang="ja-JP" altLang="en-US" sz="42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パターンの類似性を学習</a:t>
            </a:r>
            <a:r>
              <a:rPr lang="en-US" altLang="ja-JP" sz="4200" b="1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  <a:endParaRPr lang="en-US" altLang="ja-JP" sz="42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ja-JP" sz="7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endParaRPr lang="en-US" altLang="ja-JP" sz="4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endParaRPr lang="en-US" altLang="ja-JP" sz="4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endParaRPr lang="en-US" altLang="ja-JP" sz="4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  <a:endParaRPr lang="en-US" altLang="ja-JP" sz="5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ja-JP" sz="7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42BA3D61-7A33-ADF3-F726-68B3B719C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1158" y="5584245"/>
            <a:ext cx="14917038" cy="9293170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対照学習</a:t>
            </a:r>
            <a:endParaRPr lang="en-US" altLang="ja-JP" sz="5000" b="1" u="sng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7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ウィンドウ幅で</a:t>
            </a:r>
            <a:r>
              <a:rPr lang="ja-JP" altLang="en-US" sz="37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分割</a:t>
            </a:r>
            <a:r>
              <a:rPr lang="ja-JP" altLang="en-US" sz="37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し</a:t>
            </a:r>
            <a:r>
              <a:rPr lang="en-US" altLang="ja-JP" sz="37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</a:t>
            </a:r>
            <a:br>
              <a:rPr lang="en-US" altLang="ja-JP" sz="35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</a:br>
            <a:r>
              <a:rPr lang="ja-JP" altLang="en-US" sz="39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統計的特徴量</a:t>
            </a:r>
            <a: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(</a:t>
            </a:r>
            <a:r>
              <a:rPr lang="ja-JP" altLang="en-US"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平均</a:t>
            </a:r>
            <a: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</a:t>
            </a:r>
            <a:r>
              <a:rPr lang="ja-JP" altLang="en-US"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主要周波数</a:t>
            </a:r>
            <a: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</a:t>
            </a:r>
            <a:b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</a:br>
            <a:r>
              <a:rPr lang="ja-JP" altLang="en-US"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標準偏差</a:t>
            </a:r>
            <a: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 </a:t>
            </a:r>
            <a:r>
              <a:rPr lang="ja-JP" altLang="en-US"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スペクトルエネルギー</a:t>
            </a:r>
            <a:r>
              <a:rPr lang="en-US" altLang="ja-JP" sz="36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) </a:t>
            </a:r>
            <a:br>
              <a:rPr lang="en-US" altLang="ja-JP" sz="35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</a:br>
            <a:r>
              <a:rPr lang="ja-JP" altLang="en-US" sz="36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で類似度を計算</a:t>
            </a:r>
            <a:endParaRPr lang="en-US" altLang="ja-JP" sz="3600" dirty="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5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類似度に基づいて</a:t>
            </a:r>
            <a:r>
              <a:rPr lang="en-US" altLang="ja-JP" sz="35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</a:t>
            </a:r>
            <a:br>
              <a:rPr lang="en-US" altLang="ja-JP" sz="35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</a:br>
            <a:r>
              <a:rPr lang="ja-JP" altLang="en-US" sz="37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正のペア</a:t>
            </a:r>
            <a:r>
              <a:rPr lang="ja-JP" altLang="en-US" sz="35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と</a:t>
            </a:r>
            <a:r>
              <a:rPr lang="ja-JP" altLang="en-US" sz="3700">
                <a:solidFill>
                  <a:srgbClr val="00B0F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負のペア</a:t>
            </a:r>
            <a:r>
              <a:rPr lang="ja-JP" altLang="en-US" sz="35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で学習</a:t>
            </a:r>
            <a:endParaRPr lang="en-US" altLang="ja-JP" sz="3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9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ロス関数の設計</a:t>
            </a:r>
            <a:endParaRPr lang="en-US" altLang="ja-JP" sz="3900" b="1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　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EC38D-E2C8-0725-4F97-F3FA42931395}"/>
              </a:ext>
            </a:extLst>
          </p:cNvPr>
          <p:cNvSpPr/>
          <p:nvPr/>
        </p:nvSpPr>
        <p:spPr>
          <a:xfrm>
            <a:off x="-36575" y="-36576"/>
            <a:ext cx="30384000" cy="3126683"/>
          </a:xfrm>
          <a:prstGeom prst="rect">
            <a:avLst/>
          </a:prstGeom>
          <a:solidFill>
            <a:srgbClr val="027B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A0F2165E-8F88-DDDC-0F65-E00054982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49" y="15130294"/>
                <a:ext cx="14867229" cy="5736808"/>
              </a:xfrm>
              <a:prstGeom prst="rect">
                <a:avLst/>
              </a:prstGeom>
              <a:noFill/>
              <a:ln w="38100" cmpd="sng">
                <a:solidFill>
                  <a:schemeClr val="tx1">
                    <a:alpha val="70000"/>
                  </a:schemeClr>
                </a:solidFill>
                <a:prstDash val="lgDash"/>
                <a:miter lim="800000"/>
                <a:headEnd/>
                <a:tailEnd/>
              </a:ln>
              <a:effectLst>
                <a:glow>
                  <a:schemeClr val="bg1">
                    <a:lumMod val="85000"/>
                  </a:schemeClr>
                </a:glow>
              </a:effectLst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216000" tIns="46800" rIns="216000" bIns="46800"/>
              <a:lstStyle/>
              <a:p>
                <a:pPr defTabSz="4400550">
                  <a:lnSpc>
                    <a:spcPct val="110000"/>
                  </a:lnSpc>
                  <a:spcBef>
                    <a:spcPct val="20000"/>
                  </a:spcBef>
                  <a:defRPr/>
                </a:pPr>
                <a:r>
                  <a:rPr lang="ja-JP" altLang="en-US" sz="5200" b="1" u="sng">
                    <a:latin typeface="メイリオ"/>
                    <a:ea typeface="メイリオ"/>
                    <a:cs typeface="メイリオ"/>
                  </a:rPr>
                  <a:t>問題定義</a:t>
                </a:r>
                <a:r>
                  <a:rPr lang="en-US" altLang="ja-JP" sz="5200" u="sng" dirty="0">
                    <a:latin typeface="メイリオ"/>
                    <a:ea typeface="メイリオ"/>
                    <a:cs typeface="メイリオ"/>
                  </a:rPr>
                  <a:t> - </a:t>
                </a:r>
                <a:r>
                  <a:rPr lang="ja-JP" altLang="en-US" sz="5200" b="1" u="sng">
                    <a:latin typeface="メイリオ"/>
                    <a:ea typeface="メイリオ"/>
                    <a:cs typeface="メイリオ"/>
                  </a:rPr>
                  <a:t>状態パターン検出とは</a:t>
                </a:r>
              </a:p>
              <a:p>
                <a:pPr>
                  <a:lnSpc>
                    <a:spcPct val="110000"/>
                  </a:lnSpc>
                  <a:defRPr/>
                </a:pPr>
                <a:r>
                  <a:rPr lang="en-US" altLang="ja-JP" sz="4500" b="1" dirty="0">
                    <a:solidFill>
                      <a:srgbClr val="4977B2"/>
                    </a:solidFill>
                    <a:latin typeface="メイリオ"/>
                    <a:ea typeface="メイリオ"/>
                    <a:cs typeface="メイリオ"/>
                  </a:rPr>
                  <a:t>Given</a:t>
                </a:r>
                <a:r>
                  <a:rPr lang="en-US" altLang="ja-JP" sz="4500" dirty="0">
                    <a:latin typeface="メイリオ"/>
                    <a:ea typeface="メイリオ"/>
                    <a:cs typeface="メイリオ"/>
                  </a:rPr>
                  <a:t>: </a:t>
                </a:r>
                <a:r>
                  <a:rPr lang="ja-JP" altLang="en-US" sz="450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データストリーム</a:t>
                </a:r>
                <a:r>
                  <a:rPr lang="en-US" altLang="ja-JP" sz="3000" dirty="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45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𝑿</m:t>
                    </m:r>
                  </m:oMath>
                </a14:m>
                <a:r>
                  <a:rPr lang="en-US" altLang="ja-JP" sz="4500" dirty="0">
                    <a:solidFill>
                      <a:schemeClr val="tx1"/>
                    </a:solidFill>
                    <a:latin typeface="Segoe UI" panose="020B0502040204020203" pitchFamily="34" charset="0"/>
                    <a:ea typeface="メイリオ"/>
                    <a:cs typeface="Segoe UI" panose="020B0502040204020203" pitchFamily="34" charset="0"/>
                  </a:rPr>
                  <a:t>,  </a:t>
                </a:r>
                <a:r>
                  <a:rPr lang="en-US" altLang="ja-JP" sz="4500" dirty="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 i.e.</a:t>
                </a:r>
                <a:r>
                  <a:rPr lang="en-US" altLang="ja-JP" sz="4500" dirty="0">
                    <a:latin typeface="Segoe UI" panose="020B0502040204020203" pitchFamily="34" charset="0"/>
                    <a:ea typeface="メイリオ"/>
                    <a:cs typeface="Segoe UI" panose="020B0502040204020203" pitchFamily="34" charset="0"/>
                  </a:rPr>
                  <a:t>,</a:t>
                </a:r>
                <a:r>
                  <a:rPr lang="en-US" altLang="ja-JP" sz="4500" dirty="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45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𝑿</m:t>
                    </m:r>
                    <m:r>
                      <a:rPr lang="en-US" altLang="ja-JP" sz="4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4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4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4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e>
                        </m:d>
                        <m:r>
                          <a:rPr lang="en-US" sz="4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…, </m:t>
                        </m:r>
                        <m:r>
                          <a:rPr lang="en-US" sz="4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𝒙</m:t>
                        </m:r>
                        <m:d>
                          <m:dPr>
                            <m:ctrlPr>
                              <a:rPr lang="en-US" sz="4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45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45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ja-JP" sz="4500" dirty="0">
                  <a:latin typeface="メイリオ"/>
                  <a:ea typeface="メイリオ"/>
                  <a:cs typeface="メイリオ"/>
                </a:endParaRPr>
              </a:p>
              <a:p>
                <a:pPr>
                  <a:lnSpc>
                    <a:spcPct val="110000"/>
                  </a:lnSpc>
                  <a:defRPr/>
                </a:pPr>
                <a:r>
                  <a:rPr lang="en-US" altLang="ja-JP" sz="4500" b="1" dirty="0">
                    <a:solidFill>
                      <a:srgbClr val="C0504D"/>
                    </a:solidFill>
                    <a:latin typeface="メイリオ"/>
                    <a:ea typeface="メイリオ"/>
                    <a:cs typeface="メイリオ"/>
                  </a:rPr>
                  <a:t>Goal  </a:t>
                </a:r>
                <a:r>
                  <a:rPr lang="en-US" altLang="ja-JP" sz="4500" dirty="0">
                    <a:latin typeface="メイリオ"/>
                    <a:ea typeface="メイリオ"/>
                    <a:cs typeface="メイリオ"/>
                  </a:rPr>
                  <a:t>: </a:t>
                </a:r>
                <a:r>
                  <a:rPr lang="ja-JP" altLang="en-US" sz="4500">
                    <a:latin typeface="メイリオ"/>
                    <a:ea typeface="メイリオ"/>
                    <a:cs typeface="メイリオ"/>
                  </a:rPr>
                  <a:t>状態インデックス</a:t>
                </a:r>
                <a:r>
                  <a:rPr lang="en-US" altLang="ja-JP" sz="4500" dirty="0">
                    <a:latin typeface="メイリオ"/>
                    <a:ea typeface="メイリオ"/>
                    <a:cs typeface="メイリオ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4500" b="1" i="1"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𝑺</m:t>
                    </m:r>
                  </m:oMath>
                </a14:m>
                <a:r>
                  <a:rPr lang="en-US" altLang="ja-JP" sz="4500" dirty="0">
                    <a:latin typeface="Segoe UI" panose="020B0502040204020203" pitchFamily="34" charset="0"/>
                    <a:ea typeface="メイリオ"/>
                    <a:cs typeface="Segoe UI" panose="020B0502040204020203" pitchFamily="34" charset="0"/>
                  </a:rPr>
                  <a:t>,  </a:t>
                </a:r>
                <a:r>
                  <a:rPr lang="en-US" altLang="ja-JP" sz="4500" dirty="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 i.e.</a:t>
                </a:r>
                <a:r>
                  <a:rPr lang="en-US" altLang="ja-JP" sz="4500" dirty="0">
                    <a:latin typeface="Segoe UI" panose="020B0502040204020203" pitchFamily="34" charset="0"/>
                    <a:ea typeface="メイリオ"/>
                    <a:cs typeface="Segoe UI" panose="020B0502040204020203" pitchFamily="34" charset="0"/>
                  </a:rPr>
                  <a:t>,</a:t>
                </a:r>
                <a:r>
                  <a:rPr lang="en-US" altLang="ja-JP" sz="4500" dirty="0">
                    <a:solidFill>
                      <a:schemeClr val="tx1"/>
                    </a:solidFill>
                    <a:latin typeface="メイリオ"/>
                    <a:ea typeface="メイリオ"/>
                    <a:cs typeface="メイリオ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4500" b="1" i="1" smtClean="0"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𝑺</m:t>
                    </m:r>
                    <m:r>
                      <a:rPr lang="en-US" altLang="ja-JP" sz="4500" b="1" i="1">
                        <a:latin typeface="Cambria Math" panose="02040503050406030204" pitchFamily="18" charset="0"/>
                        <a:ea typeface="メイリオ"/>
                        <a:cs typeface="メイリオ"/>
                      </a:rPr>
                      <m:t> </m:t>
                    </m:r>
                    <m:r>
                      <a:rPr lang="en-US" sz="45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4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ja-JP" sz="45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altLang="ja-JP" sz="45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45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 …, </m:t>
                        </m:r>
                        <m:r>
                          <a:rPr lang="en-US" altLang="ja-JP" sz="45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ja-JP" sz="45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45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45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45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ja-JP" sz="4500" dirty="0">
                  <a:latin typeface="メイリオ"/>
                  <a:ea typeface="メイリオ"/>
                  <a:cs typeface="メイリオ"/>
                </a:endParaRPr>
              </a:p>
              <a:p>
                <a:pPr>
                  <a:lnSpc>
                    <a:spcPct val="110000"/>
                  </a:lnSpc>
                  <a:defRPr/>
                </a:pPr>
                <a:endParaRPr lang="en-US" altLang="ja-JP" sz="4500" b="1" dirty="0">
                  <a:latin typeface="メイリオ"/>
                  <a:ea typeface="メイリオ"/>
                  <a:cs typeface="メイリオ"/>
                </a:endParaRPr>
              </a:p>
            </p:txBody>
          </p:sp>
        </mc:Choice>
        <mc:Fallback xmlns=""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A0F2165E-8F88-DDDC-0F65-E00054982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349" y="15130294"/>
                <a:ext cx="14867229" cy="5736808"/>
              </a:xfrm>
              <a:prstGeom prst="rect">
                <a:avLst/>
              </a:prstGeom>
              <a:blipFill>
                <a:blip r:embed="rId6"/>
                <a:stretch>
                  <a:fillRect l="-1106" t="-877"/>
                </a:stretch>
              </a:blipFill>
              <a:ln w="38100" cmpd="sng">
                <a:solidFill>
                  <a:schemeClr val="tx1">
                    <a:alpha val="70000"/>
                  </a:schemeClr>
                </a:solidFill>
                <a:prstDash val="lgDash"/>
                <a:miter lim="800000"/>
                <a:headEnd/>
                <a:tailEnd/>
              </a:ln>
              <a:effectLst>
                <a:glow>
                  <a:schemeClr val="bg1">
                    <a:lumMod val="85000"/>
                  </a:schemeClr>
                </a:glow>
              </a:effectLst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>
            <a:extLst>
              <a:ext uri="{FF2B5EF4-FFF2-40B4-BE49-F238E27FC236}">
                <a16:creationId xmlns:a16="http://schemas.microsoft.com/office/drawing/2014/main" id="{299EB09C-26D3-E515-B091-3AAD36F2F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63" y="5569948"/>
            <a:ext cx="14869591" cy="9269757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200" b="1" u="sng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研究背景</a:t>
            </a:r>
            <a:endParaRPr lang="en-US" altLang="zh-TW" sz="5200" b="1" u="sng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lang="ja-JP" altLang="en-JP" sz="45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時系列</a:t>
            </a:r>
            <a:r>
              <a:rPr lang="ja-JP" altLang="en-US" sz="45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データ</a:t>
            </a:r>
            <a:r>
              <a:rPr lang="ja-JP" altLang="en-US" sz="45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はさまざまな</a:t>
            </a:r>
            <a:r>
              <a:rPr lang="ja-JP" altLang="en-US" sz="4600" b="1" u="sng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状態パターン</a:t>
            </a:r>
            <a:r>
              <a:rPr lang="ja-JP" altLang="en-US" sz="45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を保持している</a:t>
            </a:r>
            <a:r>
              <a:rPr lang="ja-JP" altLang="en-US" sz="7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　</a:t>
            </a:r>
            <a:r>
              <a:rPr lang="ja-JP" altLang="en-US" sz="45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　　　　　　　　　</a:t>
            </a:r>
            <a:endParaRPr lang="en-US" altLang="ja-JP" sz="4000" b="1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ja-JP" sz="40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e.g., </a:t>
            </a:r>
            <a:r>
              <a:rPr lang="ja-JP" altLang="en-US" sz="40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モーションキャプチャー</a:t>
            </a:r>
            <a:r>
              <a:rPr lang="en-US" altLang="ja-JP" sz="40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 </a:t>
            </a:r>
            <a:r>
              <a:rPr lang="ja-JP" altLang="en-US" sz="40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走行データ</a:t>
            </a:r>
            <a:r>
              <a:rPr lang="en-US" altLang="ja-JP" sz="4000" dirty="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, </a:t>
            </a:r>
            <a:r>
              <a:rPr lang="ja-JP" altLang="en-US" sz="40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睡眠データ</a:t>
            </a:r>
            <a:endParaRPr lang="en-US" altLang="ja-JP" sz="4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endParaRPr lang="en-US" altLang="ja-JP" sz="45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ja-JP" altLang="en-US" sz="4400" u="sng"/>
              <a:t>状態パターン遷移解析や状態パターン予測</a:t>
            </a:r>
            <a:r>
              <a:rPr kumimoji="1" lang="ja-JP" altLang="en-US" sz="4300"/>
              <a:t>に応用可能</a:t>
            </a:r>
            <a:endParaRPr kumimoji="1" lang="en-US" altLang="ja-JP" sz="4300" dirty="0"/>
          </a:p>
          <a:p>
            <a:pPr>
              <a:lnSpc>
                <a:spcPct val="110000"/>
              </a:lnSpc>
              <a:defRPr/>
            </a:pPr>
            <a:r>
              <a:rPr kumimoji="1" lang="ja-JP" altLang="en-US" sz="4300"/>
              <a:t>人手によるセグメンテーションは</a:t>
            </a:r>
            <a:r>
              <a:rPr kumimoji="1" lang="ja-JP" altLang="en-US" sz="4700" b="1">
                <a:solidFill>
                  <a:srgbClr val="0070C0"/>
                </a:solidFill>
              </a:rPr>
              <a:t>コスト増大</a:t>
            </a:r>
            <a:endParaRPr kumimoji="1" lang="en-US" altLang="ja-JP" sz="4700" b="1" dirty="0">
              <a:solidFill>
                <a:srgbClr val="0070C0"/>
              </a:solidFill>
            </a:endParaRPr>
          </a:p>
          <a:p>
            <a:pPr algn="ctr">
              <a:lnSpc>
                <a:spcPct val="110000"/>
              </a:lnSpc>
              <a:defRPr/>
            </a:pPr>
            <a:r>
              <a:rPr kumimoji="1" lang="ja-JP" altLang="en-US" sz="5500" b="1">
                <a:solidFill>
                  <a:schemeClr val="accent2"/>
                </a:solidFill>
              </a:rPr>
              <a:t>💡</a:t>
            </a:r>
            <a:r>
              <a:rPr kumimoji="1" lang="ja-JP" altLang="en-US" sz="5500" b="1" u="sng">
                <a:solidFill>
                  <a:srgbClr val="FF0000"/>
                </a:solidFill>
              </a:rPr>
              <a:t>教師なし学習</a:t>
            </a:r>
            <a:r>
              <a:rPr kumimoji="1" lang="ja-JP" altLang="en-US" sz="4500" b="1" u="sng">
                <a:solidFill>
                  <a:srgbClr val="FF0000"/>
                </a:solidFill>
              </a:rPr>
              <a:t>の</a:t>
            </a:r>
            <a:r>
              <a:rPr kumimoji="1" lang="ja-JP" altLang="en-US" sz="5500" b="1" u="sng">
                <a:solidFill>
                  <a:srgbClr val="FF0000"/>
                </a:solidFill>
              </a:rPr>
              <a:t>状態パターン検出法</a:t>
            </a:r>
            <a:r>
              <a:rPr kumimoji="1" lang="en-US" altLang="ja-JP" sz="3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4500" u="sng">
                <a:solidFill>
                  <a:srgbClr val="FF0000"/>
                </a:solidFill>
              </a:rPr>
              <a:t>の提案</a:t>
            </a:r>
            <a:r>
              <a:rPr lang="en-US" altLang="ja-JP" sz="4000" b="1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 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9FA2AC5-ACA0-19C2-F5EC-E07A7CCBC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3337503"/>
            <a:ext cx="26263600" cy="1042665"/>
          </a:xfrm>
          <a:prstGeom prst="rect">
            <a:avLst/>
          </a:prstGeom>
          <a:noFill/>
          <a:ln w="28575" cmpd="sng">
            <a:noFill/>
            <a:prstDash val="lgDash"/>
            <a:miter lim="800000"/>
            <a:headEnd/>
            <a:tailEnd/>
          </a:ln>
        </p:spPr>
        <p:txBody>
          <a:bodyPr lIns="216000" tIns="46800" rIns="216000" bIns="46800"/>
          <a:lstStyle/>
          <a:p>
            <a:pPr algn="ctr" defTabSz="4400550">
              <a:defRPr/>
            </a:pPr>
            <a:r>
              <a:rPr lang="ja-JP" altLang="en-US" sz="5400">
                <a:latin typeface="メイリオ"/>
                <a:ea typeface="メイリオ"/>
                <a:cs typeface="メイリオ"/>
              </a:rPr>
              <a:t>加藤</a:t>
            </a:r>
            <a:r>
              <a:rPr lang="en-US" altLang="ja-JP" sz="5400" dirty="0">
                <a:latin typeface="メイリオ"/>
                <a:ea typeface="メイリオ"/>
                <a:cs typeface="メイリオ"/>
              </a:rPr>
              <a:t> </a:t>
            </a:r>
            <a:r>
              <a:rPr lang="ja-JP" altLang="en-US" sz="5400">
                <a:latin typeface="メイリオ"/>
                <a:ea typeface="メイリオ"/>
                <a:cs typeface="メイリオ"/>
              </a:rPr>
              <a:t>翼</a:t>
            </a:r>
            <a:r>
              <a:rPr kumimoji="1" lang="en-US" altLang="ja-JP" sz="6000" baseline="30000" dirty="0"/>
              <a:t>†,</a:t>
            </a:r>
            <a:r>
              <a:rPr lang="en-US" altLang="ja-JP" sz="6000" baseline="30000" dirty="0">
                <a:ea typeface="メイリオ"/>
              </a:rPr>
              <a:t>‡</a:t>
            </a:r>
            <a:r>
              <a:rPr lang="en-US" altLang="ja-JP" sz="5400" dirty="0">
                <a:latin typeface="メイリオ"/>
                <a:ea typeface="メイリオ"/>
                <a:cs typeface="メイリオ"/>
              </a:rPr>
              <a:t> </a:t>
            </a:r>
            <a:r>
              <a:rPr lang="ja-JP" altLang="en-US" sz="5400">
                <a:latin typeface="メイリオ"/>
                <a:ea typeface="メイリオ"/>
                <a:cs typeface="メイリオ"/>
              </a:rPr>
              <a:t>　 松原 靖子</a:t>
            </a:r>
            <a:r>
              <a:rPr kumimoji="1" lang="en-US" altLang="ja-JP" sz="6000" baseline="30000" dirty="0"/>
              <a:t>†</a:t>
            </a:r>
            <a:r>
              <a:rPr lang="en-US" altLang="ja-JP" sz="5400" baseline="30000" dirty="0">
                <a:latin typeface="メイリオ"/>
                <a:ea typeface="メイリオ"/>
                <a:cs typeface="メイリオ"/>
              </a:rPr>
              <a:t> </a:t>
            </a:r>
            <a:r>
              <a:rPr lang="en-US" altLang="ja-JP" sz="5400" dirty="0">
                <a:latin typeface="メイリオ"/>
                <a:ea typeface="メイリオ"/>
                <a:cs typeface="メイリオ"/>
              </a:rPr>
              <a:t> </a:t>
            </a:r>
            <a:r>
              <a:rPr lang="ja-JP" altLang="en-US" sz="5400">
                <a:latin typeface="メイリオ"/>
                <a:ea typeface="メイリオ"/>
                <a:cs typeface="メイリオ"/>
              </a:rPr>
              <a:t>　櫻井</a:t>
            </a:r>
            <a:r>
              <a:rPr lang="en-US" altLang="ja-JP" sz="5400" dirty="0">
                <a:latin typeface="メイリオ"/>
                <a:ea typeface="メイリオ"/>
                <a:cs typeface="メイリオ"/>
              </a:rPr>
              <a:t> </a:t>
            </a:r>
            <a:r>
              <a:rPr lang="ja-JP" altLang="en-US" sz="5400">
                <a:latin typeface="メイリオ"/>
                <a:ea typeface="メイリオ"/>
                <a:cs typeface="メイリオ"/>
              </a:rPr>
              <a:t>保志</a:t>
            </a:r>
            <a:r>
              <a:rPr kumimoji="1" lang="en-US" altLang="ja-JP" sz="6000" baseline="30000" dirty="0"/>
              <a:t>†</a:t>
            </a:r>
            <a:endParaRPr lang="en-US" altLang="ja-JP" sz="6000" dirty="0">
              <a:latin typeface="メイリオ"/>
              <a:ea typeface="メイリオ"/>
              <a:cs typeface="メイリオ"/>
            </a:endParaRPr>
          </a:p>
          <a:p>
            <a:pPr algn="ctr" defTabSz="4400550">
              <a:defRPr/>
            </a:pPr>
            <a:endParaRPr lang="en-US" altLang="ja-JP" sz="5400" baseline="30000" dirty="0">
              <a:latin typeface="メイリオ"/>
              <a:ea typeface="メイリオ"/>
              <a:cs typeface="メイリオ"/>
            </a:endParaRPr>
          </a:p>
          <a:p>
            <a:pPr algn="ctr" defTabSz="4400550">
              <a:defRPr/>
            </a:pPr>
            <a:endParaRPr kumimoji="0" lang="en-US" altLang="zh-TW" sz="54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7ED1BB3-9D4D-1996-0C90-9BF67B38DBCC}"/>
              </a:ext>
            </a:extLst>
          </p:cNvPr>
          <p:cNvSpPr txBox="1"/>
          <p:nvPr/>
        </p:nvSpPr>
        <p:spPr>
          <a:xfrm>
            <a:off x="-36576" y="4361346"/>
            <a:ext cx="30311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00550">
              <a:defRPr/>
            </a:pPr>
            <a:r>
              <a:rPr lang="en-US" altLang="ja-JP" sz="6000" dirty="0"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† </a:t>
            </a:r>
            <a:r>
              <a:rPr lang="ja-JP" altLang="en-US" sz="5400">
                <a:latin typeface="メイリオ"/>
                <a:ea typeface="メイリオ"/>
                <a:cs typeface="メイリオ"/>
              </a:rPr>
              <a:t>大阪大学 産業科学研究所</a:t>
            </a:r>
            <a:r>
              <a:rPr lang="en-US" altLang="ja-JP" sz="5400" dirty="0">
                <a:latin typeface="メイリオ"/>
                <a:ea typeface="メイリオ"/>
                <a:cs typeface="メイリオ"/>
              </a:rPr>
              <a:t>   </a:t>
            </a:r>
            <a:r>
              <a:rPr lang="en-US" altLang="ja-JP" sz="6000" dirty="0">
                <a:latin typeface="Segoe UI" panose="020B0502040204020203" pitchFamily="34" charset="0"/>
                <a:ea typeface="Meiryo" panose="020B0604030504040204" pitchFamily="34" charset="-128"/>
                <a:cs typeface="Segoe UI" panose="020B0502040204020203" pitchFamily="34" charset="0"/>
              </a:rPr>
              <a:t>‡</a:t>
            </a:r>
            <a:r>
              <a:rPr lang="en-US" altLang="ja-JP" sz="6000" dirty="0">
                <a:ea typeface="メイリオ"/>
              </a:rPr>
              <a:t> </a:t>
            </a:r>
            <a:r>
              <a:rPr lang="ja-JP" altLang="en-US" sz="5400"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大阪大学大学院</a:t>
            </a:r>
            <a:r>
              <a:rPr lang="en-US" altLang="ja-JP" sz="5400" dirty="0"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lang="ja-JP" altLang="en-US" sz="5400"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情報科学研究科</a:t>
            </a:r>
            <a:endParaRPr lang="en-US" altLang="ja-JP" sz="54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9F65E4D7-DBCA-EAAD-36AA-B3396EABBF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461959" y="3155349"/>
            <a:ext cx="5664970" cy="1654170"/>
          </a:xfrm>
          <a:prstGeom prst="rect">
            <a:avLst/>
          </a:prstGeom>
        </p:spPr>
      </p:pic>
      <p:pic>
        <p:nvPicPr>
          <p:cNvPr id="118" name="Picture 117" descr="A blue and white logo&#10;&#10;Description automatically generated">
            <a:extLst>
              <a:ext uri="{FF2B5EF4-FFF2-40B4-BE49-F238E27FC236}">
                <a16:creationId xmlns:a16="http://schemas.microsoft.com/office/drawing/2014/main" id="{8F5D7870-2CB9-4BBE-E352-07326026BD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123" y="3380565"/>
            <a:ext cx="5036556" cy="1259139"/>
          </a:xfrm>
          <a:prstGeom prst="rect">
            <a:avLst/>
          </a:prstGeom>
        </p:spPr>
      </p:pic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2CD4972B-B625-2AB1-E415-ACD508A11092}"/>
              </a:ext>
            </a:extLst>
          </p:cNvPr>
          <p:cNvSpPr txBox="1"/>
          <p:nvPr/>
        </p:nvSpPr>
        <p:spPr>
          <a:xfrm>
            <a:off x="165349" y="1119910"/>
            <a:ext cx="42049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5400">
                <a:solidFill>
                  <a:schemeClr val="bg1">
                    <a:lumMod val="95000"/>
                  </a:schemeClr>
                </a:solidFill>
              </a:rPr>
              <a:t>論文</a:t>
            </a:r>
            <a:r>
              <a:rPr kumimoji="1" lang="en-US" altLang="ja-JP" sz="5400" dirty="0">
                <a:solidFill>
                  <a:schemeClr val="bg1">
                    <a:lumMod val="95000"/>
                  </a:schemeClr>
                </a:solidFill>
              </a:rPr>
              <a:t>ID:1D-03 </a:t>
            </a:r>
            <a:endParaRPr kumimoji="1" lang="ja-JP" altLang="en-US" sz="5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テキスト ボックス 362">
            <a:extLst>
              <a:ext uri="{FF2B5EF4-FFF2-40B4-BE49-F238E27FC236}">
                <a16:creationId xmlns:a16="http://schemas.microsoft.com/office/drawing/2014/main" id="{37AE4ED6-165F-604B-5B3C-E888BF814DB5}"/>
              </a:ext>
            </a:extLst>
          </p:cNvPr>
          <p:cNvSpPr txBox="1"/>
          <p:nvPr/>
        </p:nvSpPr>
        <p:spPr>
          <a:xfrm>
            <a:off x="215156" y="208248"/>
            <a:ext cx="31197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solidFill>
                  <a:schemeClr val="bg1">
                    <a:lumMod val="95000"/>
                  </a:schemeClr>
                </a:solidFill>
              </a:rPr>
              <a:t>DEIM2025</a:t>
            </a:r>
            <a:endParaRPr kumimoji="1" lang="ja-JP" altLang="en-US" sz="5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テキスト ボックス 2">
            <a:extLst>
              <a:ext uri="{FF2B5EF4-FFF2-40B4-BE49-F238E27FC236}">
                <a16:creationId xmlns:a16="http://schemas.microsoft.com/office/drawing/2014/main" id="{EC97D471-E7C9-47E4-315A-06EF25B8DAEA}"/>
              </a:ext>
            </a:extLst>
          </p:cNvPr>
          <p:cNvSpPr txBox="1"/>
          <p:nvPr/>
        </p:nvSpPr>
        <p:spPr>
          <a:xfrm>
            <a:off x="-204271" y="175581"/>
            <a:ext cx="306471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0" b="1">
                <a:solidFill>
                  <a:schemeClr val="bg1">
                    <a:lumMod val="95000"/>
                  </a:schemeClr>
                </a:solidFill>
              </a:rPr>
              <a:t>自己教師あり対照学習を活用した</a:t>
            </a:r>
            <a:br>
              <a:rPr kumimoji="1" lang="en-US" altLang="ja-JP" sz="90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kumimoji="1" lang="ja-JP" altLang="en-US" sz="9000" b="1">
                <a:solidFill>
                  <a:schemeClr val="bg1">
                    <a:lumMod val="95000"/>
                  </a:schemeClr>
                </a:solidFill>
              </a:rPr>
              <a:t>多変量時系列の部分セグメンテーション</a:t>
            </a:r>
          </a:p>
        </p:txBody>
      </p:sp>
      <p:sp>
        <p:nvSpPr>
          <p:cNvPr id="275" name="Rectangle 8">
            <a:extLst>
              <a:ext uri="{FF2B5EF4-FFF2-40B4-BE49-F238E27FC236}">
                <a16:creationId xmlns:a16="http://schemas.microsoft.com/office/drawing/2014/main" id="{860C587D-AE4E-1909-8AB5-A704E7A23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3999" y="23440873"/>
            <a:ext cx="14884197" cy="13132726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実験</a:t>
            </a:r>
            <a:r>
              <a:rPr lang="en-US" altLang="ja-JP" sz="5000" b="1" u="sng" dirty="0">
                <a:latin typeface="メイリオ"/>
                <a:ea typeface="メイリオ"/>
                <a:cs typeface="メイリオ"/>
              </a:rPr>
              <a:t> </a:t>
            </a:r>
            <a:r>
              <a:rPr lang="en-US" altLang="ja-JP" sz="5000" u="sng" dirty="0">
                <a:latin typeface="メイリオ"/>
                <a:ea typeface="メイリオ"/>
                <a:cs typeface="メイリオ"/>
              </a:rPr>
              <a:t>- </a:t>
            </a: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正確性</a:t>
            </a:r>
            <a:r>
              <a:rPr lang="ja-JP" altLang="en-US" sz="5000" u="sng">
                <a:latin typeface="メイリオ"/>
                <a:ea typeface="メイリオ"/>
                <a:cs typeface="メイリオ"/>
              </a:rPr>
              <a:t>と</a:t>
            </a: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自動検出</a:t>
            </a:r>
            <a:r>
              <a:rPr lang="en-US" altLang="ja-JP" sz="5000" b="1" u="sng" dirty="0">
                <a:latin typeface="メイリオ"/>
                <a:ea typeface="メイリオ"/>
                <a:cs typeface="メイリオ"/>
              </a:rPr>
              <a:t>, </a:t>
            </a: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分割検出</a:t>
            </a:r>
            <a:r>
              <a:rPr lang="ja-JP" altLang="en-US" sz="5000" u="sng">
                <a:latin typeface="メイリオ"/>
                <a:ea typeface="メイリオ"/>
                <a:cs typeface="メイリオ"/>
              </a:rPr>
              <a:t>に関する検証</a:t>
            </a:r>
            <a:br>
              <a:rPr lang="en-US" altLang="ja-JP" sz="5000" dirty="0">
                <a:latin typeface="メイリオ"/>
                <a:ea typeface="メイリオ"/>
                <a:cs typeface="メイリオ"/>
              </a:rPr>
            </a:b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つの実データセットと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8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種類の比較手法</a:t>
            </a:r>
            <a:br>
              <a:rPr lang="en-US" altLang="ja-JP" sz="5000" dirty="0">
                <a:latin typeface="メイリオ"/>
                <a:ea typeface="メイリオ"/>
                <a:cs typeface="メイリオ"/>
              </a:rPr>
            </a:br>
            <a:r>
              <a:rPr lang="en-US" altLang="ja-JP" sz="4000" b="1" dirty="0">
                <a:latin typeface="メイリオ"/>
                <a:ea typeface="メイリオ"/>
                <a:cs typeface="メイリオ"/>
              </a:rPr>
              <a:t>Q1. </a:t>
            </a:r>
            <a:r>
              <a:rPr lang="ja-JP" altLang="en-US" sz="4000" b="1">
                <a:latin typeface="メイリオ"/>
                <a:ea typeface="メイリオ"/>
                <a:cs typeface="メイリオ"/>
              </a:rPr>
              <a:t>正確性</a:t>
            </a:r>
            <a:r>
              <a:rPr lang="en-US" altLang="ja-JP" sz="4000" b="1" dirty="0">
                <a:latin typeface="メイリオ"/>
                <a:ea typeface="メイリオ"/>
                <a:cs typeface="メイリオ"/>
              </a:rPr>
              <a:t>                        Q2. </a:t>
            </a:r>
            <a:r>
              <a:rPr lang="ja-JP" altLang="en-US" sz="4000" b="1">
                <a:latin typeface="メイリオ"/>
                <a:ea typeface="メイリオ"/>
                <a:cs typeface="メイリオ"/>
              </a:rPr>
              <a:t>状態数の自動検出と分割検出</a:t>
            </a: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40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ja-JP" sz="4000" b="1" dirty="0">
                <a:latin typeface="メイリオ"/>
                <a:ea typeface="メイリオ"/>
                <a:cs typeface="メイリオ"/>
              </a:rPr>
              <a:t>Q3. </a:t>
            </a:r>
            <a:r>
              <a:rPr lang="ja-JP" altLang="en-US" sz="4000" b="1">
                <a:latin typeface="メイリオ"/>
                <a:ea typeface="メイリオ"/>
                <a:cs typeface="メイリオ"/>
              </a:rPr>
              <a:t>エポックごとの特徴空間の変化</a:t>
            </a:r>
            <a:endParaRPr lang="en-US" altLang="ja-JP" sz="4000" b="1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E2FAE302-E48F-869F-DD79-FDCBC6B5CDF5}"/>
              </a:ext>
            </a:extLst>
          </p:cNvPr>
          <p:cNvSpPr txBox="1"/>
          <p:nvPr/>
        </p:nvSpPr>
        <p:spPr>
          <a:xfrm>
            <a:off x="15079007" y="35504870"/>
            <a:ext cx="1493977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500">
                <a:solidFill>
                  <a:schemeClr val="accent2"/>
                </a:solidFill>
              </a:rPr>
              <a:t>✨</a:t>
            </a:r>
            <a:r>
              <a:rPr kumimoji="1" lang="ja-JP" altLang="en-US" sz="5700" b="1" u="sng">
                <a:solidFill>
                  <a:srgbClr val="FF0000"/>
                </a:solidFill>
              </a:rPr>
              <a:t>高精度</a:t>
            </a:r>
            <a:r>
              <a:rPr kumimoji="1" lang="ja-JP" altLang="en-US" sz="5100" u="sng">
                <a:solidFill>
                  <a:srgbClr val="FF0000"/>
                </a:solidFill>
              </a:rPr>
              <a:t>かつ</a:t>
            </a:r>
            <a:r>
              <a:rPr kumimoji="1" lang="ja-JP" altLang="en-US" sz="5700" b="1" u="sng">
                <a:solidFill>
                  <a:srgbClr val="FF0000"/>
                </a:solidFill>
              </a:rPr>
              <a:t>状態数の自動推定可能な検出</a:t>
            </a:r>
          </a:p>
        </p:txBody>
      </p:sp>
      <p:sp>
        <p:nvSpPr>
          <p:cNvPr id="478" name="Rectangle 8">
            <a:extLst>
              <a:ext uri="{FF2B5EF4-FFF2-40B4-BE49-F238E27FC236}">
                <a16:creationId xmlns:a16="http://schemas.microsoft.com/office/drawing/2014/main" id="{0BA67547-A715-01BF-F22D-2DE308450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6045" y="36862997"/>
            <a:ext cx="14939775" cy="5880401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まとめ</a:t>
            </a:r>
            <a:r>
              <a:rPr lang="en-US" altLang="ja-JP" sz="5000" b="1" u="sng" dirty="0">
                <a:latin typeface="メイリオ"/>
                <a:ea typeface="メイリオ"/>
                <a:cs typeface="メイリオ"/>
              </a:rPr>
              <a:t> </a:t>
            </a:r>
            <a:r>
              <a:rPr lang="en-US" altLang="ja-JP" sz="5000" u="sng" dirty="0">
                <a:latin typeface="メイリオ"/>
                <a:ea typeface="メイリオ"/>
                <a:cs typeface="メイリオ"/>
              </a:rPr>
              <a:t>– </a:t>
            </a:r>
            <a:r>
              <a:rPr lang="ja-JP" altLang="en-US" sz="5000" b="1" u="sng">
                <a:latin typeface="メイリオ"/>
                <a:ea typeface="メイリオ"/>
                <a:cs typeface="メイリオ"/>
              </a:rPr>
              <a:t>提案手法</a:t>
            </a:r>
            <a:r>
              <a:rPr lang="ja-JP" altLang="en-JP" sz="5000" u="sng">
                <a:latin typeface="メイリオ"/>
                <a:ea typeface="メイリオ"/>
                <a:cs typeface="メイリオ"/>
              </a:rPr>
              <a:t>は</a:t>
            </a:r>
            <a:r>
              <a:rPr lang="ja-JP" altLang="en-US" sz="5000" u="sng">
                <a:latin typeface="メイリオ"/>
                <a:ea typeface="メイリオ"/>
                <a:cs typeface="メイリオ"/>
              </a:rPr>
              <a:t>以下の特性を全て満たす</a:t>
            </a:r>
            <a:br>
              <a:rPr lang="en-US" altLang="ja-JP" sz="5000" dirty="0">
                <a:latin typeface="メイリオ"/>
                <a:ea typeface="メイリオ"/>
                <a:cs typeface="メイリオ"/>
              </a:rPr>
            </a:br>
            <a:endParaRPr lang="en-US" altLang="ja-JP" sz="35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783CAD76-19A9-C5D9-E1ED-196BC9D6163A}"/>
              </a:ext>
            </a:extLst>
          </p:cNvPr>
          <p:cNvSpPr txBox="1"/>
          <p:nvPr/>
        </p:nvSpPr>
        <p:spPr>
          <a:xfrm>
            <a:off x="15319561" y="38040353"/>
            <a:ext cx="100333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solidFill>
                  <a:srgbClr val="C00000"/>
                </a:solidFill>
                <a:latin typeface="メイリオ"/>
                <a:ea typeface="メイリオ"/>
                <a:cs typeface="Times New Roman" panose="02020603050405020304" pitchFamily="18" charset="0"/>
              </a:rPr>
              <a:t>Effective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: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ノイズ除去や成分分解し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,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実世界のデータに対応した高性能予測の達成</a:t>
            </a:r>
            <a:br>
              <a:rPr lang="en-US" altLang="ja-JP" sz="4000" dirty="0">
                <a:latin typeface="メイリオ"/>
                <a:ea typeface="メイリオ"/>
                <a:cs typeface="メイリオ"/>
              </a:rPr>
            </a:br>
            <a:r>
              <a:rPr lang="en-US" altLang="ja-JP" sz="4000" b="1" dirty="0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General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: 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次元数やデータ長に関わらず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, </a:t>
            </a:r>
            <a:br>
              <a:rPr lang="en-US" altLang="ja-JP" sz="4000" dirty="0">
                <a:latin typeface="メイリオ"/>
                <a:ea typeface="メイリオ"/>
                <a:cs typeface="メイリオ"/>
              </a:rPr>
            </a:br>
            <a:r>
              <a:rPr lang="ja-JP" altLang="en-US" sz="4000">
                <a:latin typeface="メイリオ"/>
                <a:ea typeface="メイリオ"/>
                <a:cs typeface="メイリオ"/>
              </a:rPr>
              <a:t>様々なデータに対して実用的である</a:t>
            </a:r>
            <a:br>
              <a:rPr lang="en-US" altLang="ja-JP" sz="4000" b="1" dirty="0">
                <a:latin typeface="メイリオ"/>
                <a:ea typeface="メイリオ"/>
                <a:cs typeface="メイリオ"/>
              </a:rPr>
            </a:br>
            <a:r>
              <a:rPr lang="en-US" altLang="ja-JP" sz="4000" b="1" dirty="0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Visibility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: 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特徴空間におけるパターンの</a:t>
            </a:r>
            <a:br>
              <a:rPr lang="en-US" altLang="ja-JP" sz="4000" dirty="0">
                <a:latin typeface="メイリオ"/>
                <a:ea typeface="メイリオ"/>
                <a:cs typeface="メイリオ"/>
              </a:rPr>
            </a:br>
            <a:r>
              <a:rPr lang="ja-JP" altLang="en-US" sz="4000">
                <a:latin typeface="メイリオ"/>
                <a:ea typeface="メイリオ"/>
                <a:cs typeface="メイリオ"/>
              </a:rPr>
              <a:t>類似度やパターン遷移過程の可視化が</a:t>
            </a:r>
            <a:br>
              <a:rPr lang="en-US" altLang="ja-JP" sz="4000" dirty="0">
                <a:latin typeface="メイリオ"/>
                <a:ea typeface="メイリオ"/>
                <a:cs typeface="メイリオ"/>
              </a:rPr>
            </a:br>
            <a:r>
              <a:rPr lang="ja-JP" altLang="en-US" sz="4000">
                <a:latin typeface="メイリオ"/>
                <a:ea typeface="メイリオ"/>
                <a:cs typeface="メイリオ"/>
              </a:rPr>
              <a:t>可能で</a:t>
            </a:r>
            <a:r>
              <a:rPr lang="en-US" altLang="ja-JP" sz="4000" dirty="0">
                <a:latin typeface="メイリオ"/>
                <a:ea typeface="メイリオ"/>
                <a:cs typeface="メイリオ"/>
              </a:rPr>
              <a:t>, </a:t>
            </a:r>
            <a:r>
              <a:rPr lang="ja-JP" altLang="en-US" sz="4000">
                <a:latin typeface="メイリオ"/>
                <a:ea typeface="メイリオ"/>
                <a:cs typeface="メイリオ"/>
              </a:rPr>
              <a:t>解釈性がある</a:t>
            </a:r>
            <a:endParaRPr lang="en-JP" sz="4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CB903C3-9CA9-318F-1BA2-296322CC90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852" y="9974494"/>
            <a:ext cx="2251070" cy="148614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02FF540-6DD3-2A24-4706-64D9537021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929" y="8166413"/>
            <a:ext cx="2642658" cy="183131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25B98F0-2573-C35C-8B99-8B9BE08E3C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8917" y="9969630"/>
            <a:ext cx="2316635" cy="1486143"/>
          </a:xfrm>
          <a:prstGeom prst="rect">
            <a:avLst/>
          </a:prstGeom>
        </p:spPr>
      </p:pic>
      <p:pic>
        <p:nvPicPr>
          <p:cNvPr id="19" name="Picture 2" descr="カーラインナップ｜福岡と長崎で新車・トヨタ車なら福岡トヨタ／長崎トヨタ｜公式サイト | 福岡トヨタ自動車株式会社">
            <a:extLst>
              <a:ext uri="{FF2B5EF4-FFF2-40B4-BE49-F238E27FC236}">
                <a16:creationId xmlns:a16="http://schemas.microsoft.com/office/drawing/2014/main" id="{AD57E1E1-E92C-8B1F-2C10-44A7E5D24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395" y="8117432"/>
            <a:ext cx="2590800" cy="172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徐行の意味とは。徐行運転の速度・標識・場所｜チューリッヒ">
            <a:extLst>
              <a:ext uri="{FF2B5EF4-FFF2-40B4-BE49-F238E27FC236}">
                <a16:creationId xmlns:a16="http://schemas.microsoft.com/office/drawing/2014/main" id="{0065A631-6081-2C81-B79D-B3277648A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1" t="8462" r="19750" b="6154"/>
          <a:stretch/>
        </p:blipFill>
        <p:spPr bwMode="auto">
          <a:xfrm>
            <a:off x="7094020" y="8386645"/>
            <a:ext cx="1461948" cy="136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高速道路で見る、急カーブの警告標識にある「R」の意味とは？どぼくじら.com">
            <a:extLst>
              <a:ext uri="{FF2B5EF4-FFF2-40B4-BE49-F238E27FC236}">
                <a16:creationId xmlns:a16="http://schemas.microsoft.com/office/drawing/2014/main" id="{428CB93D-79F2-C969-69C4-520E221B9B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0" t="3645" r="29752" b="9443"/>
          <a:stretch/>
        </p:blipFill>
        <p:spPr bwMode="auto">
          <a:xfrm>
            <a:off x="5556051" y="9930299"/>
            <a:ext cx="1295400" cy="150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路面道路標識 路面－３３０ 止まれ 一時停止 １０１１１０ | 【ミドリ安全】公式通販">
            <a:extLst>
              <a:ext uri="{FF2B5EF4-FFF2-40B4-BE49-F238E27FC236}">
                <a16:creationId xmlns:a16="http://schemas.microsoft.com/office/drawing/2014/main" id="{D19E2B9F-26D2-0F6C-20C5-E5B468570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803" y="9895117"/>
            <a:ext cx="1306188" cy="130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159110D3-D0F3-F31A-C242-17CC8C1948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6574" y="17779281"/>
            <a:ext cx="5925582" cy="2859421"/>
          </a:xfrm>
          <a:prstGeom prst="rect">
            <a:avLst/>
          </a:prstGeom>
          <a:ln w="25400">
            <a:noFill/>
          </a:ln>
        </p:spPr>
      </p:pic>
      <p:pic>
        <p:nvPicPr>
          <p:cNvPr id="25" name="コンテンツ プレースホルダー 3">
            <a:extLst>
              <a:ext uri="{FF2B5EF4-FFF2-40B4-BE49-F238E27FC236}">
                <a16:creationId xmlns:a16="http://schemas.microsoft.com/office/drawing/2014/main" id="{7EE1E453-8DBE-F64B-8A94-D2B42DBF4F1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6618" t="12752" r="6050" b="21813"/>
          <a:stretch/>
        </p:blipFill>
        <p:spPr>
          <a:xfrm>
            <a:off x="518827" y="17891858"/>
            <a:ext cx="5935398" cy="26201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7" name="Right Arrow 89">
            <a:extLst>
              <a:ext uri="{FF2B5EF4-FFF2-40B4-BE49-F238E27FC236}">
                <a16:creationId xmlns:a16="http://schemas.microsoft.com/office/drawing/2014/main" id="{8D52D1ED-DF07-3FA2-9CA1-DDFF70563EFE}"/>
              </a:ext>
            </a:extLst>
          </p:cNvPr>
          <p:cNvSpPr/>
          <p:nvPr/>
        </p:nvSpPr>
        <p:spPr>
          <a:xfrm>
            <a:off x="6636917" y="18497846"/>
            <a:ext cx="2116042" cy="1381552"/>
          </a:xfrm>
          <a:prstGeom prst="rightArrow">
            <a:avLst>
              <a:gd name="adj1" fmla="val 51929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5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Box 84">
            <a:extLst>
              <a:ext uri="{FF2B5EF4-FFF2-40B4-BE49-F238E27FC236}">
                <a16:creationId xmlns:a16="http://schemas.microsoft.com/office/drawing/2014/main" id="{EA8A8D57-AC86-AE15-5B96-309857015D6A}"/>
              </a:ext>
            </a:extLst>
          </p:cNvPr>
          <p:cNvSpPr txBox="1"/>
          <p:nvPr/>
        </p:nvSpPr>
        <p:spPr>
          <a:xfrm>
            <a:off x="6937316" y="18971795"/>
            <a:ext cx="12955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000" b="1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検出</a:t>
            </a:r>
            <a:endParaRPr lang="en-JP" sz="3000" b="1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9EB8DD13-A2B3-1F99-C10B-42B8FD26B09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3920" b="2839"/>
          <a:stretch/>
        </p:blipFill>
        <p:spPr>
          <a:xfrm>
            <a:off x="515966" y="24226443"/>
            <a:ext cx="14297601" cy="5960590"/>
          </a:xfrm>
          <a:prstGeom prst="rect">
            <a:avLst/>
          </a:prstGeom>
        </p:spPr>
      </p:pic>
      <p:pic>
        <p:nvPicPr>
          <p:cNvPr id="32" name="コンテンツ プレースホルダー 3">
            <a:extLst>
              <a:ext uri="{FF2B5EF4-FFF2-40B4-BE49-F238E27FC236}">
                <a16:creationId xmlns:a16="http://schemas.microsoft.com/office/drawing/2014/main" id="{00E642A6-E734-648E-DAD1-6A6E10F6A02E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6424" t="13156" r="28238" b="16156"/>
          <a:stretch/>
        </p:blipFill>
        <p:spPr>
          <a:xfrm>
            <a:off x="467982" y="31957531"/>
            <a:ext cx="4196552" cy="2502063"/>
          </a:xfrm>
          <a:prstGeom prst="rect">
            <a:avLst/>
          </a:prstGeom>
          <a:ln>
            <a:solidFill>
              <a:schemeClr val="dk1">
                <a:shade val="15000"/>
              </a:schemeClr>
            </a:solidFill>
          </a:ln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E4C45F12-2BDF-4BFB-AFAC-5B522491B4E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3082" t="8051" r="17708" b="10551"/>
          <a:stretch/>
        </p:blipFill>
        <p:spPr>
          <a:xfrm>
            <a:off x="5559444" y="32054957"/>
            <a:ext cx="3875737" cy="2462001"/>
          </a:xfrm>
          <a:prstGeom prst="rect">
            <a:avLst/>
          </a:prstGeom>
          <a:ln>
            <a:solidFill>
              <a:schemeClr val="dk1">
                <a:shade val="15000"/>
              </a:schemeClr>
            </a:solidFill>
          </a:ln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DA98C415-CBD1-F100-2C9B-E1B1C736339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5338" t="10093" r="27743" b="18093"/>
          <a:stretch/>
        </p:blipFill>
        <p:spPr>
          <a:xfrm>
            <a:off x="10299406" y="32006256"/>
            <a:ext cx="4540860" cy="2716859"/>
          </a:xfrm>
          <a:prstGeom prst="rect">
            <a:avLst/>
          </a:prstGeom>
          <a:ln>
            <a:solidFill>
              <a:schemeClr val="dk1">
                <a:shade val="15000"/>
              </a:schemeClr>
            </a:solidFill>
          </a:ln>
        </p:spPr>
      </p:pic>
      <p:sp>
        <p:nvSpPr>
          <p:cNvPr id="36" name="右矢印 35">
            <a:extLst>
              <a:ext uri="{FF2B5EF4-FFF2-40B4-BE49-F238E27FC236}">
                <a16:creationId xmlns:a16="http://schemas.microsoft.com/office/drawing/2014/main" id="{74012903-2719-7835-886E-7BB9A8EB40AB}"/>
              </a:ext>
            </a:extLst>
          </p:cNvPr>
          <p:cNvSpPr/>
          <p:nvPr/>
        </p:nvSpPr>
        <p:spPr>
          <a:xfrm>
            <a:off x="4766041" y="33061074"/>
            <a:ext cx="641053" cy="4405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FA9F611-B2E2-F585-C958-A777AC8A6FB5}"/>
              </a:ext>
            </a:extLst>
          </p:cNvPr>
          <p:cNvSpPr txBox="1"/>
          <p:nvPr/>
        </p:nvSpPr>
        <p:spPr>
          <a:xfrm>
            <a:off x="4653741" y="31331505"/>
            <a:ext cx="1135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FFT</a:t>
            </a:r>
            <a:endParaRPr kumimoji="1" lang="ja-JP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475D299-8F82-320D-7376-FC206F7C2D77}"/>
              </a:ext>
            </a:extLst>
          </p:cNvPr>
          <p:cNvSpPr txBox="1"/>
          <p:nvPr/>
        </p:nvSpPr>
        <p:spPr>
          <a:xfrm>
            <a:off x="6171153" y="31372756"/>
            <a:ext cx="3568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/>
              <a:t>低周波成分抽出</a:t>
            </a:r>
            <a:endParaRPr kumimoji="1" lang="ja-JP" altLang="en-US" sz="3600" b="1"/>
          </a:p>
        </p:txBody>
      </p:sp>
      <p:sp>
        <p:nvSpPr>
          <p:cNvPr id="39" name="右矢印 38">
            <a:extLst>
              <a:ext uri="{FF2B5EF4-FFF2-40B4-BE49-F238E27FC236}">
                <a16:creationId xmlns:a16="http://schemas.microsoft.com/office/drawing/2014/main" id="{005D6F6D-B352-874E-A50C-106AF0BC04E1}"/>
              </a:ext>
            </a:extLst>
          </p:cNvPr>
          <p:cNvSpPr/>
          <p:nvPr/>
        </p:nvSpPr>
        <p:spPr>
          <a:xfrm>
            <a:off x="9544571" y="33011243"/>
            <a:ext cx="641053" cy="4405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E0DB54F-1910-64A7-C22D-8E3EBE80C4A4}"/>
              </a:ext>
            </a:extLst>
          </p:cNvPr>
          <p:cNvSpPr txBox="1"/>
          <p:nvPr/>
        </p:nvSpPr>
        <p:spPr>
          <a:xfrm>
            <a:off x="9907304" y="31378484"/>
            <a:ext cx="2042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逆</a:t>
            </a:r>
            <a:r>
              <a:rPr kumimoji="1" lang="en-US" altLang="ja-JP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FFT</a:t>
            </a:r>
            <a:endParaRPr kumimoji="1" lang="ja-JP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43E9E5C-7C71-037C-0603-90A1EF184A25}"/>
              </a:ext>
            </a:extLst>
          </p:cNvPr>
          <p:cNvSpPr/>
          <p:nvPr/>
        </p:nvSpPr>
        <p:spPr>
          <a:xfrm>
            <a:off x="7598963" y="32167036"/>
            <a:ext cx="1803842" cy="1881781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ADBDA571-D6BB-3C0A-05AF-0FDDF7C7F8FA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3831" t="8265" r="14322" b="23392"/>
          <a:stretch/>
        </p:blipFill>
        <p:spPr>
          <a:xfrm>
            <a:off x="1331975" y="36978550"/>
            <a:ext cx="5014025" cy="22085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BEB2813-8264-8C9E-9AEC-51BC6B7F775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2775" t="14071" r="14907" b="17158"/>
          <a:stretch/>
        </p:blipFill>
        <p:spPr>
          <a:xfrm>
            <a:off x="8424811" y="36989530"/>
            <a:ext cx="5377970" cy="24259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EADBB0A-8C60-2675-C340-A8FEB1FC23EF}"/>
              </a:ext>
            </a:extLst>
          </p:cNvPr>
          <p:cNvSpPr txBox="1"/>
          <p:nvPr/>
        </p:nvSpPr>
        <p:spPr>
          <a:xfrm>
            <a:off x="621537" y="36376834"/>
            <a:ext cx="668330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ja-JP" altLang="en-US" sz="3600">
                <a:latin typeface="Meiryo" panose="020B0604030504040204" pitchFamily="34" charset="-128"/>
                <a:ea typeface="Meiryo" panose="020B0604030504040204" pitchFamily="34" charset="-128"/>
              </a:rPr>
              <a:t>周期的な変動要素の</a:t>
            </a:r>
            <a:r>
              <a:rPr lang="ja-JP" altLang="en-US" sz="3700" b="1">
                <a:solidFill>
                  <a:srgbClr val="C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季節成分 </a:t>
            </a:r>
            <a:endParaRPr lang="ja-JP" altLang="en-US" sz="3700" b="1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C66C712-1B01-3262-2DEC-0D651C8B0277}"/>
              </a:ext>
            </a:extLst>
          </p:cNvPr>
          <p:cNvSpPr txBox="1"/>
          <p:nvPr/>
        </p:nvSpPr>
        <p:spPr>
          <a:xfrm>
            <a:off x="7449224" y="36404516"/>
            <a:ext cx="766106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ja-JP" altLang="en-US" sz="3600">
                <a:latin typeface="Meiryo" panose="020B0604030504040204" pitchFamily="34" charset="-128"/>
                <a:ea typeface="Meiryo" panose="020B0604030504040204" pitchFamily="34" charset="-128"/>
              </a:rPr>
              <a:t>長期的な変動要素の</a:t>
            </a:r>
            <a:r>
              <a:rPr lang="ja-JP" altLang="en-US" sz="37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トレンド</a:t>
            </a:r>
            <a:r>
              <a:rPr lang="ja-JP" altLang="en-US" sz="3700" b="1">
                <a:solidFill>
                  <a:srgbClr val="C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成分 </a:t>
            </a:r>
            <a:endParaRPr lang="ja-JP" altLang="en-US" sz="3700" b="1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C951C3D-A123-9EA8-09D3-00631D8C072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00968" y="39717930"/>
            <a:ext cx="7944678" cy="2838063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CA6246EF-9826-106E-D837-2CA62283180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304556" y="5863903"/>
            <a:ext cx="7799013" cy="854157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0B8362DB-3250-FF93-A6DB-BDA6F1CDE54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84520" y="15222977"/>
            <a:ext cx="7780557" cy="793247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2C9ABB45-15A5-240F-CC39-B17F21A889B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13421"/>
          <a:stretch/>
        </p:blipFill>
        <p:spPr>
          <a:xfrm>
            <a:off x="15313337" y="11113127"/>
            <a:ext cx="6906063" cy="1095117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4CA12680-F914-057C-BF7B-0CA99D177904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b="13686"/>
          <a:stretch/>
        </p:blipFill>
        <p:spPr>
          <a:xfrm>
            <a:off x="15392101" y="12113180"/>
            <a:ext cx="7142123" cy="1085333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7AD03030-144F-AEE7-1E56-87F02D144BBC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17424"/>
          <a:stretch/>
        </p:blipFill>
        <p:spPr>
          <a:xfrm>
            <a:off x="15365494" y="13207535"/>
            <a:ext cx="4607290" cy="745204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7F0A6297-6C5C-9530-9F46-2D01785FF263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t="18933" b="12437"/>
          <a:stretch/>
        </p:blipFill>
        <p:spPr>
          <a:xfrm>
            <a:off x="15360569" y="13933293"/>
            <a:ext cx="6403211" cy="913819"/>
          </a:xfrm>
          <a:prstGeom prst="rect">
            <a:avLst/>
          </a:prstGeom>
        </p:spPr>
      </p:pic>
      <p:sp>
        <p:nvSpPr>
          <p:cNvPr id="474" name="Rectangle 8">
            <a:extLst>
              <a:ext uri="{FF2B5EF4-FFF2-40B4-BE49-F238E27FC236}">
                <a16:creationId xmlns:a16="http://schemas.microsoft.com/office/drawing/2014/main" id="{526E693D-97CC-3468-6912-BA97B55E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1158" y="15151521"/>
            <a:ext cx="14917038" cy="8067730"/>
          </a:xfrm>
          <a:prstGeom prst="rect">
            <a:avLst/>
          </a:prstGeom>
          <a:noFill/>
          <a:ln w="38100" cmpd="sng">
            <a:solidFill>
              <a:schemeClr val="tx1">
                <a:alpha val="70000"/>
              </a:schemeClr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216000" tIns="46800" rIns="216000" bIns="46800"/>
          <a:lstStyle/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5200" b="1" u="sng">
                <a:latin typeface="メイリオ"/>
                <a:ea typeface="メイリオ"/>
                <a:cs typeface="メイリオ"/>
              </a:rPr>
              <a:t>状態パターン検出</a:t>
            </a:r>
            <a:endParaRPr lang="en-US" altLang="ja-JP" sz="5200" b="1" u="sng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500">
                <a:latin typeface="メイリオ"/>
                <a:ea typeface="メイリオ"/>
                <a:cs typeface="メイリオ"/>
              </a:rPr>
              <a:t>ウィンドウごとにエンコードし</a:t>
            </a:r>
            <a:r>
              <a:rPr lang="en-US" altLang="ja-JP" sz="3500" dirty="0">
                <a:latin typeface="メイリオ"/>
                <a:ea typeface="メイリオ"/>
                <a:cs typeface="メイリオ"/>
              </a:rPr>
              <a:t>, </a:t>
            </a:r>
            <a:br>
              <a:rPr lang="en-US" altLang="ja-JP" sz="3500" dirty="0">
                <a:latin typeface="メイリオ"/>
                <a:ea typeface="メイリオ"/>
                <a:cs typeface="メイリオ"/>
              </a:rPr>
            </a:br>
            <a:r>
              <a:rPr lang="ja-JP" altLang="en-US" sz="3700" b="1">
                <a:latin typeface="メイリオ"/>
                <a:ea typeface="メイリオ"/>
                <a:cs typeface="メイリオ"/>
              </a:rPr>
              <a:t>特徴空間でクラスタリング</a:t>
            </a:r>
            <a:endParaRPr lang="en-US" altLang="ja-JP" sz="3700" b="1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500">
                <a:latin typeface="メイリオ"/>
                <a:ea typeface="メイリオ"/>
                <a:cs typeface="メイリオ"/>
              </a:rPr>
              <a:t>各観測点に複数のクラスタリング結果</a:t>
            </a:r>
            <a:br>
              <a:rPr lang="en-US" altLang="ja-JP" sz="3500" dirty="0">
                <a:latin typeface="メイリオ"/>
                <a:ea typeface="メイリオ"/>
                <a:cs typeface="メイリオ"/>
              </a:rPr>
            </a:br>
            <a:r>
              <a:rPr lang="ja-JP" altLang="en-US" sz="3500">
                <a:latin typeface="メイリオ"/>
                <a:ea typeface="メイリオ"/>
                <a:cs typeface="メイリオ"/>
              </a:rPr>
              <a:t>が付与されるため</a:t>
            </a:r>
            <a:r>
              <a:rPr lang="en-US" altLang="ja-JP" sz="3500" dirty="0">
                <a:latin typeface="メイリオ"/>
                <a:ea typeface="メイリオ"/>
                <a:cs typeface="メイリオ"/>
              </a:rPr>
              <a:t>, </a:t>
            </a:r>
            <a:r>
              <a:rPr kumimoji="1" lang="ja-JP" altLang="en-US" sz="3800" b="1">
                <a:latin typeface="Meiryo" panose="020B0604030504040204" pitchFamily="34" charset="-128"/>
                <a:ea typeface="Meiryo" panose="020B0604030504040204" pitchFamily="34" charset="-128"/>
              </a:rPr>
              <a:t>最多の割り当てを</a:t>
            </a:r>
            <a:br>
              <a:rPr kumimoji="1" lang="en-US" altLang="ja-JP" sz="3800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sz="3800" b="1">
                <a:latin typeface="Meiryo" panose="020B0604030504040204" pitchFamily="34" charset="-128"/>
                <a:ea typeface="Meiryo" panose="020B0604030504040204" pitchFamily="34" charset="-128"/>
              </a:rPr>
              <a:t>状態インデックス</a:t>
            </a:r>
            <a:r>
              <a:rPr kumimoji="1" lang="ja-JP" altLang="en-US" sz="3600">
                <a:latin typeface="Meiryo" panose="020B0604030504040204" pitchFamily="34" charset="-128"/>
                <a:ea typeface="Meiryo" panose="020B0604030504040204" pitchFamily="34" charset="-128"/>
              </a:rPr>
              <a:t>とする</a:t>
            </a:r>
            <a:endParaRPr kumimoji="1" lang="en-US" altLang="ja-JP" sz="3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ja-JP" altLang="en-US" sz="4500" b="1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クラスタリング</a:t>
            </a:r>
            <a:endParaRPr kumimoji="1" lang="en-US" altLang="ja-JP" sz="4500" b="1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4000" u="sng">
                <a:latin typeface="メイリオ"/>
                <a:ea typeface="メイリオ"/>
                <a:cs typeface="メイリオ"/>
              </a:rPr>
              <a:t>ノンパラメトリックベイズ法</a:t>
            </a:r>
            <a:br>
              <a:rPr lang="en-US" altLang="ja-JP" sz="3500" dirty="0">
                <a:latin typeface="メイリオ"/>
                <a:ea typeface="メイリオ"/>
                <a:cs typeface="メイリオ"/>
              </a:rPr>
            </a:br>
            <a:r>
              <a:rPr lang="ja-JP" altLang="en-US" sz="3500">
                <a:latin typeface="メイリオ"/>
                <a:ea typeface="メイリオ"/>
                <a:cs typeface="メイリオ"/>
              </a:rPr>
              <a:t>無限次元の確率分布を構築するため</a:t>
            </a:r>
            <a:r>
              <a:rPr lang="en-US" altLang="ja-JP" sz="3500" dirty="0">
                <a:latin typeface="メイリオ"/>
                <a:ea typeface="メイリオ"/>
                <a:cs typeface="メイリオ"/>
              </a:rPr>
              <a:t>, </a:t>
            </a: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r>
              <a:rPr lang="ja-JP" altLang="en-US" sz="3800" b="1">
                <a:latin typeface="メイリオ"/>
                <a:ea typeface="メイリオ"/>
                <a:cs typeface="メイリオ"/>
              </a:rPr>
              <a:t>パターンの適切な状態数の自動推定</a:t>
            </a: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3500" dirty="0">
              <a:latin typeface="メイリオ"/>
              <a:ea typeface="メイリオ"/>
              <a:cs typeface="メイリオ"/>
            </a:endParaRPr>
          </a:p>
          <a:p>
            <a:pPr defTabSz="4400550">
              <a:lnSpc>
                <a:spcPct val="110000"/>
              </a:lnSpc>
              <a:spcBef>
                <a:spcPct val="20000"/>
              </a:spcBef>
              <a:defRPr/>
            </a:pPr>
            <a:endParaRPr lang="en-US" altLang="ja-JP" sz="3500" dirty="0"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defRPr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メイリオ"/>
              </a:rPr>
              <a:t>　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  <a:cs typeface="メイリオ"/>
            </a:endParaRPr>
          </a:p>
        </p:txBody>
      </p:sp>
      <p:sp>
        <p:nvSpPr>
          <p:cNvPr id="481" name="Down Arrow 449">
            <a:extLst>
              <a:ext uri="{FF2B5EF4-FFF2-40B4-BE49-F238E27FC236}">
                <a16:creationId xmlns:a16="http://schemas.microsoft.com/office/drawing/2014/main" id="{54A184C5-5B23-DFC6-95DF-0A7F0CDEFF8F}"/>
              </a:ext>
            </a:extLst>
          </p:cNvPr>
          <p:cNvSpPr/>
          <p:nvPr/>
        </p:nvSpPr>
        <p:spPr>
          <a:xfrm rot="19330171">
            <a:off x="16677327" y="26193852"/>
            <a:ext cx="276332" cy="437311"/>
          </a:xfrm>
          <a:prstGeom prst="downArrow">
            <a:avLst>
              <a:gd name="adj1" fmla="val 50000"/>
              <a:gd name="adj2" fmla="val 67612"/>
            </a:avLst>
          </a:prstGeom>
          <a:solidFill>
            <a:srgbClr val="9BF7F7"/>
          </a:solidFill>
          <a:ln w="2222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82" name="Down Arrow 449">
            <a:extLst>
              <a:ext uri="{FF2B5EF4-FFF2-40B4-BE49-F238E27FC236}">
                <a16:creationId xmlns:a16="http://schemas.microsoft.com/office/drawing/2014/main" id="{820D4289-71AA-24E5-BCDF-B9BEE85C5DC8}"/>
              </a:ext>
            </a:extLst>
          </p:cNvPr>
          <p:cNvSpPr/>
          <p:nvPr/>
        </p:nvSpPr>
        <p:spPr>
          <a:xfrm rot="19330171">
            <a:off x="17939331" y="26512553"/>
            <a:ext cx="276332" cy="437311"/>
          </a:xfrm>
          <a:prstGeom prst="downArrow">
            <a:avLst>
              <a:gd name="adj1" fmla="val 50000"/>
              <a:gd name="adj2" fmla="val 67612"/>
            </a:avLst>
          </a:prstGeom>
          <a:solidFill>
            <a:srgbClr val="9BF7F7"/>
          </a:solidFill>
          <a:ln w="2222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87" name="Down Arrow 449">
            <a:extLst>
              <a:ext uri="{FF2B5EF4-FFF2-40B4-BE49-F238E27FC236}">
                <a16:creationId xmlns:a16="http://schemas.microsoft.com/office/drawing/2014/main" id="{6BBEAA23-A29F-11C1-CE22-49B2AA18FF7D}"/>
              </a:ext>
            </a:extLst>
          </p:cNvPr>
          <p:cNvSpPr/>
          <p:nvPr/>
        </p:nvSpPr>
        <p:spPr>
          <a:xfrm rot="19330171">
            <a:off x="19169062" y="26644642"/>
            <a:ext cx="276332" cy="437311"/>
          </a:xfrm>
          <a:prstGeom prst="downArrow">
            <a:avLst>
              <a:gd name="adj1" fmla="val 50000"/>
              <a:gd name="adj2" fmla="val 67612"/>
            </a:avLst>
          </a:prstGeom>
          <a:solidFill>
            <a:srgbClr val="9BF7F7"/>
          </a:solidFill>
          <a:ln w="2222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89" name="Down Arrow 449">
            <a:extLst>
              <a:ext uri="{FF2B5EF4-FFF2-40B4-BE49-F238E27FC236}">
                <a16:creationId xmlns:a16="http://schemas.microsoft.com/office/drawing/2014/main" id="{A1E6491D-4D99-FDDC-F7B9-404F9CBDC2FF}"/>
              </a:ext>
            </a:extLst>
          </p:cNvPr>
          <p:cNvSpPr/>
          <p:nvPr/>
        </p:nvSpPr>
        <p:spPr>
          <a:xfrm rot="19330171">
            <a:off x="21649806" y="26194617"/>
            <a:ext cx="276332" cy="437311"/>
          </a:xfrm>
          <a:prstGeom prst="downArrow">
            <a:avLst>
              <a:gd name="adj1" fmla="val 50000"/>
              <a:gd name="adj2" fmla="val 67612"/>
            </a:avLst>
          </a:prstGeom>
          <a:solidFill>
            <a:srgbClr val="9BF7F7"/>
          </a:solidFill>
          <a:ln w="2222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90" name="Down Arrow 449">
            <a:extLst>
              <a:ext uri="{FF2B5EF4-FFF2-40B4-BE49-F238E27FC236}">
                <a16:creationId xmlns:a16="http://schemas.microsoft.com/office/drawing/2014/main" id="{BEFD279B-94C4-E2D8-5129-B76EAD97DED4}"/>
              </a:ext>
            </a:extLst>
          </p:cNvPr>
          <p:cNvSpPr/>
          <p:nvPr/>
        </p:nvSpPr>
        <p:spPr>
          <a:xfrm rot="19330171">
            <a:off x="20408608" y="27100015"/>
            <a:ext cx="276332" cy="437311"/>
          </a:xfrm>
          <a:prstGeom prst="downArrow">
            <a:avLst>
              <a:gd name="adj1" fmla="val 50000"/>
              <a:gd name="adj2" fmla="val 67612"/>
            </a:avLst>
          </a:prstGeom>
          <a:solidFill>
            <a:srgbClr val="9BF7F7"/>
          </a:solidFill>
          <a:ln w="2222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91" name="図 490">
            <a:extLst>
              <a:ext uri="{FF2B5EF4-FFF2-40B4-BE49-F238E27FC236}">
                <a16:creationId xmlns:a16="http://schemas.microsoft.com/office/drawing/2014/main" id="{5277B317-D569-D78D-351B-1C623C7089CF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3812"/>
          <a:stretch/>
        </p:blipFill>
        <p:spPr>
          <a:xfrm>
            <a:off x="17484367" y="31186934"/>
            <a:ext cx="10539092" cy="4349506"/>
          </a:xfrm>
          <a:prstGeom prst="rect">
            <a:avLst/>
          </a:prstGeom>
        </p:spPr>
      </p:pic>
      <p:pic>
        <p:nvPicPr>
          <p:cNvPr id="493" name="図 492" descr="グラフ, 棒グラフ, ヒストグラム&#10;&#10;自動的に生成された説明">
            <a:extLst>
              <a:ext uri="{FF2B5EF4-FFF2-40B4-BE49-F238E27FC236}">
                <a16:creationId xmlns:a16="http://schemas.microsoft.com/office/drawing/2014/main" id="{41E94BF0-7FD9-576C-289A-F07E8331248D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15691" t="11797" r="13188" b="4626"/>
          <a:stretch/>
        </p:blipFill>
        <p:spPr>
          <a:xfrm>
            <a:off x="24736926" y="38761435"/>
            <a:ext cx="5360203" cy="37793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96" name="テキスト ボックス 495">
            <a:extLst>
              <a:ext uri="{FF2B5EF4-FFF2-40B4-BE49-F238E27FC236}">
                <a16:creationId xmlns:a16="http://schemas.microsoft.com/office/drawing/2014/main" id="{A7271C0E-4D34-6FAD-10EB-1D4C54CE24B5}"/>
              </a:ext>
            </a:extLst>
          </p:cNvPr>
          <p:cNvSpPr txBox="1"/>
          <p:nvPr/>
        </p:nvSpPr>
        <p:spPr>
          <a:xfrm>
            <a:off x="1494056" y="11691162"/>
            <a:ext cx="2642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/>
              <a:t>行動パターン</a:t>
            </a:r>
          </a:p>
        </p:txBody>
      </p:sp>
      <p:sp>
        <p:nvSpPr>
          <p:cNvPr id="497" name="テキスト ボックス 496">
            <a:extLst>
              <a:ext uri="{FF2B5EF4-FFF2-40B4-BE49-F238E27FC236}">
                <a16:creationId xmlns:a16="http://schemas.microsoft.com/office/drawing/2014/main" id="{E856EEF1-51DC-08CE-F188-37C01A0740BC}"/>
              </a:ext>
            </a:extLst>
          </p:cNvPr>
          <p:cNvSpPr txBox="1"/>
          <p:nvPr/>
        </p:nvSpPr>
        <p:spPr>
          <a:xfrm>
            <a:off x="5627940" y="11686209"/>
            <a:ext cx="2966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/>
              <a:t>走行パターン</a:t>
            </a:r>
          </a:p>
        </p:txBody>
      </p:sp>
      <p:sp>
        <p:nvSpPr>
          <p:cNvPr id="499" name="テキスト ボックス 498">
            <a:extLst>
              <a:ext uri="{FF2B5EF4-FFF2-40B4-BE49-F238E27FC236}">
                <a16:creationId xmlns:a16="http://schemas.microsoft.com/office/drawing/2014/main" id="{1E803EAB-6191-8553-D74A-E1398391A59C}"/>
              </a:ext>
            </a:extLst>
          </p:cNvPr>
          <p:cNvSpPr txBox="1"/>
          <p:nvPr/>
        </p:nvSpPr>
        <p:spPr>
          <a:xfrm>
            <a:off x="11113796" y="11716162"/>
            <a:ext cx="2966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/>
              <a:t>睡眠パターン</a:t>
            </a:r>
          </a:p>
        </p:txBody>
      </p:sp>
      <p:sp>
        <p:nvSpPr>
          <p:cNvPr id="502" name="正方形/長方形 501">
            <a:extLst>
              <a:ext uri="{FF2B5EF4-FFF2-40B4-BE49-F238E27FC236}">
                <a16:creationId xmlns:a16="http://schemas.microsoft.com/office/drawing/2014/main" id="{74B400DA-36F5-6603-6933-97BF7B629172}"/>
              </a:ext>
            </a:extLst>
          </p:cNvPr>
          <p:cNvSpPr/>
          <p:nvPr/>
        </p:nvSpPr>
        <p:spPr>
          <a:xfrm>
            <a:off x="28448000" y="29912744"/>
            <a:ext cx="1472540" cy="28500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0" name="テキスト ボックス 499">
            <a:extLst>
              <a:ext uri="{FF2B5EF4-FFF2-40B4-BE49-F238E27FC236}">
                <a16:creationId xmlns:a16="http://schemas.microsoft.com/office/drawing/2014/main" id="{352B4E4C-E3D9-1579-4EC9-D12DA75B5120}"/>
              </a:ext>
            </a:extLst>
          </p:cNvPr>
          <p:cNvSpPr txBox="1"/>
          <p:nvPr/>
        </p:nvSpPr>
        <p:spPr>
          <a:xfrm>
            <a:off x="29367245" y="29871260"/>
            <a:ext cx="6044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500" b="1" i="1">
                <a:solidFill>
                  <a:srgbClr val="FF0000"/>
                </a:solidFill>
              </a:rPr>
              <a:t>♾️</a:t>
            </a:r>
            <a:endParaRPr kumimoji="1" lang="ja-JP" altLang="en-US" sz="2500" b="1" i="1">
              <a:solidFill>
                <a:srgbClr val="FF0000"/>
              </a:solidFill>
            </a:endParaRPr>
          </a:p>
        </p:txBody>
      </p:sp>
      <p:sp>
        <p:nvSpPr>
          <p:cNvPr id="503" name="テキスト ボックス 502">
            <a:extLst>
              <a:ext uri="{FF2B5EF4-FFF2-40B4-BE49-F238E27FC236}">
                <a16:creationId xmlns:a16="http://schemas.microsoft.com/office/drawing/2014/main" id="{2C22F944-E365-3C87-62D8-AEB65E031D44}"/>
              </a:ext>
            </a:extLst>
          </p:cNvPr>
          <p:cNvSpPr txBox="1"/>
          <p:nvPr/>
        </p:nvSpPr>
        <p:spPr>
          <a:xfrm>
            <a:off x="28286043" y="26900926"/>
            <a:ext cx="191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  <a:latin typeface="+mn-ea"/>
              </a:rPr>
              <a:t>Proposed</a:t>
            </a:r>
            <a:endParaRPr kumimoji="1" lang="ja-JP" altLang="en-US" sz="24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4" name="テキスト ボックス 503">
            <a:extLst>
              <a:ext uri="{FF2B5EF4-FFF2-40B4-BE49-F238E27FC236}">
                <a16:creationId xmlns:a16="http://schemas.microsoft.com/office/drawing/2014/main" id="{C9F31B88-717D-96EB-6934-31705ED7E460}"/>
              </a:ext>
            </a:extLst>
          </p:cNvPr>
          <p:cNvSpPr txBox="1"/>
          <p:nvPr/>
        </p:nvSpPr>
        <p:spPr>
          <a:xfrm>
            <a:off x="15551303" y="25754004"/>
            <a:ext cx="191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  <a:latin typeface="+mn-ea"/>
              </a:rPr>
              <a:t>Proposed</a:t>
            </a:r>
            <a:endParaRPr kumimoji="1" lang="ja-JP" altLang="en-US" sz="2400" b="1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B2ECBA-A63C-8A63-0D00-4CEBCB714807}"/>
              </a:ext>
            </a:extLst>
          </p:cNvPr>
          <p:cNvSpPr txBox="1"/>
          <p:nvPr/>
        </p:nvSpPr>
        <p:spPr>
          <a:xfrm>
            <a:off x="168698" y="2000396"/>
            <a:ext cx="4394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5400">
                <a:solidFill>
                  <a:schemeClr val="bg1">
                    <a:lumMod val="95000"/>
                  </a:schemeClr>
                </a:solidFill>
              </a:rPr>
              <a:t>位置</a:t>
            </a:r>
            <a:r>
              <a:rPr kumimoji="1" lang="en-US" altLang="ja-JP" sz="5400" dirty="0">
                <a:solidFill>
                  <a:schemeClr val="bg1">
                    <a:lumMod val="95000"/>
                  </a:schemeClr>
                </a:solidFill>
              </a:rPr>
              <a:t>ID:W1-06 </a:t>
            </a:r>
            <a:endParaRPr kumimoji="1" lang="ja-JP" altLang="en-US" sz="54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7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rgbClr val="323232"/>
      </a:dk1>
      <a:lt1>
        <a:srgbClr val="FFFFFF"/>
      </a:lt1>
      <a:dk2>
        <a:srgbClr val="000000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6678</TotalTime>
  <Words>467</Words>
  <Application>Microsoft Macintosh PowerPoint</Application>
  <PresentationFormat>ユーザー設定</PresentationFormat>
  <Paragraphs>83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メイリオ</vt:lpstr>
      <vt:lpstr>メイリオ</vt:lpstr>
      <vt:lpstr>游ゴシック</vt:lpstr>
      <vt:lpstr>Arial</vt:lpstr>
      <vt:lpstr>Calibri</vt:lpstr>
      <vt:lpstr>Cambria Math</vt:lpstr>
      <vt:lpstr>Segoe UI</vt:lpstr>
      <vt:lpstr>Times New Roman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CHIHARA Naoki</dc:creator>
  <cp:lastModifiedBy>Katou Tsubasa</cp:lastModifiedBy>
  <cp:revision>253</cp:revision>
  <dcterms:created xsi:type="dcterms:W3CDTF">2023-02-21T00:52:40Z</dcterms:created>
  <dcterms:modified xsi:type="dcterms:W3CDTF">2025-02-26T04:57:37Z</dcterms:modified>
</cp:coreProperties>
</file>